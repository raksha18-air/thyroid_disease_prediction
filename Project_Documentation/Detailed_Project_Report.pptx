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30" roundtripDataSignature="AMtx7mgMbsYGP9mIeGELWS7jVnnrY/XX0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spTree>
      <p:nvGrpSpPr>
        <p:cNvPr id="22" name="Shape 22"/>
        <p:cNvGrpSpPr/>
        <p:nvPr/>
      </p:nvGrpSpPr>
      <p:grpSpPr>
        <a:xfrm>
          <a:off x="0" y="0"/>
          <a:ext cx="0" cy="0"/>
          <a:chOff x="0" y="0"/>
          <a:chExt cx="0" cy="0"/>
        </a:xfrm>
      </p:grpSpPr>
      <p:sp>
        <p:nvSpPr>
          <p:cNvPr id="23" name="Google Shape;23;p26"/>
          <p:cNvSpPr txBox="1"/>
          <p:nvPr>
            <p:ph type="title"/>
          </p:nvPr>
        </p:nvSpPr>
        <p:spPr>
          <a:xfrm>
            <a:off x="314007" y="64135"/>
            <a:ext cx="11563984" cy="823213"/>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600" u="sng">
                <a:solidFill>
                  <a:srgbClr val="EB3C9F"/>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26"/>
          <p:cNvSpPr txBox="1"/>
          <p:nvPr>
            <p:ph idx="1" type="body"/>
          </p:nvPr>
        </p:nvSpPr>
        <p:spPr>
          <a:xfrm>
            <a:off x="756602" y="2167953"/>
            <a:ext cx="4995545" cy="3478529"/>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1500">
                <a:solidFill>
                  <a:srgbClr val="404040"/>
                </a:solidFill>
                <a:latin typeface="Georgia"/>
                <a:ea typeface="Georgia"/>
                <a:cs typeface="Georgia"/>
                <a:sym typeface="Georgia"/>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 name="Google Shape;25;p2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2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Two Content">
    <p:spTree>
      <p:nvGrpSpPr>
        <p:cNvPr id="28" name="Shape 28"/>
        <p:cNvGrpSpPr/>
        <p:nvPr/>
      </p:nvGrpSpPr>
      <p:grpSpPr>
        <a:xfrm>
          <a:off x="0" y="0"/>
          <a:ext cx="0" cy="0"/>
          <a:chOff x="0" y="0"/>
          <a:chExt cx="0" cy="0"/>
        </a:xfrm>
      </p:grpSpPr>
      <p:sp>
        <p:nvSpPr>
          <p:cNvPr id="29" name="Google Shape;29;p27"/>
          <p:cNvSpPr txBox="1"/>
          <p:nvPr>
            <p:ph type="title"/>
          </p:nvPr>
        </p:nvSpPr>
        <p:spPr>
          <a:xfrm>
            <a:off x="314007" y="64135"/>
            <a:ext cx="11563984" cy="823213"/>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600" u="sng">
                <a:solidFill>
                  <a:srgbClr val="EB3C9F"/>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27"/>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 name="Google Shape;31;p27"/>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 name="Google Shape;32;p2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2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spTree>
      <p:nvGrpSpPr>
        <p:cNvPr id="35" name="Shape 35"/>
        <p:cNvGrpSpPr/>
        <p:nvPr/>
      </p:nvGrpSpPr>
      <p:grpSpPr>
        <a:xfrm>
          <a:off x="0" y="0"/>
          <a:ext cx="0" cy="0"/>
          <a:chOff x="0" y="0"/>
          <a:chExt cx="0" cy="0"/>
        </a:xfrm>
      </p:grpSpPr>
      <p:sp>
        <p:nvSpPr>
          <p:cNvPr id="36" name="Google Shape;36;p28"/>
          <p:cNvSpPr txBox="1"/>
          <p:nvPr>
            <p:ph type="title"/>
          </p:nvPr>
        </p:nvSpPr>
        <p:spPr>
          <a:xfrm>
            <a:off x="314007" y="64135"/>
            <a:ext cx="11563984" cy="823213"/>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600" u="sng">
                <a:solidFill>
                  <a:srgbClr val="EB3C9F"/>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28"/>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8"/>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8"/>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spTree>
      <p:nvGrpSpPr>
        <p:cNvPr id="40" name="Shape 40"/>
        <p:cNvGrpSpPr/>
        <p:nvPr/>
      </p:nvGrpSpPr>
      <p:grpSpPr>
        <a:xfrm>
          <a:off x="0" y="0"/>
          <a:ext cx="0" cy="0"/>
          <a:chOff x="0" y="0"/>
          <a:chExt cx="0" cy="0"/>
        </a:xfrm>
      </p:grpSpPr>
      <p:sp>
        <p:nvSpPr>
          <p:cNvPr id="41" name="Google Shape;41;p29"/>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9"/>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29"/>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44" name="Shape 44"/>
        <p:cNvGrpSpPr/>
        <p:nvPr/>
      </p:nvGrpSpPr>
      <p:grpSpPr>
        <a:xfrm>
          <a:off x="0" y="0"/>
          <a:ext cx="0" cy="0"/>
          <a:chOff x="0" y="0"/>
          <a:chExt cx="0" cy="0"/>
        </a:xfrm>
      </p:grpSpPr>
      <p:sp>
        <p:nvSpPr>
          <p:cNvPr id="45" name="Google Shape;45;p30"/>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600" u="sng">
                <a:solidFill>
                  <a:srgbClr val="EB3C9F"/>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30"/>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500">
                <a:solidFill>
                  <a:srgbClr val="404040"/>
                </a:solidFill>
                <a:latin typeface="Georgia"/>
                <a:ea typeface="Georgia"/>
                <a:cs typeface="Georgia"/>
                <a:sym typeface="Georgi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0"/>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30"/>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30"/>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4F8FB"/>
            </a:gs>
            <a:gs pos="35002">
              <a:srgbClr val="D5E1EF"/>
            </a:gs>
            <a:gs pos="74000">
              <a:srgbClr val="AEC5E1"/>
            </a:gs>
            <a:gs pos="83000">
              <a:srgbClr val="AEC5E1"/>
            </a:gs>
            <a:gs pos="100000">
              <a:srgbClr val="C8D8EB"/>
            </a:gs>
          </a:gsLst>
          <a:lin ang="5400000" scaled="0"/>
        </a:gradFill>
      </p:bgPr>
    </p:bg>
    <p:spTree>
      <p:nvGrpSpPr>
        <p:cNvPr id="5" name="Shape 5"/>
        <p:cNvGrpSpPr/>
        <p:nvPr/>
      </p:nvGrpSpPr>
      <p:grpSpPr>
        <a:xfrm>
          <a:off x="0" y="0"/>
          <a:ext cx="0" cy="0"/>
          <a:chOff x="0" y="0"/>
          <a:chExt cx="0" cy="0"/>
        </a:xfrm>
      </p:grpSpPr>
      <p:pic>
        <p:nvPicPr>
          <p:cNvPr id="6" name="Google Shape;6;p25"/>
          <p:cNvPicPr preferRelativeResize="0"/>
          <p:nvPr/>
        </p:nvPicPr>
        <p:blipFill rotWithShape="1">
          <a:blip r:embed="rId1">
            <a:alphaModFix/>
          </a:blip>
          <a:srcRect b="0" l="0" r="0" t="0"/>
          <a:stretch/>
        </p:blipFill>
        <p:spPr>
          <a:xfrm>
            <a:off x="0" y="0"/>
            <a:ext cx="12192000" cy="6858000"/>
          </a:xfrm>
          <a:prstGeom prst="rect">
            <a:avLst/>
          </a:prstGeom>
          <a:noFill/>
          <a:ln>
            <a:noFill/>
          </a:ln>
        </p:spPr>
      </p:pic>
      <p:sp>
        <p:nvSpPr>
          <p:cNvPr id="7" name="Google Shape;7;p25"/>
          <p:cNvSpPr/>
          <p:nvPr/>
        </p:nvSpPr>
        <p:spPr>
          <a:xfrm>
            <a:off x="9377426" y="4825"/>
            <a:ext cx="1218565" cy="6853555"/>
          </a:xfrm>
          <a:custGeom>
            <a:rect b="b" l="l" r="r" t="t"/>
            <a:pathLst>
              <a:path extrusionOk="0" h="6853555" w="1218565">
                <a:moveTo>
                  <a:pt x="0" y="0"/>
                </a:moveTo>
                <a:lnTo>
                  <a:pt x="1218352" y="6853171"/>
                </a:lnTo>
              </a:path>
            </a:pathLst>
          </a:custGeom>
          <a:noFill/>
          <a:ln cap="flat" cmpd="sng" w="9525">
            <a:solidFill>
              <a:srgbClr val="F495C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 name="Google Shape;8;p25"/>
          <p:cNvSpPr/>
          <p:nvPr/>
        </p:nvSpPr>
        <p:spPr>
          <a:xfrm>
            <a:off x="7448612" y="3694896"/>
            <a:ext cx="4743450" cy="3163570"/>
          </a:xfrm>
          <a:custGeom>
            <a:rect b="b" l="l" r="r" t="t"/>
            <a:pathLst>
              <a:path extrusionOk="0" h="3163570" w="4743450">
                <a:moveTo>
                  <a:pt x="4743387" y="0"/>
                </a:moveTo>
                <a:lnTo>
                  <a:pt x="0" y="3163101"/>
                </a:lnTo>
              </a:path>
            </a:pathLst>
          </a:custGeom>
          <a:noFill/>
          <a:ln cap="flat" cmpd="sng" w="9525">
            <a:solidFill>
              <a:srgbClr val="F495C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 name="Google Shape;9;p25"/>
          <p:cNvSpPr/>
          <p:nvPr/>
        </p:nvSpPr>
        <p:spPr>
          <a:xfrm>
            <a:off x="9182100" y="0"/>
            <a:ext cx="3009900" cy="6858000"/>
          </a:xfrm>
          <a:custGeom>
            <a:rect b="b" l="l" r="r" t="t"/>
            <a:pathLst>
              <a:path extrusionOk="0" h="6858000" w="3009900">
                <a:moveTo>
                  <a:pt x="3009899" y="0"/>
                </a:moveTo>
                <a:lnTo>
                  <a:pt x="2044399" y="0"/>
                </a:lnTo>
                <a:lnTo>
                  <a:pt x="0" y="6857996"/>
                </a:lnTo>
                <a:lnTo>
                  <a:pt x="3009899" y="6857996"/>
                </a:lnTo>
                <a:lnTo>
                  <a:pt x="3009899" y="0"/>
                </a:lnTo>
                <a:close/>
              </a:path>
            </a:pathLst>
          </a:custGeom>
          <a:solidFill>
            <a:srgbClr val="F495CA">
              <a:alpha val="35686"/>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 name="Google Shape;10;p25"/>
          <p:cNvSpPr/>
          <p:nvPr/>
        </p:nvSpPr>
        <p:spPr>
          <a:xfrm>
            <a:off x="9602878" y="0"/>
            <a:ext cx="2589530" cy="6858000"/>
          </a:xfrm>
          <a:custGeom>
            <a:rect b="b" l="l" r="r" t="t"/>
            <a:pathLst>
              <a:path extrusionOk="0" h="6858000" w="2589529">
                <a:moveTo>
                  <a:pt x="2589120" y="0"/>
                </a:moveTo>
                <a:lnTo>
                  <a:pt x="0" y="0"/>
                </a:lnTo>
                <a:lnTo>
                  <a:pt x="1208884" y="6857996"/>
                </a:lnTo>
                <a:lnTo>
                  <a:pt x="2589120" y="6857996"/>
                </a:lnTo>
                <a:lnTo>
                  <a:pt x="2589120" y="0"/>
                </a:lnTo>
                <a:close/>
              </a:path>
            </a:pathLst>
          </a:custGeom>
          <a:solidFill>
            <a:srgbClr val="F495CA">
              <a:alpha val="19607"/>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 name="Google Shape;11;p25"/>
          <p:cNvSpPr/>
          <p:nvPr/>
        </p:nvSpPr>
        <p:spPr>
          <a:xfrm>
            <a:off x="8934450" y="3048000"/>
            <a:ext cx="3257550" cy="3810000"/>
          </a:xfrm>
          <a:custGeom>
            <a:rect b="b" l="l" r="r" t="t"/>
            <a:pathLst>
              <a:path extrusionOk="0" h="3810000" w="3257550">
                <a:moveTo>
                  <a:pt x="3257550" y="0"/>
                </a:moveTo>
                <a:lnTo>
                  <a:pt x="0" y="3810000"/>
                </a:lnTo>
                <a:lnTo>
                  <a:pt x="3257550" y="3810000"/>
                </a:lnTo>
                <a:lnTo>
                  <a:pt x="3257550" y="0"/>
                </a:lnTo>
                <a:close/>
              </a:path>
            </a:pathLst>
          </a:custGeom>
          <a:solidFill>
            <a:srgbClr val="F495CA">
              <a:alpha val="71764"/>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 name="Google Shape;12;p25"/>
          <p:cNvSpPr/>
          <p:nvPr/>
        </p:nvSpPr>
        <p:spPr>
          <a:xfrm>
            <a:off x="9337930" y="0"/>
            <a:ext cx="2854325" cy="6858000"/>
          </a:xfrm>
          <a:custGeom>
            <a:rect b="b" l="l" r="r" t="t"/>
            <a:pathLst>
              <a:path extrusionOk="0" h="6858000" w="2854325">
                <a:moveTo>
                  <a:pt x="2854069" y="0"/>
                </a:moveTo>
                <a:lnTo>
                  <a:pt x="0" y="0"/>
                </a:lnTo>
                <a:lnTo>
                  <a:pt x="2470020" y="6857996"/>
                </a:lnTo>
                <a:lnTo>
                  <a:pt x="2854069" y="6857996"/>
                </a:lnTo>
                <a:lnTo>
                  <a:pt x="2854069" y="0"/>
                </a:lnTo>
                <a:close/>
              </a:path>
            </a:pathLst>
          </a:custGeom>
          <a:solidFill>
            <a:srgbClr val="EB3C9F">
              <a:alpha val="49803"/>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 name="Google Shape;13;p25"/>
          <p:cNvSpPr/>
          <p:nvPr/>
        </p:nvSpPr>
        <p:spPr>
          <a:xfrm>
            <a:off x="10896600" y="0"/>
            <a:ext cx="1295400" cy="6858000"/>
          </a:xfrm>
          <a:custGeom>
            <a:rect b="b" l="l" r="r" t="t"/>
            <a:pathLst>
              <a:path extrusionOk="0" h="6858000" w="1295400">
                <a:moveTo>
                  <a:pt x="1295399" y="0"/>
                </a:moveTo>
                <a:lnTo>
                  <a:pt x="1022453" y="0"/>
                </a:lnTo>
                <a:lnTo>
                  <a:pt x="0" y="6857996"/>
                </a:lnTo>
                <a:lnTo>
                  <a:pt x="1295399" y="6857996"/>
                </a:lnTo>
                <a:lnTo>
                  <a:pt x="1295399" y="0"/>
                </a:lnTo>
                <a:close/>
              </a:path>
            </a:pathLst>
          </a:custGeom>
          <a:solidFill>
            <a:srgbClr val="EB3C9F">
              <a:alpha val="69803"/>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 name="Google Shape;14;p25"/>
          <p:cNvSpPr/>
          <p:nvPr/>
        </p:nvSpPr>
        <p:spPr>
          <a:xfrm>
            <a:off x="10936247" y="0"/>
            <a:ext cx="1256030" cy="6858000"/>
          </a:xfrm>
          <a:custGeom>
            <a:rect b="b" l="l" r="r" t="t"/>
            <a:pathLst>
              <a:path extrusionOk="0" h="6858000" w="1256029">
                <a:moveTo>
                  <a:pt x="1255752" y="0"/>
                </a:moveTo>
                <a:lnTo>
                  <a:pt x="0" y="0"/>
                </a:lnTo>
                <a:lnTo>
                  <a:pt x="1114527" y="6857996"/>
                </a:lnTo>
                <a:lnTo>
                  <a:pt x="1255752" y="6857996"/>
                </a:lnTo>
                <a:lnTo>
                  <a:pt x="1255752" y="0"/>
                </a:lnTo>
                <a:close/>
              </a:path>
            </a:pathLst>
          </a:custGeom>
          <a:solidFill>
            <a:srgbClr val="B1126C">
              <a:alpha val="79607"/>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 name="Google Shape;15;p25"/>
          <p:cNvSpPr/>
          <p:nvPr/>
        </p:nvSpPr>
        <p:spPr>
          <a:xfrm>
            <a:off x="10372725" y="3590925"/>
            <a:ext cx="1819275" cy="3267075"/>
          </a:xfrm>
          <a:custGeom>
            <a:rect b="b" l="l" r="r" t="t"/>
            <a:pathLst>
              <a:path extrusionOk="0" h="3267075" w="1819275">
                <a:moveTo>
                  <a:pt x="1819275" y="0"/>
                </a:moveTo>
                <a:lnTo>
                  <a:pt x="0" y="3267075"/>
                </a:lnTo>
                <a:lnTo>
                  <a:pt x="1819275" y="3267075"/>
                </a:lnTo>
                <a:lnTo>
                  <a:pt x="1819275" y="0"/>
                </a:lnTo>
                <a:close/>
              </a:path>
            </a:pathLst>
          </a:custGeom>
          <a:solidFill>
            <a:srgbClr val="B1126C">
              <a:alpha val="65490"/>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 name="Google Shape;16;p25"/>
          <p:cNvSpPr/>
          <p:nvPr/>
        </p:nvSpPr>
        <p:spPr>
          <a:xfrm>
            <a:off x="0" y="4010025"/>
            <a:ext cx="447675" cy="2847975"/>
          </a:xfrm>
          <a:custGeom>
            <a:rect b="b" l="l" r="r" t="t"/>
            <a:pathLst>
              <a:path extrusionOk="0" h="2847975" w="447675">
                <a:moveTo>
                  <a:pt x="0" y="0"/>
                </a:moveTo>
                <a:lnTo>
                  <a:pt x="0" y="2847975"/>
                </a:lnTo>
                <a:lnTo>
                  <a:pt x="447675" y="2847975"/>
                </a:lnTo>
                <a:lnTo>
                  <a:pt x="0" y="0"/>
                </a:lnTo>
                <a:close/>
              </a:path>
            </a:pathLst>
          </a:custGeom>
          <a:solidFill>
            <a:srgbClr val="EB3C9F">
              <a:alpha val="69803"/>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 name="Google Shape;17;p25"/>
          <p:cNvSpPr txBox="1"/>
          <p:nvPr>
            <p:ph type="title"/>
          </p:nvPr>
        </p:nvSpPr>
        <p:spPr>
          <a:xfrm>
            <a:off x="314007" y="64135"/>
            <a:ext cx="11563984" cy="823213"/>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3600" u="sng" cap="none" strike="noStrike">
                <a:solidFill>
                  <a:srgbClr val="EB3C9F"/>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 name="Google Shape;18;p25"/>
          <p:cNvSpPr txBox="1"/>
          <p:nvPr>
            <p:ph idx="1" type="body"/>
          </p:nvPr>
        </p:nvSpPr>
        <p:spPr>
          <a:xfrm>
            <a:off x="756602" y="2167953"/>
            <a:ext cx="4995545" cy="3478529"/>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500" u="none" cap="none" strike="noStrike">
                <a:solidFill>
                  <a:srgbClr val="404040"/>
                </a:solidFill>
                <a:latin typeface="Georgia"/>
                <a:ea typeface="Georgia"/>
                <a:cs typeface="Georgia"/>
                <a:sym typeface="Georgia"/>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9" name="Google Shape;19;p2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 name="Google Shape;20;p2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1" name="Google Shape;21;p2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archive.ics.uci.edu/dataset/102/thyroid%2Bdisease" TargetMode="External"/><Relationship Id="rId4" Type="http://schemas.openxmlformats.org/officeDocument/2006/relationships/hyperlink" Target="https://archive.ics.uci.edu/dataset/102/thyroid%2Bdisease" TargetMode="External"/><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1" Type="http://schemas.openxmlformats.org/officeDocument/2006/relationships/image" Target="../media/image11.png"/><Relationship Id="rId10" Type="http://schemas.openxmlformats.org/officeDocument/2006/relationships/image" Target="../media/image8.png"/><Relationship Id="rId13" Type="http://schemas.openxmlformats.org/officeDocument/2006/relationships/image" Target="../media/image19.jpg"/><Relationship Id="rId12" Type="http://schemas.openxmlformats.org/officeDocument/2006/relationships/image" Target="../media/image13.png"/><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0.jpg"/><Relationship Id="rId4" Type="http://schemas.openxmlformats.org/officeDocument/2006/relationships/image" Target="../media/image12.png"/><Relationship Id="rId9" Type="http://schemas.openxmlformats.org/officeDocument/2006/relationships/image" Target="../media/image10.jpg"/><Relationship Id="rId15" Type="http://schemas.openxmlformats.org/officeDocument/2006/relationships/image" Target="../media/image15.jpg"/><Relationship Id="rId14" Type="http://schemas.openxmlformats.org/officeDocument/2006/relationships/image" Target="../media/image16.jpg"/><Relationship Id="rId17" Type="http://schemas.openxmlformats.org/officeDocument/2006/relationships/image" Target="../media/image18.png"/><Relationship Id="rId16" Type="http://schemas.openxmlformats.org/officeDocument/2006/relationships/image" Target="../media/image17.jpg"/><Relationship Id="rId5" Type="http://schemas.openxmlformats.org/officeDocument/2006/relationships/image" Target="../media/image7.png"/><Relationship Id="rId6" Type="http://schemas.openxmlformats.org/officeDocument/2006/relationships/image" Target="../media/image5.jpg"/><Relationship Id="rId18" Type="http://schemas.openxmlformats.org/officeDocument/2006/relationships/image" Target="../media/image21.png"/><Relationship Id="rId7" Type="http://schemas.openxmlformats.org/officeDocument/2006/relationships/image" Target="../media/image14.jpg"/><Relationship Id="rId8"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4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34.png"/><Relationship Id="rId6" Type="http://schemas.openxmlformats.org/officeDocument/2006/relationships/image" Target="../media/image31.png"/><Relationship Id="rId7" Type="http://schemas.openxmlformats.org/officeDocument/2006/relationships/image" Target="../media/image35.png"/><Relationship Id="rId8"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2.png"/><Relationship Id="rId4" Type="http://schemas.openxmlformats.org/officeDocument/2006/relationships/image" Target="../media/image39.jpg"/><Relationship Id="rId5" Type="http://schemas.openxmlformats.org/officeDocument/2006/relationships/image" Target="../media/image36.jpg"/><Relationship Id="rId6" Type="http://schemas.openxmlformats.org/officeDocument/2006/relationships/image" Target="../media/image3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archive.ics.uci.edu/dataset/102/thyroid%2Bdisease" TargetMode="External"/><Relationship Id="rId4" Type="http://schemas.openxmlformats.org/officeDocument/2006/relationships/hyperlink" Target="https://archive.ics.uci.edu/dataset/102/thyroid%2Bdisease"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3" name="Shape 53"/>
        <p:cNvGrpSpPr/>
        <p:nvPr/>
      </p:nvGrpSpPr>
      <p:grpSpPr>
        <a:xfrm>
          <a:off x="0" y="0"/>
          <a:ext cx="0" cy="0"/>
          <a:chOff x="0" y="0"/>
          <a:chExt cx="0" cy="0"/>
        </a:xfrm>
      </p:grpSpPr>
      <p:sp>
        <p:nvSpPr>
          <p:cNvPr id="54" name="Google Shape;54;p1"/>
          <p:cNvSpPr txBox="1"/>
          <p:nvPr>
            <p:ph type="title"/>
          </p:nvPr>
        </p:nvSpPr>
        <p:spPr>
          <a:xfrm>
            <a:off x="2549842" y="2544255"/>
            <a:ext cx="7092315" cy="742767"/>
          </a:xfrm>
          <a:prstGeom prst="rect">
            <a:avLst/>
          </a:prstGeom>
          <a:noFill/>
          <a:ln>
            <a:noFill/>
          </a:ln>
        </p:spPr>
        <p:txBody>
          <a:bodyPr anchorCtr="0" anchor="t" bIns="0" lIns="0" spcFirstLastPara="1" rIns="0" wrap="square" tIns="69850">
            <a:spAutoFit/>
          </a:bodyPr>
          <a:lstStyle/>
          <a:p>
            <a:pPr indent="0" lvl="0" marL="12065" marR="5080" rtl="0" algn="ctr">
              <a:lnSpc>
                <a:spcPct val="91100"/>
              </a:lnSpc>
              <a:spcBef>
                <a:spcPts val="0"/>
              </a:spcBef>
              <a:spcAft>
                <a:spcPts val="0"/>
              </a:spcAft>
              <a:buNone/>
            </a:pPr>
            <a:r>
              <a:rPr b="0" lang="en-IN" sz="2400">
                <a:solidFill>
                  <a:schemeClr val="dk1"/>
                </a:solidFill>
              </a:rPr>
              <a:t>Thyroid Disease Detection: Implementing Machine Learning for Disease Prediction </a:t>
            </a:r>
            <a:endParaRPr b="0" sz="2400">
              <a:solidFill>
                <a:schemeClr val="dk1"/>
              </a:solidFill>
            </a:endParaRPr>
          </a:p>
        </p:txBody>
      </p:sp>
      <p:sp>
        <p:nvSpPr>
          <p:cNvPr id="55" name="Google Shape;55;p1"/>
          <p:cNvSpPr txBox="1"/>
          <p:nvPr/>
        </p:nvSpPr>
        <p:spPr>
          <a:xfrm>
            <a:off x="4302601" y="3810000"/>
            <a:ext cx="3586798" cy="385362"/>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en-IN" sz="2400">
                <a:solidFill>
                  <a:schemeClr val="dk1"/>
                </a:solidFill>
                <a:latin typeface="Times New Roman"/>
                <a:ea typeface="Times New Roman"/>
                <a:cs typeface="Times New Roman"/>
                <a:sym typeface="Times New Roman"/>
              </a:rPr>
              <a:t>DETAILED PROJECT REPORT</a:t>
            </a:r>
            <a:endParaRPr sz="2400">
              <a:solidFill>
                <a:schemeClr val="dk1"/>
              </a:solidFill>
              <a:latin typeface="Times New Roman"/>
              <a:ea typeface="Times New Roman"/>
              <a:cs typeface="Times New Roman"/>
              <a:sym typeface="Times New Roman"/>
            </a:endParaRPr>
          </a:p>
        </p:txBody>
      </p:sp>
      <p:pic>
        <p:nvPicPr>
          <p:cNvPr id="56" name="Google Shape;56;p1"/>
          <p:cNvPicPr preferRelativeResize="0"/>
          <p:nvPr/>
        </p:nvPicPr>
        <p:blipFill rotWithShape="1">
          <a:blip r:embed="rId3">
            <a:alphaModFix/>
          </a:blip>
          <a:srcRect b="0" l="0" r="0" t="0"/>
          <a:stretch/>
        </p:blipFill>
        <p:spPr>
          <a:xfrm>
            <a:off x="2549842" y="61957"/>
            <a:ext cx="5762625" cy="2133600"/>
          </a:xfrm>
          <a:prstGeom prst="rect">
            <a:avLst/>
          </a:prstGeom>
          <a:noFill/>
          <a:ln>
            <a:noFill/>
          </a:ln>
        </p:spPr>
      </p:pic>
      <p:sp>
        <p:nvSpPr>
          <p:cNvPr id="57" name="Google Shape;57;p1"/>
          <p:cNvSpPr txBox="1"/>
          <p:nvPr/>
        </p:nvSpPr>
        <p:spPr>
          <a:xfrm>
            <a:off x="2960750" y="4702520"/>
            <a:ext cx="6550659" cy="945515"/>
          </a:xfrm>
          <a:prstGeom prst="rect">
            <a:avLst/>
          </a:prstGeom>
          <a:noFill/>
          <a:ln>
            <a:noFill/>
          </a:ln>
        </p:spPr>
        <p:txBody>
          <a:bodyPr anchorCtr="0" anchor="t" bIns="0" lIns="0" spcFirstLastPara="1" rIns="0" wrap="square" tIns="16500">
            <a:spAutoFit/>
          </a:bodyPr>
          <a:lstStyle/>
          <a:p>
            <a:pPr indent="0" lvl="0" marL="3175" rtl="0" algn="ctr">
              <a:lnSpc>
                <a:spcPct val="100000"/>
              </a:lnSpc>
              <a:spcBef>
                <a:spcPts val="0"/>
              </a:spcBef>
              <a:spcAft>
                <a:spcPts val="0"/>
              </a:spcAft>
              <a:buNone/>
            </a:pPr>
            <a:r>
              <a:rPr b="1" lang="en-IN" sz="2000">
                <a:latin typeface="Times New Roman"/>
                <a:ea typeface="Times New Roman"/>
                <a:cs typeface="Times New Roman"/>
                <a:sym typeface="Times New Roman"/>
              </a:rPr>
              <a:t>Name: </a:t>
            </a:r>
            <a:r>
              <a:rPr lang="en-IN" sz="2000">
                <a:latin typeface="Times New Roman"/>
                <a:ea typeface="Times New Roman"/>
                <a:cs typeface="Times New Roman"/>
                <a:sym typeface="Times New Roman"/>
              </a:rPr>
              <a:t>Kislay Chaturvedi</a:t>
            </a:r>
            <a:endParaRPr sz="2000">
              <a:latin typeface="Times New Roman"/>
              <a:ea typeface="Times New Roman"/>
              <a:cs typeface="Times New Roman"/>
              <a:sym typeface="Times New Roman"/>
            </a:endParaRPr>
          </a:p>
          <a:p>
            <a:pPr indent="0" lvl="0" marL="0" rtl="0" algn="ctr">
              <a:lnSpc>
                <a:spcPct val="100000"/>
              </a:lnSpc>
              <a:spcBef>
                <a:spcPts val="5"/>
              </a:spcBef>
              <a:spcAft>
                <a:spcPts val="0"/>
              </a:spcAft>
              <a:buNone/>
            </a:pPr>
            <a:r>
              <a:rPr b="1" lang="en-IN" sz="2000">
                <a:latin typeface="Times New Roman"/>
                <a:ea typeface="Times New Roman"/>
                <a:cs typeface="Times New Roman"/>
                <a:sym typeface="Times New Roman"/>
              </a:rPr>
              <a:t>Course: </a:t>
            </a:r>
            <a:r>
              <a:rPr lang="en-IN" sz="2000">
                <a:latin typeface="Times New Roman"/>
                <a:ea typeface="Times New Roman"/>
                <a:cs typeface="Times New Roman"/>
                <a:sym typeface="Times New Roman"/>
              </a:rPr>
              <a:t>Decode Data Science With Machine Learning</a:t>
            </a:r>
            <a:endParaRPr sz="2000">
              <a:latin typeface="Times New Roman"/>
              <a:ea typeface="Times New Roman"/>
              <a:cs typeface="Times New Roman"/>
              <a:sym typeface="Times New Roman"/>
            </a:endParaRPr>
          </a:p>
          <a:p>
            <a:pPr indent="0" lvl="0" marL="4445" rtl="0" algn="ctr">
              <a:lnSpc>
                <a:spcPct val="100000"/>
              </a:lnSpc>
              <a:spcBef>
                <a:spcPts val="0"/>
              </a:spcBef>
              <a:spcAft>
                <a:spcPts val="0"/>
              </a:spcAft>
              <a:buNone/>
            </a:pPr>
            <a:r>
              <a:rPr b="1" lang="en-IN" sz="2000">
                <a:latin typeface="Times New Roman"/>
                <a:ea typeface="Times New Roman"/>
                <a:cs typeface="Times New Roman"/>
                <a:sym typeface="Times New Roman"/>
              </a:rPr>
              <a:t>Date: </a:t>
            </a:r>
            <a:r>
              <a:rPr lang="en-IN" sz="2000">
                <a:latin typeface="Times New Roman"/>
                <a:ea typeface="Times New Roman"/>
                <a:cs typeface="Times New Roman"/>
                <a:sym typeface="Times New Roman"/>
              </a:rPr>
              <a:t>Aug 30, 2024</a:t>
            </a:r>
            <a:endParaRPr sz="200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1" name="Shape 61"/>
        <p:cNvGrpSpPr/>
        <p:nvPr/>
      </p:nvGrpSpPr>
      <p:grpSpPr>
        <a:xfrm>
          <a:off x="0" y="0"/>
          <a:ext cx="0" cy="0"/>
          <a:chOff x="0" y="0"/>
          <a:chExt cx="0" cy="0"/>
        </a:xfrm>
      </p:grpSpPr>
      <p:sp>
        <p:nvSpPr>
          <p:cNvPr id="62" name="Google Shape;62;p2"/>
          <p:cNvSpPr txBox="1"/>
          <p:nvPr>
            <p:ph type="title"/>
          </p:nvPr>
        </p:nvSpPr>
        <p:spPr>
          <a:xfrm>
            <a:off x="756602" y="1219200"/>
            <a:ext cx="2004695" cy="382797"/>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IN" sz="2400" u="none">
                <a:solidFill>
                  <a:schemeClr val="dk1"/>
                </a:solidFill>
              </a:rPr>
              <a:t>AGENDA</a:t>
            </a:r>
            <a:endParaRPr/>
          </a:p>
        </p:txBody>
      </p:sp>
      <p:sp>
        <p:nvSpPr>
          <p:cNvPr id="63" name="Google Shape;63;p2"/>
          <p:cNvSpPr txBox="1"/>
          <p:nvPr/>
        </p:nvSpPr>
        <p:spPr>
          <a:xfrm>
            <a:off x="756602" y="2067369"/>
            <a:ext cx="4895850" cy="3699089"/>
          </a:xfrm>
          <a:prstGeom prst="rect">
            <a:avLst/>
          </a:prstGeom>
          <a:noFill/>
          <a:ln>
            <a:noFill/>
          </a:ln>
        </p:spPr>
        <p:txBody>
          <a:bodyPr anchorCtr="0" anchor="t" bIns="0" lIns="0" spcFirstLastPara="1" rIns="0" wrap="square" tIns="107300">
            <a:spAutoFit/>
          </a:bodyPr>
          <a:lstStyle/>
          <a:p>
            <a:pPr indent="-342900" lvl="0" marL="355600" rtl="0" algn="l">
              <a:lnSpc>
                <a:spcPct val="100000"/>
              </a:lnSpc>
              <a:spcBef>
                <a:spcPts val="0"/>
              </a:spcBef>
              <a:spcAft>
                <a:spcPts val="0"/>
              </a:spcAft>
              <a:buClr>
                <a:srgbClr val="EB3C9F"/>
              </a:buClr>
              <a:buSzPts val="1550"/>
              <a:buFont typeface="Noto Sans Symbols"/>
              <a:buChar char="▪"/>
            </a:pPr>
            <a:r>
              <a:rPr lang="en-IN" sz="2000">
                <a:solidFill>
                  <a:srgbClr val="404040"/>
                </a:solidFill>
                <a:latin typeface="Times New Roman"/>
                <a:ea typeface="Times New Roman"/>
                <a:cs typeface="Times New Roman"/>
                <a:sym typeface="Times New Roman"/>
              </a:rPr>
              <a:t>Abstract</a:t>
            </a:r>
            <a:endParaRPr sz="2000">
              <a:latin typeface="Times New Roman"/>
              <a:ea typeface="Times New Roman"/>
              <a:cs typeface="Times New Roman"/>
              <a:sym typeface="Times New Roman"/>
            </a:endParaRPr>
          </a:p>
          <a:p>
            <a:pPr indent="-342900" lvl="0" marL="355600" rtl="0" algn="l">
              <a:lnSpc>
                <a:spcPct val="100000"/>
              </a:lnSpc>
              <a:spcBef>
                <a:spcPts val="750"/>
              </a:spcBef>
              <a:spcAft>
                <a:spcPts val="0"/>
              </a:spcAft>
              <a:buClr>
                <a:srgbClr val="EB3C9F"/>
              </a:buClr>
              <a:buSzPts val="1550"/>
              <a:buFont typeface="Noto Sans Symbols"/>
              <a:buChar char="▪"/>
            </a:pPr>
            <a:r>
              <a:rPr lang="en-IN" sz="2000">
                <a:solidFill>
                  <a:srgbClr val="404040"/>
                </a:solidFill>
                <a:latin typeface="Times New Roman"/>
                <a:ea typeface="Times New Roman"/>
                <a:cs typeface="Times New Roman"/>
                <a:sym typeface="Times New Roman"/>
              </a:rPr>
              <a:t>Introduction</a:t>
            </a:r>
            <a:endParaRPr sz="2000">
              <a:latin typeface="Times New Roman"/>
              <a:ea typeface="Times New Roman"/>
              <a:cs typeface="Times New Roman"/>
              <a:sym typeface="Times New Roman"/>
            </a:endParaRPr>
          </a:p>
          <a:p>
            <a:pPr indent="-342900" lvl="0" marL="355600" rtl="0" algn="l">
              <a:lnSpc>
                <a:spcPct val="100000"/>
              </a:lnSpc>
              <a:spcBef>
                <a:spcPts val="760"/>
              </a:spcBef>
              <a:spcAft>
                <a:spcPts val="0"/>
              </a:spcAft>
              <a:buClr>
                <a:srgbClr val="EB3C9F"/>
              </a:buClr>
              <a:buSzPts val="1550"/>
              <a:buFont typeface="Noto Sans Symbols"/>
              <a:buChar char="▪"/>
            </a:pPr>
            <a:r>
              <a:rPr lang="en-IN" sz="2000">
                <a:solidFill>
                  <a:srgbClr val="404040"/>
                </a:solidFill>
                <a:latin typeface="Times New Roman"/>
                <a:ea typeface="Times New Roman"/>
                <a:cs typeface="Times New Roman"/>
                <a:sym typeface="Times New Roman"/>
              </a:rPr>
              <a:t>General Description</a:t>
            </a:r>
            <a:endParaRPr sz="2000">
              <a:latin typeface="Times New Roman"/>
              <a:ea typeface="Times New Roman"/>
              <a:cs typeface="Times New Roman"/>
              <a:sym typeface="Times New Roman"/>
            </a:endParaRPr>
          </a:p>
          <a:p>
            <a:pPr indent="-342900" lvl="0" marL="355600" rtl="0" algn="l">
              <a:lnSpc>
                <a:spcPct val="100000"/>
              </a:lnSpc>
              <a:spcBef>
                <a:spcPts val="750"/>
              </a:spcBef>
              <a:spcAft>
                <a:spcPts val="0"/>
              </a:spcAft>
              <a:buClr>
                <a:srgbClr val="EB3C9F"/>
              </a:buClr>
              <a:buSzPts val="1550"/>
              <a:buFont typeface="Noto Sans Symbols"/>
              <a:buChar char="▪"/>
            </a:pPr>
            <a:r>
              <a:rPr lang="en-IN" sz="2000">
                <a:solidFill>
                  <a:srgbClr val="404040"/>
                </a:solidFill>
                <a:latin typeface="Times New Roman"/>
                <a:ea typeface="Times New Roman"/>
                <a:cs typeface="Times New Roman"/>
                <a:sym typeface="Times New Roman"/>
              </a:rPr>
              <a:t>Design Details</a:t>
            </a:r>
            <a:endParaRPr sz="2000">
              <a:latin typeface="Times New Roman"/>
              <a:ea typeface="Times New Roman"/>
              <a:cs typeface="Times New Roman"/>
              <a:sym typeface="Times New Roman"/>
            </a:endParaRPr>
          </a:p>
          <a:p>
            <a:pPr indent="-342900" lvl="0" marL="355600" rtl="0" algn="l">
              <a:lnSpc>
                <a:spcPct val="100000"/>
              </a:lnSpc>
              <a:spcBef>
                <a:spcPts val="835"/>
              </a:spcBef>
              <a:spcAft>
                <a:spcPts val="0"/>
              </a:spcAft>
              <a:buClr>
                <a:srgbClr val="EB3C9F"/>
              </a:buClr>
              <a:buSzPts val="1550"/>
              <a:buFont typeface="Noto Sans Symbols"/>
              <a:buChar char="▪"/>
            </a:pPr>
            <a:r>
              <a:rPr lang="en-IN" sz="2000">
                <a:solidFill>
                  <a:srgbClr val="404040"/>
                </a:solidFill>
                <a:latin typeface="Times New Roman"/>
                <a:ea typeface="Times New Roman"/>
                <a:cs typeface="Times New Roman"/>
                <a:sym typeface="Times New Roman"/>
              </a:rPr>
              <a:t>Model Performance &amp; Deployment</a:t>
            </a:r>
            <a:endParaRPr sz="2000">
              <a:latin typeface="Times New Roman"/>
              <a:ea typeface="Times New Roman"/>
              <a:cs typeface="Times New Roman"/>
              <a:sym typeface="Times New Roman"/>
            </a:endParaRPr>
          </a:p>
          <a:p>
            <a:pPr indent="-342900" lvl="0" marL="355600" rtl="0" algn="l">
              <a:lnSpc>
                <a:spcPct val="100000"/>
              </a:lnSpc>
              <a:spcBef>
                <a:spcPts val="750"/>
              </a:spcBef>
              <a:spcAft>
                <a:spcPts val="0"/>
              </a:spcAft>
              <a:buClr>
                <a:srgbClr val="EB3C9F"/>
              </a:buClr>
              <a:buSzPts val="1550"/>
              <a:buFont typeface="Noto Sans Symbols"/>
              <a:buChar char="▪"/>
            </a:pPr>
            <a:r>
              <a:rPr lang="en-IN" sz="2000">
                <a:solidFill>
                  <a:srgbClr val="404040"/>
                </a:solidFill>
                <a:latin typeface="Times New Roman"/>
                <a:ea typeface="Times New Roman"/>
                <a:cs typeface="Times New Roman"/>
                <a:sym typeface="Times New Roman"/>
              </a:rPr>
              <a:t>Unit Test Cases</a:t>
            </a:r>
            <a:endParaRPr sz="2000">
              <a:latin typeface="Times New Roman"/>
              <a:ea typeface="Times New Roman"/>
              <a:cs typeface="Times New Roman"/>
              <a:sym typeface="Times New Roman"/>
            </a:endParaRPr>
          </a:p>
          <a:p>
            <a:pPr indent="-342900" lvl="0" marL="355600" rtl="0" algn="l">
              <a:lnSpc>
                <a:spcPct val="100000"/>
              </a:lnSpc>
              <a:spcBef>
                <a:spcPts val="755"/>
              </a:spcBef>
              <a:spcAft>
                <a:spcPts val="0"/>
              </a:spcAft>
              <a:buClr>
                <a:srgbClr val="EB3C9F"/>
              </a:buClr>
              <a:buSzPts val="1550"/>
              <a:buFont typeface="Noto Sans Symbols"/>
              <a:buChar char="▪"/>
            </a:pPr>
            <a:r>
              <a:rPr lang="en-IN" sz="2000">
                <a:solidFill>
                  <a:srgbClr val="404040"/>
                </a:solidFill>
                <a:latin typeface="Times New Roman"/>
                <a:ea typeface="Times New Roman"/>
                <a:cs typeface="Times New Roman"/>
                <a:sym typeface="Times New Roman"/>
              </a:rPr>
              <a:t>Conclusion</a:t>
            </a:r>
            <a:endParaRPr sz="2000">
              <a:latin typeface="Times New Roman"/>
              <a:ea typeface="Times New Roman"/>
              <a:cs typeface="Times New Roman"/>
              <a:sym typeface="Times New Roman"/>
            </a:endParaRPr>
          </a:p>
          <a:p>
            <a:pPr indent="-342900" lvl="0" marL="355600" rtl="0" algn="l">
              <a:lnSpc>
                <a:spcPct val="100000"/>
              </a:lnSpc>
              <a:spcBef>
                <a:spcPts val="755"/>
              </a:spcBef>
              <a:spcAft>
                <a:spcPts val="0"/>
              </a:spcAft>
              <a:buClr>
                <a:srgbClr val="EB3C9F"/>
              </a:buClr>
              <a:buSzPts val="1550"/>
              <a:buFont typeface="Noto Sans Symbols"/>
              <a:buChar char="▪"/>
            </a:pPr>
            <a:r>
              <a:rPr lang="en-IN" sz="2000">
                <a:solidFill>
                  <a:srgbClr val="404040"/>
                </a:solidFill>
                <a:latin typeface="Times New Roman"/>
                <a:ea typeface="Times New Roman"/>
                <a:cs typeface="Times New Roman"/>
                <a:sym typeface="Times New Roman"/>
              </a:rPr>
              <a:t>Frequently Asked Questions (FAQs)</a:t>
            </a:r>
            <a:endParaRPr sz="2000">
              <a:latin typeface="Times New Roman"/>
              <a:ea typeface="Times New Roman"/>
              <a:cs typeface="Times New Roman"/>
              <a:sym typeface="Times New Roman"/>
            </a:endParaRPr>
          </a:p>
          <a:p>
            <a:pPr indent="-342900" lvl="0" marL="355600" rtl="0" algn="l">
              <a:lnSpc>
                <a:spcPct val="100000"/>
              </a:lnSpc>
              <a:spcBef>
                <a:spcPts val="755"/>
              </a:spcBef>
              <a:spcAft>
                <a:spcPts val="0"/>
              </a:spcAft>
              <a:buClr>
                <a:srgbClr val="EB3C9F"/>
              </a:buClr>
              <a:buSzPts val="1550"/>
              <a:buFont typeface="Noto Sans Symbols"/>
              <a:buChar char="▪"/>
            </a:pPr>
            <a:r>
              <a:rPr lang="en-IN" sz="2000">
                <a:solidFill>
                  <a:srgbClr val="404040"/>
                </a:solidFill>
                <a:latin typeface="Times New Roman"/>
                <a:ea typeface="Times New Roman"/>
                <a:cs typeface="Times New Roman"/>
                <a:sym typeface="Times New Roman"/>
              </a:rPr>
              <a:t>Acknowledgement</a:t>
            </a:r>
            <a:endParaRPr sz="2000">
              <a:latin typeface="Times New Roman"/>
              <a:ea typeface="Times New Roman"/>
              <a:cs typeface="Times New Roman"/>
              <a:sym typeface="Times New Roman"/>
            </a:endParaRPr>
          </a:p>
        </p:txBody>
      </p:sp>
      <p:grpSp>
        <p:nvGrpSpPr>
          <p:cNvPr id="64" name="Google Shape;64;p2"/>
          <p:cNvGrpSpPr/>
          <p:nvPr/>
        </p:nvGrpSpPr>
        <p:grpSpPr>
          <a:xfrm>
            <a:off x="6654419" y="2438512"/>
            <a:ext cx="2009145" cy="2592070"/>
            <a:chOff x="6654419" y="2438512"/>
            <a:chExt cx="2009145" cy="2592070"/>
          </a:xfrm>
        </p:grpSpPr>
        <p:sp>
          <p:nvSpPr>
            <p:cNvPr id="65" name="Google Shape;65;p2"/>
            <p:cNvSpPr/>
            <p:nvPr/>
          </p:nvSpPr>
          <p:spPr>
            <a:xfrm>
              <a:off x="6654419" y="2439111"/>
              <a:ext cx="2009139" cy="2590800"/>
            </a:xfrm>
            <a:custGeom>
              <a:rect b="b" l="l" r="r" t="t"/>
              <a:pathLst>
                <a:path extrusionOk="0" h="2590800" w="2009140">
                  <a:moveTo>
                    <a:pt x="2008797" y="0"/>
                  </a:moveTo>
                  <a:lnTo>
                    <a:pt x="1814398" y="0"/>
                  </a:lnTo>
                  <a:lnTo>
                    <a:pt x="1814398" y="194310"/>
                  </a:lnTo>
                  <a:lnTo>
                    <a:pt x="1814398" y="2396426"/>
                  </a:lnTo>
                  <a:lnTo>
                    <a:pt x="194398" y="2396426"/>
                  </a:lnTo>
                  <a:lnTo>
                    <a:pt x="194398" y="194310"/>
                  </a:lnTo>
                  <a:lnTo>
                    <a:pt x="1814398" y="194310"/>
                  </a:lnTo>
                  <a:lnTo>
                    <a:pt x="1814398" y="0"/>
                  </a:lnTo>
                  <a:lnTo>
                    <a:pt x="0" y="0"/>
                  </a:lnTo>
                  <a:lnTo>
                    <a:pt x="0" y="194310"/>
                  </a:lnTo>
                  <a:lnTo>
                    <a:pt x="0" y="2396426"/>
                  </a:lnTo>
                  <a:lnTo>
                    <a:pt x="0" y="2590736"/>
                  </a:lnTo>
                  <a:lnTo>
                    <a:pt x="2008797" y="2590736"/>
                  </a:lnTo>
                  <a:lnTo>
                    <a:pt x="2008797" y="2396883"/>
                  </a:lnTo>
                  <a:lnTo>
                    <a:pt x="2008797" y="2396426"/>
                  </a:lnTo>
                  <a:lnTo>
                    <a:pt x="2008797" y="194310"/>
                  </a:lnTo>
                  <a:lnTo>
                    <a:pt x="2008797" y="193802"/>
                  </a:lnTo>
                  <a:lnTo>
                    <a:pt x="2008797" y="0"/>
                  </a:lnTo>
                  <a:close/>
                </a:path>
              </a:pathLst>
            </a:custGeom>
            <a:solidFill>
              <a:srgbClr val="F495C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6" name="Google Shape;66;p2"/>
            <p:cNvSpPr/>
            <p:nvPr/>
          </p:nvSpPr>
          <p:spPr>
            <a:xfrm>
              <a:off x="6654425" y="2438512"/>
              <a:ext cx="2009139" cy="2592070"/>
            </a:xfrm>
            <a:custGeom>
              <a:rect b="b" l="l" r="r" t="t"/>
              <a:pathLst>
                <a:path extrusionOk="0" h="2592070" w="2009140">
                  <a:moveTo>
                    <a:pt x="194400" y="194390"/>
                  </a:moveTo>
                  <a:lnTo>
                    <a:pt x="1814401" y="194390"/>
                  </a:lnTo>
                  <a:lnTo>
                    <a:pt x="1814402" y="2397481"/>
                  </a:lnTo>
                  <a:lnTo>
                    <a:pt x="194400" y="2397481"/>
                  </a:lnTo>
                  <a:lnTo>
                    <a:pt x="194400" y="194390"/>
                  </a:lnTo>
                  <a:close/>
                </a:path>
                <a:path extrusionOk="0" h="2592070" w="2009140">
                  <a:moveTo>
                    <a:pt x="0" y="2591875"/>
                  </a:moveTo>
                  <a:lnTo>
                    <a:pt x="2008802" y="2591876"/>
                  </a:lnTo>
                  <a:lnTo>
                    <a:pt x="2008801" y="0"/>
                  </a:lnTo>
                  <a:lnTo>
                    <a:pt x="0" y="0"/>
                  </a:lnTo>
                  <a:lnTo>
                    <a:pt x="0" y="2591875"/>
                  </a:lnTo>
                  <a:close/>
                </a:path>
              </a:pathLst>
            </a:custGeom>
            <a:noFill/>
            <a:ln cap="flat" cmpd="sng" w="32375">
              <a:solidFill>
                <a:srgbClr val="F495C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7" name="Google Shape;67;p2"/>
            <p:cNvSpPr/>
            <p:nvPr/>
          </p:nvSpPr>
          <p:spPr>
            <a:xfrm>
              <a:off x="7723626" y="2924488"/>
              <a:ext cx="551180" cy="130175"/>
            </a:xfrm>
            <a:custGeom>
              <a:rect b="b" l="l" r="r" t="t"/>
              <a:pathLst>
                <a:path extrusionOk="0" h="130175" w="551179">
                  <a:moveTo>
                    <a:pt x="550800" y="0"/>
                  </a:moveTo>
                  <a:lnTo>
                    <a:pt x="0" y="0"/>
                  </a:lnTo>
                  <a:lnTo>
                    <a:pt x="0" y="129593"/>
                  </a:lnTo>
                  <a:lnTo>
                    <a:pt x="550800" y="129593"/>
                  </a:lnTo>
                  <a:lnTo>
                    <a:pt x="550800" y="0"/>
                  </a:lnTo>
                  <a:close/>
                </a:path>
              </a:pathLst>
            </a:custGeom>
            <a:solidFill>
              <a:srgbClr val="F495C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8" name="Google Shape;68;p2"/>
            <p:cNvSpPr/>
            <p:nvPr/>
          </p:nvSpPr>
          <p:spPr>
            <a:xfrm>
              <a:off x="7723626" y="2924488"/>
              <a:ext cx="551180" cy="130175"/>
            </a:xfrm>
            <a:custGeom>
              <a:rect b="b" l="l" r="r" t="t"/>
              <a:pathLst>
                <a:path extrusionOk="0" h="130175" w="551179">
                  <a:moveTo>
                    <a:pt x="0" y="129593"/>
                  </a:moveTo>
                  <a:lnTo>
                    <a:pt x="550800" y="129593"/>
                  </a:lnTo>
                  <a:lnTo>
                    <a:pt x="550800" y="0"/>
                  </a:lnTo>
                  <a:lnTo>
                    <a:pt x="0" y="0"/>
                  </a:lnTo>
                  <a:lnTo>
                    <a:pt x="0" y="129593"/>
                  </a:lnTo>
                  <a:close/>
                </a:path>
              </a:pathLst>
            </a:custGeom>
            <a:noFill/>
            <a:ln cap="flat" cmpd="sng" w="32375">
              <a:solidFill>
                <a:srgbClr val="F495C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9" name="Google Shape;69;p2"/>
            <p:cNvSpPr/>
            <p:nvPr/>
          </p:nvSpPr>
          <p:spPr>
            <a:xfrm>
              <a:off x="7723626" y="3442863"/>
              <a:ext cx="551180" cy="130175"/>
            </a:xfrm>
            <a:custGeom>
              <a:rect b="b" l="l" r="r" t="t"/>
              <a:pathLst>
                <a:path extrusionOk="0" h="130175" w="551179">
                  <a:moveTo>
                    <a:pt x="550800" y="0"/>
                  </a:moveTo>
                  <a:lnTo>
                    <a:pt x="0" y="0"/>
                  </a:lnTo>
                  <a:lnTo>
                    <a:pt x="0" y="129593"/>
                  </a:lnTo>
                  <a:lnTo>
                    <a:pt x="550800" y="129593"/>
                  </a:lnTo>
                  <a:lnTo>
                    <a:pt x="550800" y="0"/>
                  </a:lnTo>
                  <a:close/>
                </a:path>
              </a:pathLst>
            </a:custGeom>
            <a:solidFill>
              <a:srgbClr val="F495C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0" name="Google Shape;70;p2"/>
            <p:cNvSpPr/>
            <p:nvPr/>
          </p:nvSpPr>
          <p:spPr>
            <a:xfrm>
              <a:off x="7723626" y="3442863"/>
              <a:ext cx="551180" cy="130175"/>
            </a:xfrm>
            <a:custGeom>
              <a:rect b="b" l="l" r="r" t="t"/>
              <a:pathLst>
                <a:path extrusionOk="0" h="130175" w="551179">
                  <a:moveTo>
                    <a:pt x="0" y="129593"/>
                  </a:moveTo>
                  <a:lnTo>
                    <a:pt x="550800" y="129593"/>
                  </a:lnTo>
                  <a:lnTo>
                    <a:pt x="550800" y="0"/>
                  </a:lnTo>
                  <a:lnTo>
                    <a:pt x="0" y="0"/>
                  </a:lnTo>
                  <a:lnTo>
                    <a:pt x="0" y="129593"/>
                  </a:lnTo>
                  <a:close/>
                </a:path>
              </a:pathLst>
            </a:custGeom>
            <a:noFill/>
            <a:ln cap="flat" cmpd="sng" w="32375">
              <a:solidFill>
                <a:srgbClr val="F495C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1" name="Google Shape;71;p2"/>
            <p:cNvSpPr/>
            <p:nvPr/>
          </p:nvSpPr>
          <p:spPr>
            <a:xfrm>
              <a:off x="7723627" y="4479611"/>
              <a:ext cx="551180" cy="130175"/>
            </a:xfrm>
            <a:custGeom>
              <a:rect b="b" l="l" r="r" t="t"/>
              <a:pathLst>
                <a:path extrusionOk="0" h="130175" w="551179">
                  <a:moveTo>
                    <a:pt x="550800" y="0"/>
                  </a:moveTo>
                  <a:lnTo>
                    <a:pt x="0" y="0"/>
                  </a:lnTo>
                  <a:lnTo>
                    <a:pt x="0" y="129593"/>
                  </a:lnTo>
                  <a:lnTo>
                    <a:pt x="550800" y="129593"/>
                  </a:lnTo>
                  <a:lnTo>
                    <a:pt x="550800" y="0"/>
                  </a:lnTo>
                  <a:close/>
                </a:path>
              </a:pathLst>
            </a:custGeom>
            <a:solidFill>
              <a:srgbClr val="F495C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2" name="Google Shape;72;p2"/>
            <p:cNvSpPr/>
            <p:nvPr/>
          </p:nvSpPr>
          <p:spPr>
            <a:xfrm>
              <a:off x="7723627" y="4479611"/>
              <a:ext cx="551180" cy="130175"/>
            </a:xfrm>
            <a:custGeom>
              <a:rect b="b" l="l" r="r" t="t"/>
              <a:pathLst>
                <a:path extrusionOk="0" h="130175" w="551179">
                  <a:moveTo>
                    <a:pt x="0" y="129593"/>
                  </a:moveTo>
                  <a:lnTo>
                    <a:pt x="550800" y="129593"/>
                  </a:lnTo>
                  <a:lnTo>
                    <a:pt x="550800" y="0"/>
                  </a:lnTo>
                  <a:lnTo>
                    <a:pt x="0" y="0"/>
                  </a:lnTo>
                  <a:lnTo>
                    <a:pt x="0" y="129593"/>
                  </a:lnTo>
                  <a:close/>
                </a:path>
              </a:pathLst>
            </a:custGeom>
            <a:noFill/>
            <a:ln cap="flat" cmpd="sng" w="32375">
              <a:solidFill>
                <a:srgbClr val="F495C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3" name="Google Shape;73;p2"/>
            <p:cNvSpPr/>
            <p:nvPr/>
          </p:nvSpPr>
          <p:spPr>
            <a:xfrm>
              <a:off x="7723626" y="3961237"/>
              <a:ext cx="551180" cy="130175"/>
            </a:xfrm>
            <a:custGeom>
              <a:rect b="b" l="l" r="r" t="t"/>
              <a:pathLst>
                <a:path extrusionOk="0" h="130175" w="551179">
                  <a:moveTo>
                    <a:pt x="550800" y="0"/>
                  </a:moveTo>
                  <a:lnTo>
                    <a:pt x="0" y="0"/>
                  </a:lnTo>
                  <a:lnTo>
                    <a:pt x="0" y="129593"/>
                  </a:lnTo>
                  <a:lnTo>
                    <a:pt x="550800" y="129593"/>
                  </a:lnTo>
                  <a:lnTo>
                    <a:pt x="550800" y="0"/>
                  </a:lnTo>
                  <a:close/>
                </a:path>
              </a:pathLst>
            </a:custGeom>
            <a:solidFill>
              <a:srgbClr val="F495C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4" name="Google Shape;74;p2"/>
            <p:cNvSpPr/>
            <p:nvPr/>
          </p:nvSpPr>
          <p:spPr>
            <a:xfrm>
              <a:off x="7723626" y="3961237"/>
              <a:ext cx="551180" cy="130175"/>
            </a:xfrm>
            <a:custGeom>
              <a:rect b="b" l="l" r="r" t="t"/>
              <a:pathLst>
                <a:path extrusionOk="0" h="130175" w="551179">
                  <a:moveTo>
                    <a:pt x="0" y="129593"/>
                  </a:moveTo>
                  <a:lnTo>
                    <a:pt x="550800" y="129593"/>
                  </a:lnTo>
                  <a:lnTo>
                    <a:pt x="550800" y="0"/>
                  </a:lnTo>
                  <a:lnTo>
                    <a:pt x="0" y="0"/>
                  </a:lnTo>
                  <a:lnTo>
                    <a:pt x="0" y="129593"/>
                  </a:lnTo>
                  <a:close/>
                </a:path>
              </a:pathLst>
            </a:custGeom>
            <a:noFill/>
            <a:ln cap="flat" cmpd="sng" w="32375">
              <a:solidFill>
                <a:srgbClr val="F495C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5" name="Google Shape;75;p2"/>
            <p:cNvSpPr/>
            <p:nvPr/>
          </p:nvSpPr>
          <p:spPr>
            <a:xfrm>
              <a:off x="7043226" y="2762496"/>
              <a:ext cx="480059" cy="395605"/>
            </a:xfrm>
            <a:custGeom>
              <a:rect b="b" l="l" r="r" t="t"/>
              <a:pathLst>
                <a:path extrusionOk="0" h="395605" w="480059">
                  <a:moveTo>
                    <a:pt x="388800" y="0"/>
                  </a:moveTo>
                  <a:lnTo>
                    <a:pt x="174960" y="213829"/>
                  </a:lnTo>
                  <a:lnTo>
                    <a:pt x="90720" y="129593"/>
                  </a:lnTo>
                  <a:lnTo>
                    <a:pt x="0" y="220309"/>
                  </a:lnTo>
                  <a:lnTo>
                    <a:pt x="174960" y="395260"/>
                  </a:lnTo>
                  <a:lnTo>
                    <a:pt x="479520" y="90715"/>
                  </a:lnTo>
                  <a:lnTo>
                    <a:pt x="388800" y="0"/>
                  </a:lnTo>
                  <a:close/>
                </a:path>
              </a:pathLst>
            </a:custGeom>
            <a:solidFill>
              <a:srgbClr val="F495C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6" name="Google Shape;76;p2"/>
            <p:cNvSpPr/>
            <p:nvPr/>
          </p:nvSpPr>
          <p:spPr>
            <a:xfrm>
              <a:off x="7043226" y="2762496"/>
              <a:ext cx="480059" cy="395605"/>
            </a:xfrm>
            <a:custGeom>
              <a:rect b="b" l="l" r="r" t="t"/>
              <a:pathLst>
                <a:path extrusionOk="0" h="395605" w="480059">
                  <a:moveTo>
                    <a:pt x="479520" y="90715"/>
                  </a:moveTo>
                  <a:lnTo>
                    <a:pt x="388800" y="0"/>
                  </a:lnTo>
                  <a:lnTo>
                    <a:pt x="174960" y="213829"/>
                  </a:lnTo>
                  <a:lnTo>
                    <a:pt x="90720" y="129593"/>
                  </a:lnTo>
                  <a:lnTo>
                    <a:pt x="0" y="220309"/>
                  </a:lnTo>
                  <a:lnTo>
                    <a:pt x="174960" y="395260"/>
                  </a:lnTo>
                  <a:lnTo>
                    <a:pt x="479520" y="90715"/>
                  </a:lnTo>
                  <a:close/>
                </a:path>
              </a:pathLst>
            </a:custGeom>
            <a:noFill/>
            <a:ln cap="flat" cmpd="sng" w="32375">
              <a:solidFill>
                <a:srgbClr val="F495C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7" name="Google Shape;77;p2"/>
            <p:cNvSpPr/>
            <p:nvPr/>
          </p:nvSpPr>
          <p:spPr>
            <a:xfrm>
              <a:off x="7043226" y="3280871"/>
              <a:ext cx="480059" cy="395605"/>
            </a:xfrm>
            <a:custGeom>
              <a:rect b="b" l="l" r="r" t="t"/>
              <a:pathLst>
                <a:path extrusionOk="0" h="395604" w="480059">
                  <a:moveTo>
                    <a:pt x="388800" y="0"/>
                  </a:moveTo>
                  <a:lnTo>
                    <a:pt x="174960" y="213829"/>
                  </a:lnTo>
                  <a:lnTo>
                    <a:pt x="90720" y="129593"/>
                  </a:lnTo>
                  <a:lnTo>
                    <a:pt x="0" y="220309"/>
                  </a:lnTo>
                  <a:lnTo>
                    <a:pt x="174960" y="395260"/>
                  </a:lnTo>
                  <a:lnTo>
                    <a:pt x="479520" y="90715"/>
                  </a:lnTo>
                  <a:lnTo>
                    <a:pt x="388800" y="0"/>
                  </a:lnTo>
                  <a:close/>
                </a:path>
              </a:pathLst>
            </a:custGeom>
            <a:solidFill>
              <a:srgbClr val="F495C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8" name="Google Shape;78;p2"/>
            <p:cNvSpPr/>
            <p:nvPr/>
          </p:nvSpPr>
          <p:spPr>
            <a:xfrm>
              <a:off x="7043226" y="3280871"/>
              <a:ext cx="480059" cy="395605"/>
            </a:xfrm>
            <a:custGeom>
              <a:rect b="b" l="l" r="r" t="t"/>
              <a:pathLst>
                <a:path extrusionOk="0" h="395604" w="480059">
                  <a:moveTo>
                    <a:pt x="479520" y="90715"/>
                  </a:moveTo>
                  <a:lnTo>
                    <a:pt x="388800" y="0"/>
                  </a:lnTo>
                  <a:lnTo>
                    <a:pt x="174960" y="213829"/>
                  </a:lnTo>
                  <a:lnTo>
                    <a:pt x="90720" y="129593"/>
                  </a:lnTo>
                  <a:lnTo>
                    <a:pt x="0" y="220309"/>
                  </a:lnTo>
                  <a:lnTo>
                    <a:pt x="174960" y="395260"/>
                  </a:lnTo>
                  <a:lnTo>
                    <a:pt x="479520" y="90715"/>
                  </a:lnTo>
                  <a:close/>
                </a:path>
              </a:pathLst>
            </a:custGeom>
            <a:noFill/>
            <a:ln cap="flat" cmpd="sng" w="32375">
              <a:solidFill>
                <a:srgbClr val="F495C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9" name="Google Shape;79;p2"/>
            <p:cNvSpPr/>
            <p:nvPr/>
          </p:nvSpPr>
          <p:spPr>
            <a:xfrm>
              <a:off x="7043226" y="3799245"/>
              <a:ext cx="480059" cy="395605"/>
            </a:xfrm>
            <a:custGeom>
              <a:rect b="b" l="l" r="r" t="t"/>
              <a:pathLst>
                <a:path extrusionOk="0" h="395604" w="480059">
                  <a:moveTo>
                    <a:pt x="388800" y="0"/>
                  </a:moveTo>
                  <a:lnTo>
                    <a:pt x="174960" y="213829"/>
                  </a:lnTo>
                  <a:lnTo>
                    <a:pt x="90720" y="129593"/>
                  </a:lnTo>
                  <a:lnTo>
                    <a:pt x="0" y="220309"/>
                  </a:lnTo>
                  <a:lnTo>
                    <a:pt x="174960" y="395260"/>
                  </a:lnTo>
                  <a:lnTo>
                    <a:pt x="479520" y="90715"/>
                  </a:lnTo>
                  <a:lnTo>
                    <a:pt x="388800" y="0"/>
                  </a:lnTo>
                  <a:close/>
                </a:path>
              </a:pathLst>
            </a:custGeom>
            <a:solidFill>
              <a:srgbClr val="F495C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0" name="Google Shape;80;p2"/>
            <p:cNvSpPr/>
            <p:nvPr/>
          </p:nvSpPr>
          <p:spPr>
            <a:xfrm>
              <a:off x="7043226" y="3799245"/>
              <a:ext cx="480059" cy="395605"/>
            </a:xfrm>
            <a:custGeom>
              <a:rect b="b" l="l" r="r" t="t"/>
              <a:pathLst>
                <a:path extrusionOk="0" h="395604" w="480059">
                  <a:moveTo>
                    <a:pt x="479520" y="90715"/>
                  </a:moveTo>
                  <a:lnTo>
                    <a:pt x="388800" y="0"/>
                  </a:lnTo>
                  <a:lnTo>
                    <a:pt x="174960" y="213829"/>
                  </a:lnTo>
                  <a:lnTo>
                    <a:pt x="90720" y="129593"/>
                  </a:lnTo>
                  <a:lnTo>
                    <a:pt x="0" y="220309"/>
                  </a:lnTo>
                  <a:lnTo>
                    <a:pt x="174960" y="395260"/>
                  </a:lnTo>
                  <a:lnTo>
                    <a:pt x="479520" y="90715"/>
                  </a:lnTo>
                  <a:close/>
                </a:path>
              </a:pathLst>
            </a:custGeom>
            <a:noFill/>
            <a:ln cap="flat" cmpd="sng" w="32375">
              <a:solidFill>
                <a:srgbClr val="F495C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1" name="Google Shape;81;p2"/>
            <p:cNvSpPr/>
            <p:nvPr/>
          </p:nvSpPr>
          <p:spPr>
            <a:xfrm>
              <a:off x="7043226" y="4311139"/>
              <a:ext cx="480059" cy="395605"/>
            </a:xfrm>
            <a:custGeom>
              <a:rect b="b" l="l" r="r" t="t"/>
              <a:pathLst>
                <a:path extrusionOk="0" h="395604" w="480059">
                  <a:moveTo>
                    <a:pt x="388800" y="0"/>
                  </a:moveTo>
                  <a:lnTo>
                    <a:pt x="174960" y="213829"/>
                  </a:lnTo>
                  <a:lnTo>
                    <a:pt x="90720" y="129593"/>
                  </a:lnTo>
                  <a:lnTo>
                    <a:pt x="0" y="220309"/>
                  </a:lnTo>
                  <a:lnTo>
                    <a:pt x="174960" y="395260"/>
                  </a:lnTo>
                  <a:lnTo>
                    <a:pt x="479520" y="90715"/>
                  </a:lnTo>
                  <a:lnTo>
                    <a:pt x="388800" y="0"/>
                  </a:lnTo>
                  <a:close/>
                </a:path>
              </a:pathLst>
            </a:custGeom>
            <a:solidFill>
              <a:srgbClr val="F495C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2" name="Google Shape;82;p2"/>
            <p:cNvSpPr/>
            <p:nvPr/>
          </p:nvSpPr>
          <p:spPr>
            <a:xfrm>
              <a:off x="7043226" y="4311139"/>
              <a:ext cx="480059" cy="395605"/>
            </a:xfrm>
            <a:custGeom>
              <a:rect b="b" l="l" r="r" t="t"/>
              <a:pathLst>
                <a:path extrusionOk="0" h="395604" w="480059">
                  <a:moveTo>
                    <a:pt x="479520" y="90715"/>
                  </a:moveTo>
                  <a:lnTo>
                    <a:pt x="388800" y="0"/>
                  </a:lnTo>
                  <a:lnTo>
                    <a:pt x="174960" y="213829"/>
                  </a:lnTo>
                  <a:lnTo>
                    <a:pt x="90720" y="129593"/>
                  </a:lnTo>
                  <a:lnTo>
                    <a:pt x="0" y="220309"/>
                  </a:lnTo>
                  <a:lnTo>
                    <a:pt x="174960" y="395260"/>
                  </a:lnTo>
                  <a:lnTo>
                    <a:pt x="479520" y="90715"/>
                  </a:lnTo>
                  <a:close/>
                </a:path>
              </a:pathLst>
            </a:custGeom>
            <a:noFill/>
            <a:ln cap="flat" cmpd="sng" w="32375">
              <a:solidFill>
                <a:srgbClr val="F495C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6" name="Shape 86"/>
        <p:cNvGrpSpPr/>
        <p:nvPr/>
      </p:nvGrpSpPr>
      <p:grpSpPr>
        <a:xfrm>
          <a:off x="0" y="0"/>
          <a:ext cx="0" cy="0"/>
          <a:chOff x="0" y="0"/>
          <a:chExt cx="0" cy="0"/>
        </a:xfrm>
      </p:grpSpPr>
      <p:sp>
        <p:nvSpPr>
          <p:cNvPr id="87" name="Google Shape;87;p3"/>
          <p:cNvSpPr txBox="1"/>
          <p:nvPr>
            <p:ph type="title"/>
          </p:nvPr>
        </p:nvSpPr>
        <p:spPr>
          <a:xfrm>
            <a:off x="353377" y="180022"/>
            <a:ext cx="1416685" cy="334645"/>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en-IN" sz="2000" u="none">
                <a:solidFill>
                  <a:schemeClr val="dk1"/>
                </a:solidFill>
              </a:rPr>
              <a:t>ABSTRACT</a:t>
            </a:r>
            <a:endParaRPr sz="2000" u="none">
              <a:solidFill>
                <a:schemeClr val="dk1"/>
              </a:solidFill>
            </a:endParaRPr>
          </a:p>
        </p:txBody>
      </p:sp>
      <p:sp>
        <p:nvSpPr>
          <p:cNvPr id="88" name="Google Shape;88;p3"/>
          <p:cNvSpPr txBox="1"/>
          <p:nvPr/>
        </p:nvSpPr>
        <p:spPr>
          <a:xfrm>
            <a:off x="353377" y="850836"/>
            <a:ext cx="9199245" cy="5616153"/>
          </a:xfrm>
          <a:prstGeom prst="rect">
            <a:avLst/>
          </a:prstGeom>
          <a:noFill/>
          <a:ln>
            <a:noFill/>
          </a:ln>
        </p:spPr>
        <p:txBody>
          <a:bodyPr anchorCtr="0" anchor="t" bIns="0" lIns="0" spcFirstLastPara="1" rIns="0" wrap="square" tIns="4425">
            <a:spAutoFit/>
          </a:bodyPr>
          <a:lstStyle/>
          <a:p>
            <a:pPr indent="-342900" lvl="0" marL="355600" marR="465455" rtl="0" algn="l">
              <a:lnSpc>
                <a:spcPct val="105000"/>
              </a:lnSpc>
              <a:spcBef>
                <a:spcPts val="0"/>
              </a:spcBef>
              <a:spcAft>
                <a:spcPts val="0"/>
              </a:spcAft>
              <a:buClr>
                <a:srgbClr val="EB3C9F"/>
              </a:buClr>
              <a:buSzPts val="1250"/>
              <a:buFont typeface="Noto Sans Symbols"/>
              <a:buChar char="▪"/>
            </a:pPr>
            <a:r>
              <a:rPr lang="en-IN" sz="1550">
                <a:latin typeface="Times New Roman"/>
                <a:ea typeface="Times New Roman"/>
                <a:cs typeface="Times New Roman"/>
                <a:sym typeface="Times New Roman"/>
              </a:rPr>
              <a:t>Thyroid Disease Detection Project is focused on predicting thyroid disease using machine learning techniques.</a:t>
            </a:r>
            <a:endParaRPr sz="1550">
              <a:latin typeface="Times New Roman"/>
              <a:ea typeface="Times New Roman"/>
              <a:cs typeface="Times New Roman"/>
              <a:sym typeface="Times New Roman"/>
            </a:endParaRPr>
          </a:p>
          <a:p>
            <a:pPr indent="-342900" lvl="0" marL="355600" marR="445134" rtl="0" algn="l">
              <a:lnSpc>
                <a:spcPct val="100899"/>
              </a:lnSpc>
              <a:spcBef>
                <a:spcPts val="1050"/>
              </a:spcBef>
              <a:spcAft>
                <a:spcPts val="0"/>
              </a:spcAft>
              <a:buClr>
                <a:srgbClr val="EB3C9F"/>
              </a:buClr>
              <a:buSzPts val="1250"/>
              <a:buFont typeface="Noto Sans Symbols"/>
              <a:buChar char="▪"/>
            </a:pPr>
            <a:r>
              <a:rPr lang="en-IN" sz="1550">
                <a:latin typeface="Times New Roman"/>
                <a:ea typeface="Times New Roman"/>
                <a:cs typeface="Times New Roman"/>
                <a:sym typeface="Times New Roman"/>
              </a:rPr>
              <a:t>Various machine learning algorithms are evaluated to identify the best model for prediction.</a:t>
            </a:r>
            <a:endParaRPr sz="1550">
              <a:latin typeface="Times New Roman"/>
              <a:ea typeface="Times New Roman"/>
              <a:cs typeface="Times New Roman"/>
              <a:sym typeface="Times New Roman"/>
            </a:endParaRPr>
          </a:p>
          <a:p>
            <a:pPr indent="-342900" lvl="0" marL="355600" marR="290195" rtl="0" algn="l">
              <a:lnSpc>
                <a:spcPct val="104900"/>
              </a:lnSpc>
              <a:spcBef>
                <a:spcPts val="980"/>
              </a:spcBef>
              <a:spcAft>
                <a:spcPts val="0"/>
              </a:spcAft>
              <a:buClr>
                <a:srgbClr val="EB3C9F"/>
              </a:buClr>
              <a:buSzPts val="1250"/>
              <a:buFont typeface="Noto Sans Symbols"/>
              <a:buChar char="▪"/>
            </a:pPr>
            <a:r>
              <a:rPr lang="en-IN" sz="1550">
                <a:latin typeface="Times New Roman"/>
                <a:ea typeface="Times New Roman"/>
                <a:cs typeface="Times New Roman"/>
                <a:sym typeface="Times New Roman"/>
              </a:rPr>
              <a:t>The project involves creating a Flask web application for real-time predictions and deploying it in a cloud environment.</a:t>
            </a:r>
            <a:endParaRPr sz="1550">
              <a:latin typeface="Times New Roman"/>
              <a:ea typeface="Times New Roman"/>
              <a:cs typeface="Times New Roman"/>
              <a:sym typeface="Times New Roman"/>
            </a:endParaRPr>
          </a:p>
          <a:p>
            <a:pPr indent="-342900" lvl="0" marL="355600" marR="142875" rtl="0" algn="l">
              <a:lnSpc>
                <a:spcPct val="100899"/>
              </a:lnSpc>
              <a:spcBef>
                <a:spcPts val="1050"/>
              </a:spcBef>
              <a:spcAft>
                <a:spcPts val="0"/>
              </a:spcAft>
              <a:buClr>
                <a:srgbClr val="EB3C9F"/>
              </a:buClr>
              <a:buSzPts val="1250"/>
              <a:buFont typeface="Noto Sans Symbols"/>
              <a:buChar char="▪"/>
            </a:pPr>
            <a:r>
              <a:rPr lang="en-IN" sz="1550">
                <a:latin typeface="Times New Roman"/>
                <a:ea typeface="Times New Roman"/>
                <a:cs typeface="Times New Roman"/>
                <a:sym typeface="Times New Roman"/>
              </a:rPr>
              <a:t>Data is sourced from the UCI Machine Learning Repository and processed for model training.</a:t>
            </a:r>
            <a:endParaRPr sz="1550">
              <a:latin typeface="Times New Roman"/>
              <a:ea typeface="Times New Roman"/>
              <a:cs typeface="Times New Roman"/>
              <a:sym typeface="Times New Roman"/>
            </a:endParaRPr>
          </a:p>
          <a:p>
            <a:pPr indent="-342265" lvl="0" marL="354965" rtl="0" algn="l">
              <a:lnSpc>
                <a:spcPct val="100000"/>
              </a:lnSpc>
              <a:spcBef>
                <a:spcPts val="1070"/>
              </a:spcBef>
              <a:spcAft>
                <a:spcPts val="0"/>
              </a:spcAft>
              <a:buClr>
                <a:srgbClr val="EB3C9F"/>
              </a:buClr>
              <a:buSzPts val="1250"/>
              <a:buFont typeface="Noto Sans Symbols"/>
              <a:buChar char="▪"/>
            </a:pPr>
            <a:r>
              <a:rPr lang="en-IN" sz="1550">
                <a:latin typeface="Times New Roman"/>
                <a:ea typeface="Times New Roman"/>
                <a:cs typeface="Times New Roman"/>
                <a:sym typeface="Times New Roman"/>
              </a:rPr>
              <a:t>Data preprocessing includes handling missing values, encoding categorical features,</a:t>
            </a:r>
            <a:endParaRPr sz="1550">
              <a:latin typeface="Times New Roman"/>
              <a:ea typeface="Times New Roman"/>
              <a:cs typeface="Times New Roman"/>
              <a:sym typeface="Times New Roman"/>
            </a:endParaRPr>
          </a:p>
          <a:p>
            <a:pPr indent="0" lvl="0" marL="355600" rtl="0" algn="l">
              <a:lnSpc>
                <a:spcPct val="100000"/>
              </a:lnSpc>
              <a:spcBef>
                <a:spcPts val="95"/>
              </a:spcBef>
              <a:spcAft>
                <a:spcPts val="0"/>
              </a:spcAft>
              <a:buNone/>
            </a:pPr>
            <a:r>
              <a:rPr lang="en-IN" sz="1550">
                <a:latin typeface="Times New Roman"/>
                <a:ea typeface="Times New Roman"/>
                <a:cs typeface="Times New Roman"/>
                <a:sym typeface="Times New Roman"/>
              </a:rPr>
              <a:t>and normalizing numerical data, necessary for Machine Learning tasks.</a:t>
            </a:r>
            <a:endParaRPr sz="1550">
              <a:latin typeface="Times New Roman"/>
              <a:ea typeface="Times New Roman"/>
              <a:cs typeface="Times New Roman"/>
              <a:sym typeface="Times New Roman"/>
            </a:endParaRPr>
          </a:p>
          <a:p>
            <a:pPr indent="-342900" lvl="0" marL="355600" marR="5080" rtl="0" algn="l">
              <a:lnSpc>
                <a:spcPct val="103400"/>
              </a:lnSpc>
              <a:spcBef>
                <a:spcPts val="1005"/>
              </a:spcBef>
              <a:spcAft>
                <a:spcPts val="0"/>
              </a:spcAft>
              <a:buClr>
                <a:srgbClr val="EB3C9F"/>
              </a:buClr>
              <a:buSzPts val="1250"/>
              <a:buFont typeface="Noto Sans Symbols"/>
              <a:buChar char="▪"/>
            </a:pPr>
            <a:r>
              <a:rPr lang="en-IN" sz="1550">
                <a:latin typeface="Times New Roman"/>
                <a:ea typeface="Times New Roman"/>
                <a:cs typeface="Times New Roman"/>
                <a:sym typeface="Times New Roman"/>
              </a:rPr>
              <a:t>Technical Documentations, namely High Level Document (HLD) and Low Level Document (LLD) have been provided which, describes the technical process of building as well as deploying the machine learning mode, covering from data preprocessing, feature engineering, model selection, right up to model evaluation and the deployment process has been highlighted along with the ongoing monitoring which is required for maintaining the model performance.</a:t>
            </a:r>
            <a:endParaRPr sz="1550">
              <a:latin typeface="Times New Roman"/>
              <a:ea typeface="Times New Roman"/>
              <a:cs typeface="Times New Roman"/>
              <a:sym typeface="Times New Roman"/>
            </a:endParaRPr>
          </a:p>
          <a:p>
            <a:pPr indent="-342900" lvl="0" marL="355600" marR="77470" rtl="0" algn="l">
              <a:lnSpc>
                <a:spcPct val="100899"/>
              </a:lnSpc>
              <a:spcBef>
                <a:spcPts val="1055"/>
              </a:spcBef>
              <a:spcAft>
                <a:spcPts val="0"/>
              </a:spcAft>
              <a:buClr>
                <a:srgbClr val="EB3C9F"/>
              </a:buClr>
              <a:buSzPts val="1250"/>
              <a:buFont typeface="Noto Sans Symbols"/>
              <a:buChar char="▪"/>
            </a:pPr>
            <a:r>
              <a:rPr lang="en-IN" sz="1550">
                <a:latin typeface="Times New Roman"/>
                <a:ea typeface="Times New Roman"/>
                <a:cs typeface="Times New Roman"/>
                <a:sym typeface="Times New Roman"/>
              </a:rPr>
              <a:t>The Project Architecture Document details the end-to-end process of data collection, preprocessing, and machine learning operations.</a:t>
            </a:r>
            <a:endParaRPr sz="1550">
              <a:latin typeface="Times New Roman"/>
              <a:ea typeface="Times New Roman"/>
              <a:cs typeface="Times New Roman"/>
              <a:sym typeface="Times New Roman"/>
            </a:endParaRPr>
          </a:p>
          <a:p>
            <a:pPr indent="-342265" lvl="0" marL="354965" rtl="0" algn="l">
              <a:lnSpc>
                <a:spcPct val="100000"/>
              </a:lnSpc>
              <a:spcBef>
                <a:spcPts val="1070"/>
              </a:spcBef>
              <a:spcAft>
                <a:spcPts val="0"/>
              </a:spcAft>
              <a:buClr>
                <a:srgbClr val="EB3C9F"/>
              </a:buClr>
              <a:buSzPts val="1250"/>
              <a:buFont typeface="Noto Sans Symbols"/>
              <a:buChar char="▪"/>
            </a:pPr>
            <a:r>
              <a:rPr lang="en-IN" sz="1550">
                <a:latin typeface="Times New Roman"/>
                <a:ea typeface="Times New Roman"/>
                <a:cs typeface="Times New Roman"/>
                <a:sym typeface="Times New Roman"/>
              </a:rPr>
              <a:t>Wireframe Document outlines the web application’s user interface design.</a:t>
            </a:r>
            <a:endParaRPr sz="155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2" name="Shape 92"/>
        <p:cNvGrpSpPr/>
        <p:nvPr/>
      </p:nvGrpSpPr>
      <p:grpSpPr>
        <a:xfrm>
          <a:off x="0" y="0"/>
          <a:ext cx="0" cy="0"/>
          <a:chOff x="0" y="0"/>
          <a:chExt cx="0" cy="0"/>
        </a:xfrm>
      </p:grpSpPr>
      <p:sp>
        <p:nvSpPr>
          <p:cNvPr id="93" name="Google Shape;93;p4"/>
          <p:cNvSpPr txBox="1"/>
          <p:nvPr>
            <p:ph type="title"/>
          </p:nvPr>
        </p:nvSpPr>
        <p:spPr>
          <a:xfrm>
            <a:off x="353377" y="180022"/>
            <a:ext cx="2059305" cy="334645"/>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en-IN" sz="2000" u="none">
                <a:solidFill>
                  <a:schemeClr val="dk1"/>
                </a:solidFill>
              </a:rPr>
              <a:t>INTRODUCTION</a:t>
            </a:r>
            <a:endParaRPr sz="2000" u="none">
              <a:solidFill>
                <a:schemeClr val="dk1"/>
              </a:solidFill>
            </a:endParaRPr>
          </a:p>
        </p:txBody>
      </p:sp>
      <p:sp>
        <p:nvSpPr>
          <p:cNvPr id="94" name="Google Shape;94;p4"/>
          <p:cNvSpPr txBox="1"/>
          <p:nvPr/>
        </p:nvSpPr>
        <p:spPr>
          <a:xfrm>
            <a:off x="353377" y="659066"/>
            <a:ext cx="9000490" cy="5779135"/>
          </a:xfrm>
          <a:prstGeom prst="rect">
            <a:avLst/>
          </a:prstGeom>
          <a:noFill/>
          <a:ln>
            <a:noFill/>
          </a:ln>
        </p:spPr>
        <p:txBody>
          <a:bodyPr anchorCtr="0" anchor="t" bIns="0" lIns="0" spcFirstLastPara="1" rIns="0" wrap="square" tIns="36825">
            <a:spAutoFit/>
          </a:bodyPr>
          <a:lstStyle/>
          <a:p>
            <a:pPr indent="-342900" lvl="0" marL="355600" marR="309880" rtl="0" algn="just">
              <a:lnSpc>
                <a:spcPct val="111612"/>
              </a:lnSpc>
              <a:spcBef>
                <a:spcPts val="0"/>
              </a:spcBef>
              <a:spcAft>
                <a:spcPts val="0"/>
              </a:spcAft>
              <a:buClr>
                <a:srgbClr val="EB3C9F"/>
              </a:buClr>
              <a:buSzPts val="1250"/>
              <a:buFont typeface="Noto Sans Symbols"/>
              <a:buChar char="▪"/>
            </a:pPr>
            <a:r>
              <a:rPr lang="en-IN" sz="1550">
                <a:latin typeface="Times New Roman"/>
                <a:ea typeface="Times New Roman"/>
                <a:cs typeface="Times New Roman"/>
                <a:sym typeface="Times New Roman"/>
              </a:rPr>
              <a:t>Thyroid disease is a very common problem in India, more than one crore people are suffering with the disease every year and such disorders</a:t>
            </a:r>
            <a:endParaRPr sz="1550">
              <a:latin typeface="Times New Roman"/>
              <a:ea typeface="Times New Roman"/>
              <a:cs typeface="Times New Roman"/>
              <a:sym typeface="Times New Roman"/>
            </a:endParaRPr>
          </a:p>
          <a:p>
            <a:pPr indent="-342265" lvl="0" marL="354965" rtl="0" algn="just">
              <a:lnSpc>
                <a:spcPct val="115806"/>
              </a:lnSpc>
              <a:spcBef>
                <a:spcPts val="885"/>
              </a:spcBef>
              <a:spcAft>
                <a:spcPts val="0"/>
              </a:spcAft>
              <a:buClr>
                <a:srgbClr val="EB3C9F"/>
              </a:buClr>
              <a:buSzPts val="1250"/>
              <a:buFont typeface="Noto Sans Symbols"/>
              <a:buChar char="▪"/>
            </a:pPr>
            <a:r>
              <a:rPr lang="en-IN" sz="1550">
                <a:latin typeface="Times New Roman"/>
                <a:ea typeface="Times New Roman"/>
                <a:cs typeface="Times New Roman"/>
                <a:sym typeface="Times New Roman"/>
              </a:rPr>
              <a:t>Thyroid disease affects a significant portion of the population, with higher</a:t>
            </a:r>
            <a:endParaRPr sz="1550">
              <a:latin typeface="Times New Roman"/>
              <a:ea typeface="Times New Roman"/>
              <a:cs typeface="Times New Roman"/>
              <a:sym typeface="Times New Roman"/>
            </a:endParaRPr>
          </a:p>
          <a:p>
            <a:pPr indent="-285750" lvl="0" marL="641350" rtl="0" algn="just">
              <a:lnSpc>
                <a:spcPct val="115806"/>
              </a:lnSpc>
              <a:spcBef>
                <a:spcPts val="0"/>
              </a:spcBef>
              <a:spcAft>
                <a:spcPts val="0"/>
              </a:spcAft>
              <a:buSzPts val="1550"/>
              <a:buFont typeface="Noto Sans Symbols"/>
              <a:buChar char="▪"/>
            </a:pPr>
            <a:r>
              <a:rPr lang="en-IN" sz="1550">
                <a:latin typeface="Times New Roman"/>
                <a:ea typeface="Times New Roman"/>
                <a:cs typeface="Times New Roman"/>
                <a:sym typeface="Times New Roman"/>
              </a:rPr>
              <a:t>prevalence among women aged 17 – 54.</a:t>
            </a:r>
            <a:endParaRPr sz="1550">
              <a:latin typeface="Times New Roman"/>
              <a:ea typeface="Times New Roman"/>
              <a:cs typeface="Times New Roman"/>
              <a:sym typeface="Times New Roman"/>
            </a:endParaRPr>
          </a:p>
          <a:p>
            <a:pPr indent="-342900" lvl="0" marL="355600" marR="270510" rtl="0" algn="just">
              <a:lnSpc>
                <a:spcPct val="111612"/>
              </a:lnSpc>
              <a:spcBef>
                <a:spcPts val="1010"/>
              </a:spcBef>
              <a:spcAft>
                <a:spcPts val="0"/>
              </a:spcAft>
              <a:buClr>
                <a:srgbClr val="EB3C9F"/>
              </a:buClr>
              <a:buSzPts val="1250"/>
              <a:buFont typeface="Noto Sans Symbols"/>
              <a:buChar char="▪"/>
            </a:pPr>
            <a:r>
              <a:rPr lang="en-IN" sz="1550">
                <a:latin typeface="Times New Roman"/>
                <a:ea typeface="Times New Roman"/>
                <a:cs typeface="Times New Roman"/>
                <a:sym typeface="Times New Roman"/>
              </a:rPr>
              <a:t>Thyroid disorders, such as hyperthyroidism and hypothyroidism, can lead to severe health issues, including cardiovascular complications, hypertension, high cholesterol, depression, and reduced fertility.</a:t>
            </a:r>
            <a:endParaRPr sz="1550">
              <a:latin typeface="Times New Roman"/>
              <a:ea typeface="Times New Roman"/>
              <a:cs typeface="Times New Roman"/>
              <a:sym typeface="Times New Roman"/>
            </a:endParaRPr>
          </a:p>
          <a:p>
            <a:pPr indent="-342900" lvl="0" marL="355600" marR="5080" rtl="0" algn="just">
              <a:lnSpc>
                <a:spcPct val="92800"/>
              </a:lnSpc>
              <a:spcBef>
                <a:spcPts val="1010"/>
              </a:spcBef>
              <a:spcAft>
                <a:spcPts val="0"/>
              </a:spcAft>
              <a:buClr>
                <a:srgbClr val="EB3C9F"/>
              </a:buClr>
              <a:buSzPts val="1250"/>
              <a:buFont typeface="Noto Sans Symbols"/>
              <a:buChar char="▪"/>
            </a:pPr>
            <a:r>
              <a:rPr lang="en-IN" sz="1550">
                <a:latin typeface="Times New Roman"/>
                <a:ea typeface="Times New Roman"/>
                <a:cs typeface="Times New Roman"/>
                <a:sym typeface="Times New Roman"/>
              </a:rPr>
              <a:t>The thyroid gland produces essential hormones, thyroxine (T4) and triiodothyronine (T3), which regulate the body's metabolism and are critical for the proper functioning of cells, tissues, and organs.</a:t>
            </a:r>
            <a:endParaRPr sz="1550">
              <a:latin typeface="Times New Roman"/>
              <a:ea typeface="Times New Roman"/>
              <a:cs typeface="Times New Roman"/>
              <a:sym typeface="Times New Roman"/>
            </a:endParaRPr>
          </a:p>
          <a:p>
            <a:pPr indent="-342900" lvl="0" marL="355600" marR="550545" rtl="0" algn="just">
              <a:lnSpc>
                <a:spcPct val="111612"/>
              </a:lnSpc>
              <a:spcBef>
                <a:spcPts val="1015"/>
              </a:spcBef>
              <a:spcAft>
                <a:spcPts val="0"/>
              </a:spcAft>
              <a:buClr>
                <a:srgbClr val="EB3C9F"/>
              </a:buClr>
              <a:buSzPts val="1250"/>
              <a:buFont typeface="Noto Sans Symbols"/>
              <a:buChar char="▪"/>
            </a:pPr>
            <a:r>
              <a:rPr lang="en-IN" sz="1550">
                <a:latin typeface="Times New Roman"/>
                <a:ea typeface="Times New Roman"/>
                <a:cs typeface="Times New Roman"/>
                <a:sym typeface="Times New Roman"/>
              </a:rPr>
              <a:t>Irregular thyroid function can accelerate or decelerate the body's metabolism, leading to various health complications.</a:t>
            </a:r>
            <a:endParaRPr sz="1550">
              <a:latin typeface="Times New Roman"/>
              <a:ea typeface="Times New Roman"/>
              <a:cs typeface="Times New Roman"/>
              <a:sym typeface="Times New Roman"/>
            </a:endParaRPr>
          </a:p>
          <a:p>
            <a:pPr indent="-342900" lvl="0" marL="355600" marR="63500" rtl="0" algn="just">
              <a:lnSpc>
                <a:spcPct val="111612"/>
              </a:lnSpc>
              <a:spcBef>
                <a:spcPts val="1045"/>
              </a:spcBef>
              <a:spcAft>
                <a:spcPts val="0"/>
              </a:spcAft>
              <a:buClr>
                <a:srgbClr val="EB3C9F"/>
              </a:buClr>
              <a:buSzPts val="1250"/>
              <a:buFont typeface="Noto Sans Symbols"/>
              <a:buChar char="▪"/>
            </a:pPr>
            <a:r>
              <a:rPr lang="en-IN" sz="1550">
                <a:latin typeface="Times New Roman"/>
                <a:ea typeface="Times New Roman"/>
                <a:cs typeface="Times New Roman"/>
                <a:sym typeface="Times New Roman"/>
              </a:rPr>
              <a:t>In the modern healthcare landscape, Artificial Intelligence and Machine Learning offer promising solutions for early detection and management of thyroid diseases.</a:t>
            </a:r>
            <a:endParaRPr sz="1550">
              <a:latin typeface="Times New Roman"/>
              <a:ea typeface="Times New Roman"/>
              <a:cs typeface="Times New Roman"/>
              <a:sym typeface="Times New Roman"/>
            </a:endParaRPr>
          </a:p>
          <a:p>
            <a:pPr indent="-342900" lvl="0" marL="355600" marR="32384" rtl="0" algn="just">
              <a:lnSpc>
                <a:spcPct val="111612"/>
              </a:lnSpc>
              <a:spcBef>
                <a:spcPts val="969"/>
              </a:spcBef>
              <a:spcAft>
                <a:spcPts val="0"/>
              </a:spcAft>
              <a:buClr>
                <a:srgbClr val="EB3C9F"/>
              </a:buClr>
              <a:buSzPts val="1250"/>
              <a:buFont typeface="Noto Sans Symbols"/>
              <a:buChar char="▪"/>
            </a:pPr>
            <a:r>
              <a:rPr lang="en-IN" sz="1550">
                <a:latin typeface="Times New Roman"/>
                <a:ea typeface="Times New Roman"/>
                <a:cs typeface="Times New Roman"/>
                <a:sym typeface="Times New Roman"/>
              </a:rPr>
              <a:t>This project explores the application of machine learning algorithms to predict the presence of thyroid disease, aiming to enhance diagnostic accuracy and improve patient outcomes.</a:t>
            </a:r>
            <a:endParaRPr sz="1550">
              <a:latin typeface="Times New Roman"/>
              <a:ea typeface="Times New Roman"/>
              <a:cs typeface="Times New Roman"/>
              <a:sym typeface="Times New Roman"/>
            </a:endParaRPr>
          </a:p>
          <a:p>
            <a:pPr indent="-342900" lvl="0" marL="355600" marR="662940" rtl="0" algn="just">
              <a:lnSpc>
                <a:spcPct val="93900"/>
              </a:lnSpc>
              <a:spcBef>
                <a:spcPts val="915"/>
              </a:spcBef>
              <a:spcAft>
                <a:spcPts val="0"/>
              </a:spcAft>
              <a:buClr>
                <a:srgbClr val="EB3C9F"/>
              </a:buClr>
              <a:buSzPts val="1250"/>
              <a:buFont typeface="Noto Sans Symbols"/>
              <a:buChar char="▪"/>
            </a:pPr>
            <a:r>
              <a:rPr lang="en-IN" sz="1550">
                <a:latin typeface="Times New Roman"/>
                <a:ea typeface="Times New Roman"/>
                <a:cs typeface="Times New Roman"/>
                <a:sym typeface="Times New Roman"/>
              </a:rPr>
              <a:t>The study compares different algorithms, such as Random Forest Classifier, Decision Tree Classifier, Logistic Regression, Linear Regression, AdaBoost Classifier, Gradient Boosting Classifier, XGBoost Classifier, Support Vector Classifier, Gaussian Naive Bayes and K-Nearest Neighbors (KNN) Classifier, to determine the most effective model for thyroid disease prediction.</a:t>
            </a:r>
            <a:endParaRPr sz="155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8" name="Shape 98"/>
        <p:cNvGrpSpPr/>
        <p:nvPr/>
      </p:nvGrpSpPr>
      <p:grpSpPr>
        <a:xfrm>
          <a:off x="0" y="0"/>
          <a:ext cx="0" cy="0"/>
          <a:chOff x="0" y="0"/>
          <a:chExt cx="0" cy="0"/>
        </a:xfrm>
      </p:grpSpPr>
      <p:sp>
        <p:nvSpPr>
          <p:cNvPr id="99" name="Google Shape;99;p5"/>
          <p:cNvSpPr txBox="1"/>
          <p:nvPr>
            <p:ph type="title"/>
          </p:nvPr>
        </p:nvSpPr>
        <p:spPr>
          <a:xfrm>
            <a:off x="1076960" y="64135"/>
            <a:ext cx="2663825" cy="382797"/>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IN" sz="2400" u="none">
                <a:solidFill>
                  <a:schemeClr val="dk1"/>
                </a:solidFill>
              </a:rPr>
              <a:t>OBJECTIVE</a:t>
            </a:r>
            <a:endParaRPr/>
          </a:p>
        </p:txBody>
      </p:sp>
      <p:grpSp>
        <p:nvGrpSpPr>
          <p:cNvPr id="100" name="Google Shape;100;p5"/>
          <p:cNvGrpSpPr/>
          <p:nvPr/>
        </p:nvGrpSpPr>
        <p:grpSpPr>
          <a:xfrm>
            <a:off x="428625" y="771525"/>
            <a:ext cx="1295400" cy="1304925"/>
            <a:chOff x="428625" y="771525"/>
            <a:chExt cx="1295400" cy="1304925"/>
          </a:xfrm>
        </p:grpSpPr>
        <p:sp>
          <p:nvSpPr>
            <p:cNvPr id="101" name="Google Shape;101;p5"/>
            <p:cNvSpPr/>
            <p:nvPr/>
          </p:nvSpPr>
          <p:spPr>
            <a:xfrm>
              <a:off x="428625" y="771525"/>
              <a:ext cx="1295400" cy="1304925"/>
            </a:xfrm>
            <a:custGeom>
              <a:rect b="b" l="l" r="r" t="t"/>
              <a:pathLst>
                <a:path extrusionOk="0" h="1304925" w="1295400">
                  <a:moveTo>
                    <a:pt x="647700" y="0"/>
                  </a:moveTo>
                  <a:lnTo>
                    <a:pt x="599360" y="1789"/>
                  </a:lnTo>
                  <a:lnTo>
                    <a:pt x="551986" y="7073"/>
                  </a:lnTo>
                  <a:lnTo>
                    <a:pt x="505702" y="15727"/>
                  </a:lnTo>
                  <a:lnTo>
                    <a:pt x="460633" y="27622"/>
                  </a:lnTo>
                  <a:lnTo>
                    <a:pt x="416905" y="42634"/>
                  </a:lnTo>
                  <a:lnTo>
                    <a:pt x="374643" y="60637"/>
                  </a:lnTo>
                  <a:lnTo>
                    <a:pt x="333972" y="81503"/>
                  </a:lnTo>
                  <a:lnTo>
                    <a:pt x="295017" y="105108"/>
                  </a:lnTo>
                  <a:lnTo>
                    <a:pt x="257904" y="131324"/>
                  </a:lnTo>
                  <a:lnTo>
                    <a:pt x="222758" y="160026"/>
                  </a:lnTo>
                  <a:lnTo>
                    <a:pt x="189704" y="191087"/>
                  </a:lnTo>
                  <a:lnTo>
                    <a:pt x="158867" y="224381"/>
                  </a:lnTo>
                  <a:lnTo>
                    <a:pt x="130373" y="259783"/>
                  </a:lnTo>
                  <a:lnTo>
                    <a:pt x="104346" y="297165"/>
                  </a:lnTo>
                  <a:lnTo>
                    <a:pt x="80913" y="336402"/>
                  </a:lnTo>
                  <a:lnTo>
                    <a:pt x="60197" y="377368"/>
                  </a:lnTo>
                  <a:lnTo>
                    <a:pt x="42325" y="419937"/>
                  </a:lnTo>
                  <a:lnTo>
                    <a:pt x="27422" y="463981"/>
                  </a:lnTo>
                  <a:lnTo>
                    <a:pt x="15612" y="509376"/>
                  </a:lnTo>
                  <a:lnTo>
                    <a:pt x="7022" y="555994"/>
                  </a:lnTo>
                  <a:lnTo>
                    <a:pt x="1776" y="603711"/>
                  </a:lnTo>
                  <a:lnTo>
                    <a:pt x="0" y="652399"/>
                  </a:lnTo>
                  <a:lnTo>
                    <a:pt x="1776" y="701103"/>
                  </a:lnTo>
                  <a:lnTo>
                    <a:pt x="7022" y="748834"/>
                  </a:lnTo>
                  <a:lnTo>
                    <a:pt x="15612" y="795467"/>
                  </a:lnTo>
                  <a:lnTo>
                    <a:pt x="27422" y="840873"/>
                  </a:lnTo>
                  <a:lnTo>
                    <a:pt x="42325" y="884929"/>
                  </a:lnTo>
                  <a:lnTo>
                    <a:pt x="60197" y="927507"/>
                  </a:lnTo>
                  <a:lnTo>
                    <a:pt x="80913" y="968481"/>
                  </a:lnTo>
                  <a:lnTo>
                    <a:pt x="104346" y="1007726"/>
                  </a:lnTo>
                  <a:lnTo>
                    <a:pt x="130373" y="1045115"/>
                  </a:lnTo>
                  <a:lnTo>
                    <a:pt x="158867" y="1080522"/>
                  </a:lnTo>
                  <a:lnTo>
                    <a:pt x="189704" y="1113821"/>
                  </a:lnTo>
                  <a:lnTo>
                    <a:pt x="222758" y="1144886"/>
                  </a:lnTo>
                  <a:lnTo>
                    <a:pt x="257904" y="1173591"/>
                  </a:lnTo>
                  <a:lnTo>
                    <a:pt x="295017" y="1199810"/>
                  </a:lnTo>
                  <a:lnTo>
                    <a:pt x="333972" y="1223417"/>
                  </a:lnTo>
                  <a:lnTo>
                    <a:pt x="374643" y="1244285"/>
                  </a:lnTo>
                  <a:lnTo>
                    <a:pt x="416905" y="1262288"/>
                  </a:lnTo>
                  <a:lnTo>
                    <a:pt x="460633" y="1277301"/>
                  </a:lnTo>
                  <a:lnTo>
                    <a:pt x="505702" y="1289197"/>
                  </a:lnTo>
                  <a:lnTo>
                    <a:pt x="551986" y="1297850"/>
                  </a:lnTo>
                  <a:lnTo>
                    <a:pt x="599360" y="1303135"/>
                  </a:lnTo>
                  <a:lnTo>
                    <a:pt x="647700" y="1304925"/>
                  </a:lnTo>
                  <a:lnTo>
                    <a:pt x="696044" y="1303135"/>
                  </a:lnTo>
                  <a:lnTo>
                    <a:pt x="743422" y="1297850"/>
                  </a:lnTo>
                  <a:lnTo>
                    <a:pt x="789709" y="1289197"/>
                  </a:lnTo>
                  <a:lnTo>
                    <a:pt x="834780" y="1277301"/>
                  </a:lnTo>
                  <a:lnTo>
                    <a:pt x="878510" y="1262288"/>
                  </a:lnTo>
                  <a:lnTo>
                    <a:pt x="920773" y="1244285"/>
                  </a:lnTo>
                  <a:lnTo>
                    <a:pt x="961444" y="1223417"/>
                  </a:lnTo>
                  <a:lnTo>
                    <a:pt x="1000398" y="1199810"/>
                  </a:lnTo>
                  <a:lnTo>
                    <a:pt x="1037511" y="1173591"/>
                  </a:lnTo>
                  <a:lnTo>
                    <a:pt x="1072656" y="1144886"/>
                  </a:lnTo>
                  <a:lnTo>
                    <a:pt x="1105709" y="1113821"/>
                  </a:lnTo>
                  <a:lnTo>
                    <a:pt x="1136545" y="1080522"/>
                  </a:lnTo>
                  <a:lnTo>
                    <a:pt x="1165037" y="1045115"/>
                  </a:lnTo>
                  <a:lnTo>
                    <a:pt x="1191062" y="1007726"/>
                  </a:lnTo>
                  <a:lnTo>
                    <a:pt x="1214494" y="968481"/>
                  </a:lnTo>
                  <a:lnTo>
                    <a:pt x="1235208" y="927507"/>
                  </a:lnTo>
                  <a:lnTo>
                    <a:pt x="1253078" y="884929"/>
                  </a:lnTo>
                  <a:lnTo>
                    <a:pt x="1267980" y="840873"/>
                  </a:lnTo>
                  <a:lnTo>
                    <a:pt x="1279788" y="795467"/>
                  </a:lnTo>
                  <a:lnTo>
                    <a:pt x="1288378" y="748834"/>
                  </a:lnTo>
                  <a:lnTo>
                    <a:pt x="1293623" y="701103"/>
                  </a:lnTo>
                  <a:lnTo>
                    <a:pt x="1295400" y="652399"/>
                  </a:lnTo>
                  <a:lnTo>
                    <a:pt x="1293623" y="603711"/>
                  </a:lnTo>
                  <a:lnTo>
                    <a:pt x="1288378" y="555994"/>
                  </a:lnTo>
                  <a:lnTo>
                    <a:pt x="1279788" y="509376"/>
                  </a:lnTo>
                  <a:lnTo>
                    <a:pt x="1267980" y="463981"/>
                  </a:lnTo>
                  <a:lnTo>
                    <a:pt x="1253078" y="419937"/>
                  </a:lnTo>
                  <a:lnTo>
                    <a:pt x="1235208" y="377368"/>
                  </a:lnTo>
                  <a:lnTo>
                    <a:pt x="1214494" y="336402"/>
                  </a:lnTo>
                  <a:lnTo>
                    <a:pt x="1191062" y="297165"/>
                  </a:lnTo>
                  <a:lnTo>
                    <a:pt x="1165037" y="259783"/>
                  </a:lnTo>
                  <a:lnTo>
                    <a:pt x="1136545" y="224381"/>
                  </a:lnTo>
                  <a:lnTo>
                    <a:pt x="1105709" y="191087"/>
                  </a:lnTo>
                  <a:lnTo>
                    <a:pt x="1072656" y="160026"/>
                  </a:lnTo>
                  <a:lnTo>
                    <a:pt x="1037511" y="131324"/>
                  </a:lnTo>
                  <a:lnTo>
                    <a:pt x="1000398" y="105108"/>
                  </a:lnTo>
                  <a:lnTo>
                    <a:pt x="961444" y="81503"/>
                  </a:lnTo>
                  <a:lnTo>
                    <a:pt x="920773" y="60637"/>
                  </a:lnTo>
                  <a:lnTo>
                    <a:pt x="878510" y="42634"/>
                  </a:lnTo>
                  <a:lnTo>
                    <a:pt x="834780" y="27622"/>
                  </a:lnTo>
                  <a:lnTo>
                    <a:pt x="789709" y="15727"/>
                  </a:lnTo>
                  <a:lnTo>
                    <a:pt x="743422" y="7073"/>
                  </a:lnTo>
                  <a:lnTo>
                    <a:pt x="696044" y="1789"/>
                  </a:lnTo>
                  <a:lnTo>
                    <a:pt x="647700" y="0"/>
                  </a:lnTo>
                  <a:close/>
                </a:path>
              </a:pathLst>
            </a:custGeom>
            <a:solidFill>
              <a:srgbClr val="BB356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2" name="Google Shape;102;p5"/>
            <p:cNvSpPr/>
            <p:nvPr/>
          </p:nvSpPr>
          <p:spPr>
            <a:xfrm>
              <a:off x="747298" y="1129554"/>
              <a:ext cx="668655" cy="589915"/>
            </a:xfrm>
            <a:custGeom>
              <a:rect b="b" l="l" r="r" t="t"/>
              <a:pathLst>
                <a:path extrusionOk="0" h="589914" w="668655">
                  <a:moveTo>
                    <a:pt x="330216" y="0"/>
                  </a:moveTo>
                  <a:lnTo>
                    <a:pt x="3927" y="542778"/>
                  </a:lnTo>
                  <a:lnTo>
                    <a:pt x="0" y="554456"/>
                  </a:lnTo>
                  <a:lnTo>
                    <a:pt x="827" y="566321"/>
                  </a:lnTo>
                  <a:lnTo>
                    <a:pt x="6043" y="577009"/>
                  </a:lnTo>
                  <a:lnTo>
                    <a:pt x="15282" y="585158"/>
                  </a:lnTo>
                  <a:lnTo>
                    <a:pt x="19990" y="587876"/>
                  </a:lnTo>
                  <a:lnTo>
                    <a:pt x="25328" y="589309"/>
                  </a:lnTo>
                  <a:lnTo>
                    <a:pt x="637187" y="589309"/>
                  </a:lnTo>
                  <a:lnTo>
                    <a:pt x="649231" y="586864"/>
                  </a:lnTo>
                  <a:lnTo>
                    <a:pt x="659087" y="580205"/>
                  </a:lnTo>
                  <a:lnTo>
                    <a:pt x="665726" y="570337"/>
                  </a:lnTo>
                  <a:lnTo>
                    <a:pt x="668151" y="558259"/>
                  </a:lnTo>
                  <a:lnTo>
                    <a:pt x="668151" y="552820"/>
                  </a:lnTo>
                  <a:lnTo>
                    <a:pt x="666713" y="547484"/>
                  </a:lnTo>
                  <a:lnTo>
                    <a:pt x="610502" y="449706"/>
                  </a:lnTo>
                  <a:lnTo>
                    <a:pt x="155566" y="449706"/>
                  </a:lnTo>
                  <a:lnTo>
                    <a:pt x="155566" y="418682"/>
                  </a:lnTo>
                  <a:lnTo>
                    <a:pt x="226067" y="418682"/>
                  </a:lnTo>
                  <a:lnTo>
                    <a:pt x="237537" y="392562"/>
                  </a:lnTo>
                  <a:lnTo>
                    <a:pt x="261225" y="370257"/>
                  </a:lnTo>
                  <a:lnTo>
                    <a:pt x="294308" y="354714"/>
                  </a:lnTo>
                  <a:lnTo>
                    <a:pt x="333964" y="348878"/>
                  </a:lnTo>
                  <a:lnTo>
                    <a:pt x="552552" y="348878"/>
                  </a:lnTo>
                  <a:lnTo>
                    <a:pt x="539179" y="325610"/>
                  </a:lnTo>
                  <a:lnTo>
                    <a:pt x="318451" y="325610"/>
                  </a:lnTo>
                  <a:lnTo>
                    <a:pt x="318451" y="262248"/>
                  </a:lnTo>
                  <a:lnTo>
                    <a:pt x="288739" y="262248"/>
                  </a:lnTo>
                  <a:lnTo>
                    <a:pt x="333964" y="217026"/>
                  </a:lnTo>
                  <a:lnTo>
                    <a:pt x="476772" y="217026"/>
                  </a:lnTo>
                  <a:lnTo>
                    <a:pt x="360873" y="15369"/>
                  </a:lnTo>
                  <a:lnTo>
                    <a:pt x="352752" y="6108"/>
                  </a:lnTo>
                  <a:lnTo>
                    <a:pt x="342079" y="862"/>
                  </a:lnTo>
                  <a:lnTo>
                    <a:pt x="330216" y="0"/>
                  </a:lnTo>
                  <a:close/>
                </a:path>
                <a:path extrusionOk="0" h="589914" w="668655">
                  <a:moveTo>
                    <a:pt x="552552" y="348878"/>
                  </a:moveTo>
                  <a:lnTo>
                    <a:pt x="333964" y="348878"/>
                  </a:lnTo>
                  <a:lnTo>
                    <a:pt x="373617" y="354714"/>
                  </a:lnTo>
                  <a:lnTo>
                    <a:pt x="406697" y="370257"/>
                  </a:lnTo>
                  <a:lnTo>
                    <a:pt x="430381" y="392562"/>
                  </a:lnTo>
                  <a:lnTo>
                    <a:pt x="441850" y="418682"/>
                  </a:lnTo>
                  <a:lnTo>
                    <a:pt x="512361" y="418682"/>
                  </a:lnTo>
                  <a:lnTo>
                    <a:pt x="512361" y="449706"/>
                  </a:lnTo>
                  <a:lnTo>
                    <a:pt x="610502" y="449706"/>
                  </a:lnTo>
                  <a:lnTo>
                    <a:pt x="552552" y="348878"/>
                  </a:lnTo>
                  <a:close/>
                </a:path>
                <a:path extrusionOk="0" h="589914" w="668655">
                  <a:moveTo>
                    <a:pt x="476772" y="217026"/>
                  </a:moveTo>
                  <a:lnTo>
                    <a:pt x="333964" y="217026"/>
                  </a:lnTo>
                  <a:lnTo>
                    <a:pt x="379178" y="262248"/>
                  </a:lnTo>
                  <a:lnTo>
                    <a:pt x="349476" y="262248"/>
                  </a:lnTo>
                  <a:lnTo>
                    <a:pt x="349476" y="325610"/>
                  </a:lnTo>
                  <a:lnTo>
                    <a:pt x="539179" y="325610"/>
                  </a:lnTo>
                  <a:lnTo>
                    <a:pt x="476772" y="217026"/>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grpSp>
        <p:nvGrpSpPr>
          <p:cNvPr id="103" name="Google Shape;103;p5"/>
          <p:cNvGrpSpPr/>
          <p:nvPr/>
        </p:nvGrpSpPr>
        <p:grpSpPr>
          <a:xfrm>
            <a:off x="6610350" y="1162050"/>
            <a:ext cx="1304925" cy="1295400"/>
            <a:chOff x="6610350" y="1162050"/>
            <a:chExt cx="1304925" cy="1295400"/>
          </a:xfrm>
        </p:grpSpPr>
        <p:sp>
          <p:nvSpPr>
            <p:cNvPr id="104" name="Google Shape;104;p5"/>
            <p:cNvSpPr/>
            <p:nvPr/>
          </p:nvSpPr>
          <p:spPr>
            <a:xfrm>
              <a:off x="6610350" y="1162050"/>
              <a:ext cx="1304925" cy="1295400"/>
            </a:xfrm>
            <a:custGeom>
              <a:rect b="b" l="l" r="r" t="t"/>
              <a:pathLst>
                <a:path extrusionOk="0" h="1295400" w="1304925">
                  <a:moveTo>
                    <a:pt x="652526" y="0"/>
                  </a:moveTo>
                  <a:lnTo>
                    <a:pt x="603821" y="1776"/>
                  </a:lnTo>
                  <a:lnTo>
                    <a:pt x="556090" y="7021"/>
                  </a:lnTo>
                  <a:lnTo>
                    <a:pt x="509457" y="15611"/>
                  </a:lnTo>
                  <a:lnTo>
                    <a:pt x="464051" y="27419"/>
                  </a:lnTo>
                  <a:lnTo>
                    <a:pt x="419995" y="42321"/>
                  </a:lnTo>
                  <a:lnTo>
                    <a:pt x="377417" y="60191"/>
                  </a:lnTo>
                  <a:lnTo>
                    <a:pt x="336443" y="80905"/>
                  </a:lnTo>
                  <a:lnTo>
                    <a:pt x="297198" y="104337"/>
                  </a:lnTo>
                  <a:lnTo>
                    <a:pt x="259809" y="130362"/>
                  </a:lnTo>
                  <a:lnTo>
                    <a:pt x="224402" y="158854"/>
                  </a:lnTo>
                  <a:lnTo>
                    <a:pt x="191103" y="189690"/>
                  </a:lnTo>
                  <a:lnTo>
                    <a:pt x="160038" y="222743"/>
                  </a:lnTo>
                  <a:lnTo>
                    <a:pt x="131333" y="257888"/>
                  </a:lnTo>
                  <a:lnTo>
                    <a:pt x="105114" y="295001"/>
                  </a:lnTo>
                  <a:lnTo>
                    <a:pt x="81507" y="333955"/>
                  </a:lnTo>
                  <a:lnTo>
                    <a:pt x="60639" y="374626"/>
                  </a:lnTo>
                  <a:lnTo>
                    <a:pt x="42636" y="416889"/>
                  </a:lnTo>
                  <a:lnTo>
                    <a:pt x="27623" y="460619"/>
                  </a:lnTo>
                  <a:lnTo>
                    <a:pt x="15727" y="505690"/>
                  </a:lnTo>
                  <a:lnTo>
                    <a:pt x="7074" y="551977"/>
                  </a:lnTo>
                  <a:lnTo>
                    <a:pt x="1789" y="599355"/>
                  </a:lnTo>
                  <a:lnTo>
                    <a:pt x="0" y="647700"/>
                  </a:lnTo>
                  <a:lnTo>
                    <a:pt x="1789" y="696044"/>
                  </a:lnTo>
                  <a:lnTo>
                    <a:pt x="7074" y="743422"/>
                  </a:lnTo>
                  <a:lnTo>
                    <a:pt x="15727" y="789709"/>
                  </a:lnTo>
                  <a:lnTo>
                    <a:pt x="27623" y="834780"/>
                  </a:lnTo>
                  <a:lnTo>
                    <a:pt x="42636" y="878510"/>
                  </a:lnTo>
                  <a:lnTo>
                    <a:pt x="60639" y="920773"/>
                  </a:lnTo>
                  <a:lnTo>
                    <a:pt x="81507" y="961444"/>
                  </a:lnTo>
                  <a:lnTo>
                    <a:pt x="105114" y="1000398"/>
                  </a:lnTo>
                  <a:lnTo>
                    <a:pt x="131333" y="1037511"/>
                  </a:lnTo>
                  <a:lnTo>
                    <a:pt x="160038" y="1072656"/>
                  </a:lnTo>
                  <a:lnTo>
                    <a:pt x="191103" y="1105709"/>
                  </a:lnTo>
                  <a:lnTo>
                    <a:pt x="224402" y="1136545"/>
                  </a:lnTo>
                  <a:lnTo>
                    <a:pt x="259809" y="1165037"/>
                  </a:lnTo>
                  <a:lnTo>
                    <a:pt x="297198" y="1191062"/>
                  </a:lnTo>
                  <a:lnTo>
                    <a:pt x="336443" y="1214494"/>
                  </a:lnTo>
                  <a:lnTo>
                    <a:pt x="377417" y="1235208"/>
                  </a:lnTo>
                  <a:lnTo>
                    <a:pt x="419995" y="1253078"/>
                  </a:lnTo>
                  <a:lnTo>
                    <a:pt x="464051" y="1267980"/>
                  </a:lnTo>
                  <a:lnTo>
                    <a:pt x="509457" y="1279788"/>
                  </a:lnTo>
                  <a:lnTo>
                    <a:pt x="556090" y="1288378"/>
                  </a:lnTo>
                  <a:lnTo>
                    <a:pt x="603821" y="1293623"/>
                  </a:lnTo>
                  <a:lnTo>
                    <a:pt x="652526" y="1295400"/>
                  </a:lnTo>
                  <a:lnTo>
                    <a:pt x="701213" y="1293623"/>
                  </a:lnTo>
                  <a:lnTo>
                    <a:pt x="748930" y="1288378"/>
                  </a:lnTo>
                  <a:lnTo>
                    <a:pt x="795548" y="1279788"/>
                  </a:lnTo>
                  <a:lnTo>
                    <a:pt x="840943" y="1267980"/>
                  </a:lnTo>
                  <a:lnTo>
                    <a:pt x="884987" y="1253078"/>
                  </a:lnTo>
                  <a:lnTo>
                    <a:pt x="927556" y="1235208"/>
                  </a:lnTo>
                  <a:lnTo>
                    <a:pt x="968522" y="1214494"/>
                  </a:lnTo>
                  <a:lnTo>
                    <a:pt x="1007759" y="1191062"/>
                  </a:lnTo>
                  <a:lnTo>
                    <a:pt x="1045141" y="1165037"/>
                  </a:lnTo>
                  <a:lnTo>
                    <a:pt x="1080543" y="1136545"/>
                  </a:lnTo>
                  <a:lnTo>
                    <a:pt x="1113837" y="1105709"/>
                  </a:lnTo>
                  <a:lnTo>
                    <a:pt x="1144898" y="1072656"/>
                  </a:lnTo>
                  <a:lnTo>
                    <a:pt x="1173600" y="1037511"/>
                  </a:lnTo>
                  <a:lnTo>
                    <a:pt x="1199816" y="1000398"/>
                  </a:lnTo>
                  <a:lnTo>
                    <a:pt x="1223421" y="961444"/>
                  </a:lnTo>
                  <a:lnTo>
                    <a:pt x="1244287" y="920773"/>
                  </a:lnTo>
                  <a:lnTo>
                    <a:pt x="1262290" y="878510"/>
                  </a:lnTo>
                  <a:lnTo>
                    <a:pt x="1277302" y="834780"/>
                  </a:lnTo>
                  <a:lnTo>
                    <a:pt x="1289197" y="789709"/>
                  </a:lnTo>
                  <a:lnTo>
                    <a:pt x="1297851" y="743422"/>
                  </a:lnTo>
                  <a:lnTo>
                    <a:pt x="1303135" y="696044"/>
                  </a:lnTo>
                  <a:lnTo>
                    <a:pt x="1304925" y="647700"/>
                  </a:lnTo>
                  <a:lnTo>
                    <a:pt x="1303135" y="599355"/>
                  </a:lnTo>
                  <a:lnTo>
                    <a:pt x="1297851" y="551977"/>
                  </a:lnTo>
                  <a:lnTo>
                    <a:pt x="1289197" y="505690"/>
                  </a:lnTo>
                  <a:lnTo>
                    <a:pt x="1277302" y="460619"/>
                  </a:lnTo>
                  <a:lnTo>
                    <a:pt x="1262290" y="416889"/>
                  </a:lnTo>
                  <a:lnTo>
                    <a:pt x="1244287" y="374626"/>
                  </a:lnTo>
                  <a:lnTo>
                    <a:pt x="1223421" y="333955"/>
                  </a:lnTo>
                  <a:lnTo>
                    <a:pt x="1199816" y="295001"/>
                  </a:lnTo>
                  <a:lnTo>
                    <a:pt x="1173600" y="257888"/>
                  </a:lnTo>
                  <a:lnTo>
                    <a:pt x="1144898" y="222743"/>
                  </a:lnTo>
                  <a:lnTo>
                    <a:pt x="1113837" y="189690"/>
                  </a:lnTo>
                  <a:lnTo>
                    <a:pt x="1080543" y="158854"/>
                  </a:lnTo>
                  <a:lnTo>
                    <a:pt x="1045141" y="130362"/>
                  </a:lnTo>
                  <a:lnTo>
                    <a:pt x="1007759" y="104337"/>
                  </a:lnTo>
                  <a:lnTo>
                    <a:pt x="968522" y="80905"/>
                  </a:lnTo>
                  <a:lnTo>
                    <a:pt x="927556" y="60191"/>
                  </a:lnTo>
                  <a:lnTo>
                    <a:pt x="884987" y="42321"/>
                  </a:lnTo>
                  <a:lnTo>
                    <a:pt x="840943" y="27419"/>
                  </a:lnTo>
                  <a:lnTo>
                    <a:pt x="795548" y="15611"/>
                  </a:lnTo>
                  <a:lnTo>
                    <a:pt x="748930" y="7021"/>
                  </a:lnTo>
                  <a:lnTo>
                    <a:pt x="701213" y="1776"/>
                  </a:lnTo>
                  <a:lnTo>
                    <a:pt x="652526" y="0"/>
                  </a:lnTo>
                  <a:close/>
                </a:path>
              </a:pathLst>
            </a:custGeom>
            <a:solidFill>
              <a:srgbClr val="E6523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5" name="Google Shape;105;p5"/>
            <p:cNvSpPr/>
            <p:nvPr/>
          </p:nvSpPr>
          <p:spPr>
            <a:xfrm>
              <a:off x="7010120" y="1498790"/>
              <a:ext cx="506095" cy="612140"/>
            </a:xfrm>
            <a:custGeom>
              <a:rect b="b" l="l" r="r" t="t"/>
              <a:pathLst>
                <a:path extrusionOk="0" h="612139" w="506095">
                  <a:moveTo>
                    <a:pt x="330428" y="428129"/>
                  </a:moveTo>
                  <a:lnTo>
                    <a:pt x="296291" y="411060"/>
                  </a:lnTo>
                  <a:lnTo>
                    <a:pt x="293814" y="403059"/>
                  </a:lnTo>
                  <a:lnTo>
                    <a:pt x="290969" y="395351"/>
                  </a:lnTo>
                  <a:lnTo>
                    <a:pt x="288302" y="389343"/>
                  </a:lnTo>
                  <a:lnTo>
                    <a:pt x="287680" y="387946"/>
                  </a:lnTo>
                  <a:lnTo>
                    <a:pt x="283883" y="380809"/>
                  </a:lnTo>
                  <a:lnTo>
                    <a:pt x="296291" y="344360"/>
                  </a:lnTo>
                  <a:lnTo>
                    <a:pt x="280784" y="328853"/>
                  </a:lnTo>
                  <a:lnTo>
                    <a:pt x="268376" y="316445"/>
                  </a:lnTo>
                  <a:lnTo>
                    <a:pt x="231914" y="328853"/>
                  </a:lnTo>
                  <a:lnTo>
                    <a:pt x="224688" y="325056"/>
                  </a:lnTo>
                  <a:lnTo>
                    <a:pt x="223380" y="324497"/>
                  </a:lnTo>
                  <a:lnTo>
                    <a:pt x="223380" y="447522"/>
                  </a:lnTo>
                  <a:lnTo>
                    <a:pt x="218884" y="470027"/>
                  </a:lnTo>
                  <a:lnTo>
                    <a:pt x="206514" y="488530"/>
                  </a:lnTo>
                  <a:lnTo>
                    <a:pt x="188048" y="501065"/>
                  </a:lnTo>
                  <a:lnTo>
                    <a:pt x="165214" y="505688"/>
                  </a:lnTo>
                  <a:lnTo>
                    <a:pt x="142379" y="501065"/>
                  </a:lnTo>
                  <a:lnTo>
                    <a:pt x="123913" y="488530"/>
                  </a:lnTo>
                  <a:lnTo>
                    <a:pt x="111544" y="470027"/>
                  </a:lnTo>
                  <a:lnTo>
                    <a:pt x="107035" y="447522"/>
                  </a:lnTo>
                  <a:lnTo>
                    <a:pt x="111658" y="424688"/>
                  </a:lnTo>
                  <a:lnTo>
                    <a:pt x="124206" y="406209"/>
                  </a:lnTo>
                  <a:lnTo>
                    <a:pt x="142709" y="393852"/>
                  </a:lnTo>
                  <a:lnTo>
                    <a:pt x="165214" y="389343"/>
                  </a:lnTo>
                  <a:lnTo>
                    <a:pt x="188048" y="393966"/>
                  </a:lnTo>
                  <a:lnTo>
                    <a:pt x="206514" y="406501"/>
                  </a:lnTo>
                  <a:lnTo>
                    <a:pt x="218871" y="425018"/>
                  </a:lnTo>
                  <a:lnTo>
                    <a:pt x="223380" y="447522"/>
                  </a:lnTo>
                  <a:lnTo>
                    <a:pt x="223380" y="324497"/>
                  </a:lnTo>
                  <a:lnTo>
                    <a:pt x="217081" y="321767"/>
                  </a:lnTo>
                  <a:lnTo>
                    <a:pt x="209334" y="318922"/>
                  </a:lnTo>
                  <a:lnTo>
                    <a:pt x="201663" y="316445"/>
                  </a:lnTo>
                  <a:lnTo>
                    <a:pt x="184607" y="282308"/>
                  </a:lnTo>
                  <a:lnTo>
                    <a:pt x="145821" y="282308"/>
                  </a:lnTo>
                  <a:lnTo>
                    <a:pt x="128752" y="316445"/>
                  </a:lnTo>
                  <a:lnTo>
                    <a:pt x="120764" y="318922"/>
                  </a:lnTo>
                  <a:lnTo>
                    <a:pt x="113055" y="321767"/>
                  </a:lnTo>
                  <a:lnTo>
                    <a:pt x="105638" y="325056"/>
                  </a:lnTo>
                  <a:lnTo>
                    <a:pt x="98513" y="328853"/>
                  </a:lnTo>
                  <a:lnTo>
                    <a:pt x="62052" y="316445"/>
                  </a:lnTo>
                  <a:lnTo>
                    <a:pt x="34899" y="343585"/>
                  </a:lnTo>
                  <a:lnTo>
                    <a:pt x="46545" y="380034"/>
                  </a:lnTo>
                  <a:lnTo>
                    <a:pt x="42748" y="387273"/>
                  </a:lnTo>
                  <a:lnTo>
                    <a:pt x="39458" y="394868"/>
                  </a:lnTo>
                  <a:lnTo>
                    <a:pt x="36614" y="402615"/>
                  </a:lnTo>
                  <a:lnTo>
                    <a:pt x="34124" y="410286"/>
                  </a:lnTo>
                  <a:lnTo>
                    <a:pt x="0" y="427355"/>
                  </a:lnTo>
                  <a:lnTo>
                    <a:pt x="0" y="466128"/>
                  </a:lnTo>
                  <a:lnTo>
                    <a:pt x="34124" y="483196"/>
                  </a:lnTo>
                  <a:lnTo>
                    <a:pt x="36614" y="491197"/>
                  </a:lnTo>
                  <a:lnTo>
                    <a:pt x="39458" y="498894"/>
                  </a:lnTo>
                  <a:lnTo>
                    <a:pt x="42748" y="506310"/>
                  </a:lnTo>
                  <a:lnTo>
                    <a:pt x="46545" y="513448"/>
                  </a:lnTo>
                  <a:lnTo>
                    <a:pt x="34912" y="549897"/>
                  </a:lnTo>
                  <a:lnTo>
                    <a:pt x="62052" y="577037"/>
                  </a:lnTo>
                  <a:lnTo>
                    <a:pt x="98513" y="565404"/>
                  </a:lnTo>
                  <a:lnTo>
                    <a:pt x="105638" y="569201"/>
                  </a:lnTo>
                  <a:lnTo>
                    <a:pt x="113055" y="572490"/>
                  </a:lnTo>
                  <a:lnTo>
                    <a:pt x="120764" y="575335"/>
                  </a:lnTo>
                  <a:lnTo>
                    <a:pt x="128752" y="577811"/>
                  </a:lnTo>
                  <a:lnTo>
                    <a:pt x="145821" y="611949"/>
                  </a:lnTo>
                  <a:lnTo>
                    <a:pt x="184607" y="611949"/>
                  </a:lnTo>
                  <a:lnTo>
                    <a:pt x="201663" y="577811"/>
                  </a:lnTo>
                  <a:lnTo>
                    <a:pt x="209664" y="575335"/>
                  </a:lnTo>
                  <a:lnTo>
                    <a:pt x="217373" y="572490"/>
                  </a:lnTo>
                  <a:lnTo>
                    <a:pt x="224790" y="569201"/>
                  </a:lnTo>
                  <a:lnTo>
                    <a:pt x="231914" y="565404"/>
                  </a:lnTo>
                  <a:lnTo>
                    <a:pt x="268376" y="577811"/>
                  </a:lnTo>
                  <a:lnTo>
                    <a:pt x="280441" y="565404"/>
                  </a:lnTo>
                  <a:lnTo>
                    <a:pt x="295516" y="549897"/>
                  </a:lnTo>
                  <a:lnTo>
                    <a:pt x="283883" y="514223"/>
                  </a:lnTo>
                  <a:lnTo>
                    <a:pt x="287680" y="507098"/>
                  </a:lnTo>
                  <a:lnTo>
                    <a:pt x="288302" y="505688"/>
                  </a:lnTo>
                  <a:lnTo>
                    <a:pt x="290969" y="499681"/>
                  </a:lnTo>
                  <a:lnTo>
                    <a:pt x="293814" y="491972"/>
                  </a:lnTo>
                  <a:lnTo>
                    <a:pt x="296291" y="483971"/>
                  </a:lnTo>
                  <a:lnTo>
                    <a:pt x="330428" y="466902"/>
                  </a:lnTo>
                  <a:lnTo>
                    <a:pt x="330428" y="428129"/>
                  </a:lnTo>
                  <a:close/>
                </a:path>
                <a:path extrusionOk="0" h="612139" w="506095">
                  <a:moveTo>
                    <a:pt x="505714" y="145808"/>
                  </a:moveTo>
                  <a:lnTo>
                    <a:pt x="471589" y="128739"/>
                  </a:lnTo>
                  <a:lnTo>
                    <a:pt x="469112" y="120751"/>
                  </a:lnTo>
                  <a:lnTo>
                    <a:pt x="466255" y="113042"/>
                  </a:lnTo>
                  <a:lnTo>
                    <a:pt x="463600" y="107022"/>
                  </a:lnTo>
                  <a:lnTo>
                    <a:pt x="462978" y="105625"/>
                  </a:lnTo>
                  <a:lnTo>
                    <a:pt x="459181" y="98501"/>
                  </a:lnTo>
                  <a:lnTo>
                    <a:pt x="471589" y="62039"/>
                  </a:lnTo>
                  <a:lnTo>
                    <a:pt x="456082" y="46532"/>
                  </a:lnTo>
                  <a:lnTo>
                    <a:pt x="443661" y="34124"/>
                  </a:lnTo>
                  <a:lnTo>
                    <a:pt x="407212" y="46532"/>
                  </a:lnTo>
                  <a:lnTo>
                    <a:pt x="400088" y="42735"/>
                  </a:lnTo>
                  <a:lnTo>
                    <a:pt x="398678" y="42113"/>
                  </a:lnTo>
                  <a:lnTo>
                    <a:pt x="398678" y="165201"/>
                  </a:lnTo>
                  <a:lnTo>
                    <a:pt x="394068" y="187706"/>
                  </a:lnTo>
                  <a:lnTo>
                    <a:pt x="381520" y="206209"/>
                  </a:lnTo>
                  <a:lnTo>
                    <a:pt x="363016" y="218744"/>
                  </a:lnTo>
                  <a:lnTo>
                    <a:pt x="340512" y="223367"/>
                  </a:lnTo>
                  <a:lnTo>
                    <a:pt x="317677" y="218744"/>
                  </a:lnTo>
                  <a:lnTo>
                    <a:pt x="299199" y="206209"/>
                  </a:lnTo>
                  <a:lnTo>
                    <a:pt x="286842" y="187706"/>
                  </a:lnTo>
                  <a:lnTo>
                    <a:pt x="282333" y="165201"/>
                  </a:lnTo>
                  <a:lnTo>
                    <a:pt x="286956" y="142697"/>
                  </a:lnTo>
                  <a:lnTo>
                    <a:pt x="299491" y="124193"/>
                  </a:lnTo>
                  <a:lnTo>
                    <a:pt x="318008" y="111645"/>
                  </a:lnTo>
                  <a:lnTo>
                    <a:pt x="340512" y="107022"/>
                  </a:lnTo>
                  <a:lnTo>
                    <a:pt x="363347" y="111645"/>
                  </a:lnTo>
                  <a:lnTo>
                    <a:pt x="381812" y="124193"/>
                  </a:lnTo>
                  <a:lnTo>
                    <a:pt x="394169" y="142697"/>
                  </a:lnTo>
                  <a:lnTo>
                    <a:pt x="398678" y="165201"/>
                  </a:lnTo>
                  <a:lnTo>
                    <a:pt x="398678" y="42113"/>
                  </a:lnTo>
                  <a:lnTo>
                    <a:pt x="392671" y="39458"/>
                  </a:lnTo>
                  <a:lnTo>
                    <a:pt x="384962" y="36601"/>
                  </a:lnTo>
                  <a:lnTo>
                    <a:pt x="376961" y="34124"/>
                  </a:lnTo>
                  <a:lnTo>
                    <a:pt x="359892" y="0"/>
                  </a:lnTo>
                  <a:lnTo>
                    <a:pt x="321119" y="0"/>
                  </a:lnTo>
                  <a:lnTo>
                    <a:pt x="304050" y="34124"/>
                  </a:lnTo>
                  <a:lnTo>
                    <a:pt x="296049" y="36601"/>
                  </a:lnTo>
                  <a:lnTo>
                    <a:pt x="288340" y="39458"/>
                  </a:lnTo>
                  <a:lnTo>
                    <a:pt x="280924" y="42735"/>
                  </a:lnTo>
                  <a:lnTo>
                    <a:pt x="273799" y="46532"/>
                  </a:lnTo>
                  <a:lnTo>
                    <a:pt x="237350" y="34124"/>
                  </a:lnTo>
                  <a:lnTo>
                    <a:pt x="209423" y="62039"/>
                  </a:lnTo>
                  <a:lnTo>
                    <a:pt x="221830" y="98501"/>
                  </a:lnTo>
                  <a:lnTo>
                    <a:pt x="218046" y="105625"/>
                  </a:lnTo>
                  <a:lnTo>
                    <a:pt x="214757" y="113042"/>
                  </a:lnTo>
                  <a:lnTo>
                    <a:pt x="211912" y="120751"/>
                  </a:lnTo>
                  <a:lnTo>
                    <a:pt x="209423" y="128739"/>
                  </a:lnTo>
                  <a:lnTo>
                    <a:pt x="175298" y="145808"/>
                  </a:lnTo>
                  <a:lnTo>
                    <a:pt x="175298" y="184581"/>
                  </a:lnTo>
                  <a:lnTo>
                    <a:pt x="209423" y="201650"/>
                  </a:lnTo>
                  <a:lnTo>
                    <a:pt x="211912" y="209651"/>
                  </a:lnTo>
                  <a:lnTo>
                    <a:pt x="214757" y="217360"/>
                  </a:lnTo>
                  <a:lnTo>
                    <a:pt x="218046" y="224777"/>
                  </a:lnTo>
                  <a:lnTo>
                    <a:pt x="221830" y="231902"/>
                  </a:lnTo>
                  <a:lnTo>
                    <a:pt x="209423" y="268351"/>
                  </a:lnTo>
                  <a:lnTo>
                    <a:pt x="236575" y="295503"/>
                  </a:lnTo>
                  <a:lnTo>
                    <a:pt x="273024" y="283083"/>
                  </a:lnTo>
                  <a:lnTo>
                    <a:pt x="280149" y="286880"/>
                  </a:lnTo>
                  <a:lnTo>
                    <a:pt x="287566" y="290169"/>
                  </a:lnTo>
                  <a:lnTo>
                    <a:pt x="295275" y="293014"/>
                  </a:lnTo>
                  <a:lnTo>
                    <a:pt x="303276" y="295503"/>
                  </a:lnTo>
                  <a:lnTo>
                    <a:pt x="320344" y="329628"/>
                  </a:lnTo>
                  <a:lnTo>
                    <a:pt x="359117" y="329628"/>
                  </a:lnTo>
                  <a:lnTo>
                    <a:pt x="376186" y="295503"/>
                  </a:lnTo>
                  <a:lnTo>
                    <a:pt x="384187" y="293014"/>
                  </a:lnTo>
                  <a:lnTo>
                    <a:pt x="391896" y="290169"/>
                  </a:lnTo>
                  <a:lnTo>
                    <a:pt x="399313" y="286880"/>
                  </a:lnTo>
                  <a:lnTo>
                    <a:pt x="406438" y="283083"/>
                  </a:lnTo>
                  <a:lnTo>
                    <a:pt x="442887" y="295503"/>
                  </a:lnTo>
                  <a:lnTo>
                    <a:pt x="455663" y="283083"/>
                  </a:lnTo>
                  <a:lnTo>
                    <a:pt x="470814" y="268351"/>
                  </a:lnTo>
                  <a:lnTo>
                    <a:pt x="458406" y="231902"/>
                  </a:lnTo>
                  <a:lnTo>
                    <a:pt x="462318" y="224663"/>
                  </a:lnTo>
                  <a:lnTo>
                    <a:pt x="462927" y="223367"/>
                  </a:lnTo>
                  <a:lnTo>
                    <a:pt x="465874" y="217068"/>
                  </a:lnTo>
                  <a:lnTo>
                    <a:pt x="468985" y="209321"/>
                  </a:lnTo>
                  <a:lnTo>
                    <a:pt x="471589" y="201650"/>
                  </a:lnTo>
                  <a:lnTo>
                    <a:pt x="505714" y="184581"/>
                  </a:lnTo>
                  <a:lnTo>
                    <a:pt x="505714" y="145808"/>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06" name="Google Shape;106;p5"/>
          <p:cNvSpPr txBox="1"/>
          <p:nvPr/>
        </p:nvSpPr>
        <p:spPr>
          <a:xfrm>
            <a:off x="8201025" y="938212"/>
            <a:ext cx="2162175" cy="2144626"/>
          </a:xfrm>
          <a:prstGeom prst="rect">
            <a:avLst/>
          </a:prstGeom>
          <a:noFill/>
          <a:ln>
            <a:noFill/>
          </a:ln>
        </p:spPr>
        <p:txBody>
          <a:bodyPr anchorCtr="0" anchor="t" bIns="0" lIns="0" spcFirstLastPara="1" rIns="0" wrap="square" tIns="19050">
            <a:spAutoFit/>
          </a:bodyPr>
          <a:lstStyle/>
          <a:p>
            <a:pPr indent="0" lvl="0" marL="12700" marR="5080" rtl="0" algn="just">
              <a:lnSpc>
                <a:spcPct val="98700"/>
              </a:lnSpc>
              <a:spcBef>
                <a:spcPts val="0"/>
              </a:spcBef>
              <a:spcAft>
                <a:spcPts val="0"/>
              </a:spcAft>
              <a:buNone/>
            </a:pPr>
            <a:r>
              <a:rPr lang="en-IN" sz="1550">
                <a:latin typeface="Times New Roman"/>
                <a:ea typeface="Times New Roman"/>
                <a:cs typeface="Times New Roman"/>
                <a:sym typeface="Times New Roman"/>
              </a:rPr>
              <a:t>Implement a systematic approach involving data exploration, cleaning, feature engineering, model building, and testing to identify the most suitable machine learning model.</a:t>
            </a:r>
            <a:endParaRPr sz="1550">
              <a:latin typeface="Times New Roman"/>
              <a:ea typeface="Times New Roman"/>
              <a:cs typeface="Times New Roman"/>
              <a:sym typeface="Times New Roman"/>
            </a:endParaRPr>
          </a:p>
        </p:txBody>
      </p:sp>
      <p:grpSp>
        <p:nvGrpSpPr>
          <p:cNvPr id="107" name="Google Shape;107;p5"/>
          <p:cNvGrpSpPr/>
          <p:nvPr/>
        </p:nvGrpSpPr>
        <p:grpSpPr>
          <a:xfrm>
            <a:off x="447675" y="3086100"/>
            <a:ext cx="1295400" cy="1295400"/>
            <a:chOff x="447675" y="3086100"/>
            <a:chExt cx="1295400" cy="1295400"/>
          </a:xfrm>
        </p:grpSpPr>
        <p:sp>
          <p:nvSpPr>
            <p:cNvPr id="108" name="Google Shape;108;p5"/>
            <p:cNvSpPr/>
            <p:nvPr/>
          </p:nvSpPr>
          <p:spPr>
            <a:xfrm>
              <a:off x="447675" y="3086100"/>
              <a:ext cx="1295400" cy="1295400"/>
            </a:xfrm>
            <a:custGeom>
              <a:rect b="b" l="l" r="r" t="t"/>
              <a:pathLst>
                <a:path extrusionOk="0" h="1295400" w="1295400">
                  <a:moveTo>
                    <a:pt x="647700" y="0"/>
                  </a:moveTo>
                  <a:lnTo>
                    <a:pt x="599360" y="1776"/>
                  </a:lnTo>
                  <a:lnTo>
                    <a:pt x="551986" y="7021"/>
                  </a:lnTo>
                  <a:lnTo>
                    <a:pt x="505702" y="15611"/>
                  </a:lnTo>
                  <a:lnTo>
                    <a:pt x="460633" y="27419"/>
                  </a:lnTo>
                  <a:lnTo>
                    <a:pt x="416905" y="42321"/>
                  </a:lnTo>
                  <a:lnTo>
                    <a:pt x="374643" y="60191"/>
                  </a:lnTo>
                  <a:lnTo>
                    <a:pt x="333972" y="80905"/>
                  </a:lnTo>
                  <a:lnTo>
                    <a:pt x="295017" y="104337"/>
                  </a:lnTo>
                  <a:lnTo>
                    <a:pt x="257904" y="130362"/>
                  </a:lnTo>
                  <a:lnTo>
                    <a:pt x="222758" y="158854"/>
                  </a:lnTo>
                  <a:lnTo>
                    <a:pt x="189704" y="189690"/>
                  </a:lnTo>
                  <a:lnTo>
                    <a:pt x="158867" y="222743"/>
                  </a:lnTo>
                  <a:lnTo>
                    <a:pt x="130373" y="257888"/>
                  </a:lnTo>
                  <a:lnTo>
                    <a:pt x="104346" y="295001"/>
                  </a:lnTo>
                  <a:lnTo>
                    <a:pt x="80913" y="333955"/>
                  </a:lnTo>
                  <a:lnTo>
                    <a:pt x="60197" y="374626"/>
                  </a:lnTo>
                  <a:lnTo>
                    <a:pt x="42325" y="416889"/>
                  </a:lnTo>
                  <a:lnTo>
                    <a:pt x="27422" y="460619"/>
                  </a:lnTo>
                  <a:lnTo>
                    <a:pt x="15612" y="505690"/>
                  </a:lnTo>
                  <a:lnTo>
                    <a:pt x="7022" y="551977"/>
                  </a:lnTo>
                  <a:lnTo>
                    <a:pt x="1776" y="599355"/>
                  </a:lnTo>
                  <a:lnTo>
                    <a:pt x="0" y="647700"/>
                  </a:lnTo>
                  <a:lnTo>
                    <a:pt x="1776" y="696044"/>
                  </a:lnTo>
                  <a:lnTo>
                    <a:pt x="7022" y="743422"/>
                  </a:lnTo>
                  <a:lnTo>
                    <a:pt x="15612" y="789709"/>
                  </a:lnTo>
                  <a:lnTo>
                    <a:pt x="27422" y="834780"/>
                  </a:lnTo>
                  <a:lnTo>
                    <a:pt x="42325" y="878510"/>
                  </a:lnTo>
                  <a:lnTo>
                    <a:pt x="60197" y="920773"/>
                  </a:lnTo>
                  <a:lnTo>
                    <a:pt x="80913" y="961444"/>
                  </a:lnTo>
                  <a:lnTo>
                    <a:pt x="104346" y="1000398"/>
                  </a:lnTo>
                  <a:lnTo>
                    <a:pt x="130373" y="1037511"/>
                  </a:lnTo>
                  <a:lnTo>
                    <a:pt x="158867" y="1072656"/>
                  </a:lnTo>
                  <a:lnTo>
                    <a:pt x="189704" y="1105709"/>
                  </a:lnTo>
                  <a:lnTo>
                    <a:pt x="222758" y="1136545"/>
                  </a:lnTo>
                  <a:lnTo>
                    <a:pt x="257904" y="1165037"/>
                  </a:lnTo>
                  <a:lnTo>
                    <a:pt x="295017" y="1191062"/>
                  </a:lnTo>
                  <a:lnTo>
                    <a:pt x="333972" y="1214494"/>
                  </a:lnTo>
                  <a:lnTo>
                    <a:pt x="374643" y="1235208"/>
                  </a:lnTo>
                  <a:lnTo>
                    <a:pt x="416905" y="1253078"/>
                  </a:lnTo>
                  <a:lnTo>
                    <a:pt x="460633" y="1267980"/>
                  </a:lnTo>
                  <a:lnTo>
                    <a:pt x="505702" y="1279788"/>
                  </a:lnTo>
                  <a:lnTo>
                    <a:pt x="551986" y="1288378"/>
                  </a:lnTo>
                  <a:lnTo>
                    <a:pt x="599360" y="1293623"/>
                  </a:lnTo>
                  <a:lnTo>
                    <a:pt x="647700" y="1295400"/>
                  </a:lnTo>
                  <a:lnTo>
                    <a:pt x="696044" y="1293623"/>
                  </a:lnTo>
                  <a:lnTo>
                    <a:pt x="743422" y="1288378"/>
                  </a:lnTo>
                  <a:lnTo>
                    <a:pt x="789709" y="1279788"/>
                  </a:lnTo>
                  <a:lnTo>
                    <a:pt x="834780" y="1267980"/>
                  </a:lnTo>
                  <a:lnTo>
                    <a:pt x="878510" y="1253078"/>
                  </a:lnTo>
                  <a:lnTo>
                    <a:pt x="920773" y="1235208"/>
                  </a:lnTo>
                  <a:lnTo>
                    <a:pt x="961444" y="1214494"/>
                  </a:lnTo>
                  <a:lnTo>
                    <a:pt x="1000398" y="1191062"/>
                  </a:lnTo>
                  <a:lnTo>
                    <a:pt x="1037511" y="1165037"/>
                  </a:lnTo>
                  <a:lnTo>
                    <a:pt x="1072656" y="1136545"/>
                  </a:lnTo>
                  <a:lnTo>
                    <a:pt x="1105709" y="1105709"/>
                  </a:lnTo>
                  <a:lnTo>
                    <a:pt x="1136545" y="1072656"/>
                  </a:lnTo>
                  <a:lnTo>
                    <a:pt x="1165037" y="1037511"/>
                  </a:lnTo>
                  <a:lnTo>
                    <a:pt x="1191062" y="1000398"/>
                  </a:lnTo>
                  <a:lnTo>
                    <a:pt x="1214494" y="961444"/>
                  </a:lnTo>
                  <a:lnTo>
                    <a:pt x="1235208" y="920773"/>
                  </a:lnTo>
                  <a:lnTo>
                    <a:pt x="1253078" y="878510"/>
                  </a:lnTo>
                  <a:lnTo>
                    <a:pt x="1267980" y="834780"/>
                  </a:lnTo>
                  <a:lnTo>
                    <a:pt x="1279788" y="789709"/>
                  </a:lnTo>
                  <a:lnTo>
                    <a:pt x="1288378" y="743422"/>
                  </a:lnTo>
                  <a:lnTo>
                    <a:pt x="1293623" y="696044"/>
                  </a:lnTo>
                  <a:lnTo>
                    <a:pt x="1295400" y="647700"/>
                  </a:lnTo>
                  <a:lnTo>
                    <a:pt x="1293623" y="599355"/>
                  </a:lnTo>
                  <a:lnTo>
                    <a:pt x="1288378" y="551977"/>
                  </a:lnTo>
                  <a:lnTo>
                    <a:pt x="1279788" y="505690"/>
                  </a:lnTo>
                  <a:lnTo>
                    <a:pt x="1267980" y="460619"/>
                  </a:lnTo>
                  <a:lnTo>
                    <a:pt x="1253078" y="416889"/>
                  </a:lnTo>
                  <a:lnTo>
                    <a:pt x="1235208" y="374626"/>
                  </a:lnTo>
                  <a:lnTo>
                    <a:pt x="1214494" y="333955"/>
                  </a:lnTo>
                  <a:lnTo>
                    <a:pt x="1191062" y="295001"/>
                  </a:lnTo>
                  <a:lnTo>
                    <a:pt x="1165037" y="257888"/>
                  </a:lnTo>
                  <a:lnTo>
                    <a:pt x="1136545" y="222743"/>
                  </a:lnTo>
                  <a:lnTo>
                    <a:pt x="1105709" y="189690"/>
                  </a:lnTo>
                  <a:lnTo>
                    <a:pt x="1072656" y="158854"/>
                  </a:lnTo>
                  <a:lnTo>
                    <a:pt x="1037511" y="130362"/>
                  </a:lnTo>
                  <a:lnTo>
                    <a:pt x="1000398" y="104337"/>
                  </a:lnTo>
                  <a:lnTo>
                    <a:pt x="961444" y="80905"/>
                  </a:lnTo>
                  <a:lnTo>
                    <a:pt x="920773" y="60191"/>
                  </a:lnTo>
                  <a:lnTo>
                    <a:pt x="878510" y="42321"/>
                  </a:lnTo>
                  <a:lnTo>
                    <a:pt x="834780" y="27419"/>
                  </a:lnTo>
                  <a:lnTo>
                    <a:pt x="789709" y="15611"/>
                  </a:lnTo>
                  <a:lnTo>
                    <a:pt x="743422" y="7021"/>
                  </a:lnTo>
                  <a:lnTo>
                    <a:pt x="696044" y="1776"/>
                  </a:lnTo>
                  <a:lnTo>
                    <a:pt x="647700" y="0"/>
                  </a:lnTo>
                  <a:close/>
                </a:path>
              </a:pathLst>
            </a:custGeom>
            <a:solidFill>
              <a:srgbClr val="F17D1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9" name="Google Shape;109;p5"/>
            <p:cNvSpPr/>
            <p:nvPr/>
          </p:nvSpPr>
          <p:spPr>
            <a:xfrm>
              <a:off x="846112" y="3533800"/>
              <a:ext cx="535305" cy="543560"/>
            </a:xfrm>
            <a:custGeom>
              <a:rect b="b" l="l" r="r" t="t"/>
              <a:pathLst>
                <a:path extrusionOk="0" h="543560" w="535305">
                  <a:moveTo>
                    <a:pt x="511924" y="54432"/>
                  </a:moveTo>
                  <a:lnTo>
                    <a:pt x="507669" y="33299"/>
                  </a:lnTo>
                  <a:lnTo>
                    <a:pt x="496049" y="16027"/>
                  </a:lnTo>
                  <a:lnTo>
                    <a:pt x="478802" y="4381"/>
                  </a:lnTo>
                  <a:lnTo>
                    <a:pt x="457669" y="101"/>
                  </a:lnTo>
                  <a:lnTo>
                    <a:pt x="436537" y="4343"/>
                  </a:lnTo>
                  <a:lnTo>
                    <a:pt x="419265" y="15963"/>
                  </a:lnTo>
                  <a:lnTo>
                    <a:pt x="407619" y="33210"/>
                  </a:lnTo>
                  <a:lnTo>
                    <a:pt x="403339" y="54330"/>
                  </a:lnTo>
                  <a:lnTo>
                    <a:pt x="405015" y="67792"/>
                  </a:lnTo>
                  <a:lnTo>
                    <a:pt x="409879" y="80238"/>
                  </a:lnTo>
                  <a:lnTo>
                    <a:pt x="417652" y="91109"/>
                  </a:lnTo>
                  <a:lnTo>
                    <a:pt x="428002" y="99885"/>
                  </a:lnTo>
                  <a:lnTo>
                    <a:pt x="387819" y="217309"/>
                  </a:lnTo>
                  <a:lnTo>
                    <a:pt x="379577" y="217932"/>
                  </a:lnTo>
                  <a:lnTo>
                    <a:pt x="371563" y="219773"/>
                  </a:lnTo>
                  <a:lnTo>
                    <a:pt x="363931" y="222821"/>
                  </a:lnTo>
                  <a:lnTo>
                    <a:pt x="356793" y="226999"/>
                  </a:lnTo>
                  <a:lnTo>
                    <a:pt x="308914" y="191084"/>
                  </a:lnTo>
                  <a:lnTo>
                    <a:pt x="275818" y="166268"/>
                  </a:lnTo>
                  <a:lnTo>
                    <a:pt x="279133" y="144970"/>
                  </a:lnTo>
                  <a:lnTo>
                    <a:pt x="274193" y="124752"/>
                  </a:lnTo>
                  <a:lnTo>
                    <a:pt x="262039" y="107861"/>
                  </a:lnTo>
                  <a:lnTo>
                    <a:pt x="243687" y="96532"/>
                  </a:lnTo>
                  <a:lnTo>
                    <a:pt x="222389" y="93218"/>
                  </a:lnTo>
                  <a:lnTo>
                    <a:pt x="202158" y="98158"/>
                  </a:lnTo>
                  <a:lnTo>
                    <a:pt x="185267" y="110324"/>
                  </a:lnTo>
                  <a:lnTo>
                    <a:pt x="173939" y="128663"/>
                  </a:lnTo>
                  <a:lnTo>
                    <a:pt x="170586" y="146570"/>
                  </a:lnTo>
                  <a:lnTo>
                    <a:pt x="173202" y="164134"/>
                  </a:lnTo>
                  <a:lnTo>
                    <a:pt x="181343" y="179908"/>
                  </a:lnTo>
                  <a:lnTo>
                    <a:pt x="194538" y="192481"/>
                  </a:lnTo>
                  <a:lnTo>
                    <a:pt x="142786" y="356908"/>
                  </a:lnTo>
                  <a:lnTo>
                    <a:pt x="139611" y="356908"/>
                  </a:lnTo>
                  <a:lnTo>
                    <a:pt x="118465" y="361124"/>
                  </a:lnTo>
                  <a:lnTo>
                    <a:pt x="101180" y="372719"/>
                  </a:lnTo>
                  <a:lnTo>
                    <a:pt x="89509" y="389953"/>
                  </a:lnTo>
                  <a:lnTo>
                    <a:pt x="85191" y="411086"/>
                  </a:lnTo>
                  <a:lnTo>
                    <a:pt x="89408" y="432219"/>
                  </a:lnTo>
                  <a:lnTo>
                    <a:pt x="101003" y="449503"/>
                  </a:lnTo>
                  <a:lnTo>
                    <a:pt x="118237" y="461175"/>
                  </a:lnTo>
                  <a:lnTo>
                    <a:pt x="139357" y="465493"/>
                  </a:lnTo>
                  <a:lnTo>
                    <a:pt x="160502" y="461276"/>
                  </a:lnTo>
                  <a:lnTo>
                    <a:pt x="177787" y="449694"/>
                  </a:lnTo>
                  <a:lnTo>
                    <a:pt x="189458" y="432460"/>
                  </a:lnTo>
                  <a:lnTo>
                    <a:pt x="193776" y="411340"/>
                  </a:lnTo>
                  <a:lnTo>
                    <a:pt x="192328" y="398716"/>
                  </a:lnTo>
                  <a:lnTo>
                    <a:pt x="188048" y="386930"/>
                  </a:lnTo>
                  <a:lnTo>
                    <a:pt x="181178" y="376428"/>
                  </a:lnTo>
                  <a:lnTo>
                    <a:pt x="171958" y="367703"/>
                  </a:lnTo>
                  <a:lnTo>
                    <a:pt x="224167" y="201790"/>
                  </a:lnTo>
                  <a:lnTo>
                    <a:pt x="224942" y="201790"/>
                  </a:lnTo>
                  <a:lnTo>
                    <a:pt x="233565" y="201091"/>
                  </a:lnTo>
                  <a:lnTo>
                    <a:pt x="241922" y="199034"/>
                  </a:lnTo>
                  <a:lnTo>
                    <a:pt x="249859" y="195681"/>
                  </a:lnTo>
                  <a:lnTo>
                    <a:pt x="257200" y="191084"/>
                  </a:lnTo>
                  <a:lnTo>
                    <a:pt x="337477" y="251206"/>
                  </a:lnTo>
                  <a:lnTo>
                    <a:pt x="334886" y="257683"/>
                  </a:lnTo>
                  <a:lnTo>
                    <a:pt x="333552" y="264604"/>
                  </a:lnTo>
                  <a:lnTo>
                    <a:pt x="333540" y="271640"/>
                  </a:lnTo>
                  <a:lnTo>
                    <a:pt x="337781" y="292735"/>
                  </a:lnTo>
                  <a:lnTo>
                    <a:pt x="349415" y="309994"/>
                  </a:lnTo>
                  <a:lnTo>
                    <a:pt x="366661" y="321640"/>
                  </a:lnTo>
                  <a:lnTo>
                    <a:pt x="387807" y="325907"/>
                  </a:lnTo>
                  <a:lnTo>
                    <a:pt x="408952" y="321640"/>
                  </a:lnTo>
                  <a:lnTo>
                    <a:pt x="426199" y="310019"/>
                  </a:lnTo>
                  <a:lnTo>
                    <a:pt x="437845" y="292773"/>
                  </a:lnTo>
                  <a:lnTo>
                    <a:pt x="442112" y="271640"/>
                  </a:lnTo>
                  <a:lnTo>
                    <a:pt x="440436" y="258229"/>
                  </a:lnTo>
                  <a:lnTo>
                    <a:pt x="435597" y="245833"/>
                  </a:lnTo>
                  <a:lnTo>
                    <a:pt x="427888" y="234988"/>
                  </a:lnTo>
                  <a:lnTo>
                    <a:pt x="418515" y="226999"/>
                  </a:lnTo>
                  <a:lnTo>
                    <a:pt x="417601" y="226225"/>
                  </a:lnTo>
                  <a:lnTo>
                    <a:pt x="457631" y="108724"/>
                  </a:lnTo>
                  <a:lnTo>
                    <a:pt x="478764" y="104457"/>
                  </a:lnTo>
                  <a:lnTo>
                    <a:pt x="496023" y="92824"/>
                  </a:lnTo>
                  <a:lnTo>
                    <a:pt x="507657" y="75565"/>
                  </a:lnTo>
                  <a:lnTo>
                    <a:pt x="511924" y="54432"/>
                  </a:lnTo>
                  <a:close/>
                </a:path>
                <a:path extrusionOk="0" h="543560" w="535305">
                  <a:moveTo>
                    <a:pt x="535190" y="496557"/>
                  </a:moveTo>
                  <a:lnTo>
                    <a:pt x="46545" y="496557"/>
                  </a:lnTo>
                  <a:lnTo>
                    <a:pt x="46545" y="0"/>
                  </a:lnTo>
                  <a:lnTo>
                    <a:pt x="0" y="0"/>
                  </a:lnTo>
                  <a:lnTo>
                    <a:pt x="0" y="496557"/>
                  </a:lnTo>
                  <a:lnTo>
                    <a:pt x="0" y="543547"/>
                  </a:lnTo>
                  <a:lnTo>
                    <a:pt x="535190" y="543547"/>
                  </a:lnTo>
                  <a:lnTo>
                    <a:pt x="535190" y="496557"/>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grpSp>
        <p:nvGrpSpPr>
          <p:cNvPr id="110" name="Google Shape;110;p5"/>
          <p:cNvGrpSpPr/>
          <p:nvPr/>
        </p:nvGrpSpPr>
        <p:grpSpPr>
          <a:xfrm>
            <a:off x="6610350" y="3971925"/>
            <a:ext cx="1304925" cy="1295400"/>
            <a:chOff x="6610350" y="3971925"/>
            <a:chExt cx="1304925" cy="1295400"/>
          </a:xfrm>
        </p:grpSpPr>
        <p:sp>
          <p:nvSpPr>
            <p:cNvPr id="111" name="Google Shape;111;p5"/>
            <p:cNvSpPr/>
            <p:nvPr/>
          </p:nvSpPr>
          <p:spPr>
            <a:xfrm>
              <a:off x="6610350" y="3971925"/>
              <a:ext cx="1304925" cy="1295400"/>
            </a:xfrm>
            <a:custGeom>
              <a:rect b="b" l="l" r="r" t="t"/>
              <a:pathLst>
                <a:path extrusionOk="0" h="1295400" w="1304925">
                  <a:moveTo>
                    <a:pt x="652526" y="0"/>
                  </a:moveTo>
                  <a:lnTo>
                    <a:pt x="603821" y="1776"/>
                  </a:lnTo>
                  <a:lnTo>
                    <a:pt x="556090" y="7021"/>
                  </a:lnTo>
                  <a:lnTo>
                    <a:pt x="509457" y="15611"/>
                  </a:lnTo>
                  <a:lnTo>
                    <a:pt x="464051" y="27419"/>
                  </a:lnTo>
                  <a:lnTo>
                    <a:pt x="419995" y="42321"/>
                  </a:lnTo>
                  <a:lnTo>
                    <a:pt x="377417" y="60191"/>
                  </a:lnTo>
                  <a:lnTo>
                    <a:pt x="336443" y="80905"/>
                  </a:lnTo>
                  <a:lnTo>
                    <a:pt x="297198" y="104337"/>
                  </a:lnTo>
                  <a:lnTo>
                    <a:pt x="259809" y="130362"/>
                  </a:lnTo>
                  <a:lnTo>
                    <a:pt x="224402" y="158854"/>
                  </a:lnTo>
                  <a:lnTo>
                    <a:pt x="191103" y="189690"/>
                  </a:lnTo>
                  <a:lnTo>
                    <a:pt x="160038" y="222743"/>
                  </a:lnTo>
                  <a:lnTo>
                    <a:pt x="131333" y="257888"/>
                  </a:lnTo>
                  <a:lnTo>
                    <a:pt x="105114" y="295001"/>
                  </a:lnTo>
                  <a:lnTo>
                    <a:pt x="81507" y="333955"/>
                  </a:lnTo>
                  <a:lnTo>
                    <a:pt x="60639" y="374626"/>
                  </a:lnTo>
                  <a:lnTo>
                    <a:pt x="42636" y="416889"/>
                  </a:lnTo>
                  <a:lnTo>
                    <a:pt x="27623" y="460619"/>
                  </a:lnTo>
                  <a:lnTo>
                    <a:pt x="15727" y="505690"/>
                  </a:lnTo>
                  <a:lnTo>
                    <a:pt x="7074" y="551977"/>
                  </a:lnTo>
                  <a:lnTo>
                    <a:pt x="1789" y="599355"/>
                  </a:lnTo>
                  <a:lnTo>
                    <a:pt x="0" y="647700"/>
                  </a:lnTo>
                  <a:lnTo>
                    <a:pt x="1789" y="696044"/>
                  </a:lnTo>
                  <a:lnTo>
                    <a:pt x="7074" y="743422"/>
                  </a:lnTo>
                  <a:lnTo>
                    <a:pt x="15727" y="789709"/>
                  </a:lnTo>
                  <a:lnTo>
                    <a:pt x="27623" y="834780"/>
                  </a:lnTo>
                  <a:lnTo>
                    <a:pt x="42636" y="878510"/>
                  </a:lnTo>
                  <a:lnTo>
                    <a:pt x="60639" y="920773"/>
                  </a:lnTo>
                  <a:lnTo>
                    <a:pt x="81507" y="961444"/>
                  </a:lnTo>
                  <a:lnTo>
                    <a:pt x="105114" y="1000398"/>
                  </a:lnTo>
                  <a:lnTo>
                    <a:pt x="131333" y="1037511"/>
                  </a:lnTo>
                  <a:lnTo>
                    <a:pt x="160038" y="1072656"/>
                  </a:lnTo>
                  <a:lnTo>
                    <a:pt x="191103" y="1105709"/>
                  </a:lnTo>
                  <a:lnTo>
                    <a:pt x="224402" y="1136545"/>
                  </a:lnTo>
                  <a:lnTo>
                    <a:pt x="259809" y="1165037"/>
                  </a:lnTo>
                  <a:lnTo>
                    <a:pt x="297198" y="1191062"/>
                  </a:lnTo>
                  <a:lnTo>
                    <a:pt x="336443" y="1214494"/>
                  </a:lnTo>
                  <a:lnTo>
                    <a:pt x="377417" y="1235208"/>
                  </a:lnTo>
                  <a:lnTo>
                    <a:pt x="419995" y="1253078"/>
                  </a:lnTo>
                  <a:lnTo>
                    <a:pt x="464051" y="1267980"/>
                  </a:lnTo>
                  <a:lnTo>
                    <a:pt x="509457" y="1279788"/>
                  </a:lnTo>
                  <a:lnTo>
                    <a:pt x="556090" y="1288378"/>
                  </a:lnTo>
                  <a:lnTo>
                    <a:pt x="603821" y="1293623"/>
                  </a:lnTo>
                  <a:lnTo>
                    <a:pt x="652526" y="1295400"/>
                  </a:lnTo>
                  <a:lnTo>
                    <a:pt x="701213" y="1293623"/>
                  </a:lnTo>
                  <a:lnTo>
                    <a:pt x="748930" y="1288378"/>
                  </a:lnTo>
                  <a:lnTo>
                    <a:pt x="795548" y="1279788"/>
                  </a:lnTo>
                  <a:lnTo>
                    <a:pt x="840943" y="1267980"/>
                  </a:lnTo>
                  <a:lnTo>
                    <a:pt x="884987" y="1253078"/>
                  </a:lnTo>
                  <a:lnTo>
                    <a:pt x="927556" y="1235208"/>
                  </a:lnTo>
                  <a:lnTo>
                    <a:pt x="968522" y="1214494"/>
                  </a:lnTo>
                  <a:lnTo>
                    <a:pt x="1007759" y="1191062"/>
                  </a:lnTo>
                  <a:lnTo>
                    <a:pt x="1045141" y="1165037"/>
                  </a:lnTo>
                  <a:lnTo>
                    <a:pt x="1080543" y="1136545"/>
                  </a:lnTo>
                  <a:lnTo>
                    <a:pt x="1113837" y="1105709"/>
                  </a:lnTo>
                  <a:lnTo>
                    <a:pt x="1144898" y="1072656"/>
                  </a:lnTo>
                  <a:lnTo>
                    <a:pt x="1173600" y="1037511"/>
                  </a:lnTo>
                  <a:lnTo>
                    <a:pt x="1199816" y="1000398"/>
                  </a:lnTo>
                  <a:lnTo>
                    <a:pt x="1223421" y="961444"/>
                  </a:lnTo>
                  <a:lnTo>
                    <a:pt x="1244287" y="920773"/>
                  </a:lnTo>
                  <a:lnTo>
                    <a:pt x="1262290" y="878510"/>
                  </a:lnTo>
                  <a:lnTo>
                    <a:pt x="1277302" y="834780"/>
                  </a:lnTo>
                  <a:lnTo>
                    <a:pt x="1289197" y="789709"/>
                  </a:lnTo>
                  <a:lnTo>
                    <a:pt x="1297851" y="743422"/>
                  </a:lnTo>
                  <a:lnTo>
                    <a:pt x="1303135" y="696044"/>
                  </a:lnTo>
                  <a:lnTo>
                    <a:pt x="1304925" y="647700"/>
                  </a:lnTo>
                  <a:lnTo>
                    <a:pt x="1303135" y="599355"/>
                  </a:lnTo>
                  <a:lnTo>
                    <a:pt x="1297851" y="551977"/>
                  </a:lnTo>
                  <a:lnTo>
                    <a:pt x="1289197" y="505690"/>
                  </a:lnTo>
                  <a:lnTo>
                    <a:pt x="1277302" y="460619"/>
                  </a:lnTo>
                  <a:lnTo>
                    <a:pt x="1262290" y="416889"/>
                  </a:lnTo>
                  <a:lnTo>
                    <a:pt x="1244287" y="374626"/>
                  </a:lnTo>
                  <a:lnTo>
                    <a:pt x="1223421" y="333955"/>
                  </a:lnTo>
                  <a:lnTo>
                    <a:pt x="1199816" y="295001"/>
                  </a:lnTo>
                  <a:lnTo>
                    <a:pt x="1173600" y="257888"/>
                  </a:lnTo>
                  <a:lnTo>
                    <a:pt x="1144898" y="222743"/>
                  </a:lnTo>
                  <a:lnTo>
                    <a:pt x="1113837" y="189690"/>
                  </a:lnTo>
                  <a:lnTo>
                    <a:pt x="1080543" y="158854"/>
                  </a:lnTo>
                  <a:lnTo>
                    <a:pt x="1045141" y="130362"/>
                  </a:lnTo>
                  <a:lnTo>
                    <a:pt x="1007759" y="104337"/>
                  </a:lnTo>
                  <a:lnTo>
                    <a:pt x="968522" y="80905"/>
                  </a:lnTo>
                  <a:lnTo>
                    <a:pt x="927556" y="60191"/>
                  </a:lnTo>
                  <a:lnTo>
                    <a:pt x="884987" y="42321"/>
                  </a:lnTo>
                  <a:lnTo>
                    <a:pt x="840943" y="27419"/>
                  </a:lnTo>
                  <a:lnTo>
                    <a:pt x="795548" y="15611"/>
                  </a:lnTo>
                  <a:lnTo>
                    <a:pt x="748930" y="7021"/>
                  </a:lnTo>
                  <a:lnTo>
                    <a:pt x="701213" y="1776"/>
                  </a:lnTo>
                  <a:lnTo>
                    <a:pt x="652526" y="0"/>
                  </a:lnTo>
                  <a:close/>
                </a:path>
              </a:pathLst>
            </a:custGeom>
            <a:solidFill>
              <a:srgbClr val="F1AC1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2" name="Google Shape;112;p5"/>
            <p:cNvSpPr/>
            <p:nvPr/>
          </p:nvSpPr>
          <p:spPr>
            <a:xfrm>
              <a:off x="6956603" y="4318190"/>
              <a:ext cx="612775" cy="612775"/>
            </a:xfrm>
            <a:custGeom>
              <a:rect b="b" l="l" r="r" t="t"/>
              <a:pathLst>
                <a:path extrusionOk="0" h="612775" w="612775">
                  <a:moveTo>
                    <a:pt x="480898" y="317995"/>
                  </a:moveTo>
                  <a:lnTo>
                    <a:pt x="479463" y="294589"/>
                  </a:lnTo>
                  <a:lnTo>
                    <a:pt x="475272" y="272135"/>
                  </a:lnTo>
                  <a:lnTo>
                    <a:pt x="468464" y="250698"/>
                  </a:lnTo>
                  <a:lnTo>
                    <a:pt x="459181" y="230352"/>
                  </a:lnTo>
                  <a:lnTo>
                    <a:pt x="424281" y="265252"/>
                  </a:lnTo>
                  <a:lnTo>
                    <a:pt x="428790" y="277749"/>
                  </a:lnTo>
                  <a:lnTo>
                    <a:pt x="431939" y="290753"/>
                  </a:lnTo>
                  <a:lnTo>
                    <a:pt x="433768" y="304190"/>
                  </a:lnTo>
                  <a:lnTo>
                    <a:pt x="434365" y="317995"/>
                  </a:lnTo>
                  <a:lnTo>
                    <a:pt x="427215" y="362000"/>
                  </a:lnTo>
                  <a:lnTo>
                    <a:pt x="407327" y="400304"/>
                  </a:lnTo>
                  <a:lnTo>
                    <a:pt x="377063" y="430568"/>
                  </a:lnTo>
                  <a:lnTo>
                    <a:pt x="338747" y="450456"/>
                  </a:lnTo>
                  <a:lnTo>
                    <a:pt x="294741" y="457593"/>
                  </a:lnTo>
                  <a:lnTo>
                    <a:pt x="250736" y="450456"/>
                  </a:lnTo>
                  <a:lnTo>
                    <a:pt x="212432" y="430568"/>
                  </a:lnTo>
                  <a:lnTo>
                    <a:pt x="182156" y="400304"/>
                  </a:lnTo>
                  <a:lnTo>
                    <a:pt x="162280" y="362000"/>
                  </a:lnTo>
                  <a:lnTo>
                    <a:pt x="155130" y="317995"/>
                  </a:lnTo>
                  <a:lnTo>
                    <a:pt x="162280" y="273989"/>
                  </a:lnTo>
                  <a:lnTo>
                    <a:pt x="182156" y="235673"/>
                  </a:lnTo>
                  <a:lnTo>
                    <a:pt x="212432" y="205409"/>
                  </a:lnTo>
                  <a:lnTo>
                    <a:pt x="250736" y="185534"/>
                  </a:lnTo>
                  <a:lnTo>
                    <a:pt x="294741" y="178384"/>
                  </a:lnTo>
                  <a:lnTo>
                    <a:pt x="308546" y="179082"/>
                  </a:lnTo>
                  <a:lnTo>
                    <a:pt x="321983" y="181102"/>
                  </a:lnTo>
                  <a:lnTo>
                    <a:pt x="334987" y="184277"/>
                  </a:lnTo>
                  <a:lnTo>
                    <a:pt x="347484" y="188468"/>
                  </a:lnTo>
                  <a:lnTo>
                    <a:pt x="382397" y="153568"/>
                  </a:lnTo>
                  <a:lnTo>
                    <a:pt x="362038" y="144284"/>
                  </a:lnTo>
                  <a:lnTo>
                    <a:pt x="340601" y="137464"/>
                  </a:lnTo>
                  <a:lnTo>
                    <a:pt x="318147" y="133273"/>
                  </a:lnTo>
                  <a:lnTo>
                    <a:pt x="294741" y="131851"/>
                  </a:lnTo>
                  <a:lnTo>
                    <a:pt x="245402" y="138531"/>
                  </a:lnTo>
                  <a:lnTo>
                    <a:pt x="200977" y="157353"/>
                  </a:lnTo>
                  <a:lnTo>
                    <a:pt x="163271" y="186524"/>
                  </a:lnTo>
                  <a:lnTo>
                    <a:pt x="134099" y="224231"/>
                  </a:lnTo>
                  <a:lnTo>
                    <a:pt x="115265" y="268655"/>
                  </a:lnTo>
                  <a:lnTo>
                    <a:pt x="108585" y="317995"/>
                  </a:lnTo>
                  <a:lnTo>
                    <a:pt x="115265" y="367322"/>
                  </a:lnTo>
                  <a:lnTo>
                    <a:pt x="134099" y="411746"/>
                  </a:lnTo>
                  <a:lnTo>
                    <a:pt x="163271" y="449453"/>
                  </a:lnTo>
                  <a:lnTo>
                    <a:pt x="200977" y="478624"/>
                  </a:lnTo>
                  <a:lnTo>
                    <a:pt x="245402" y="497459"/>
                  </a:lnTo>
                  <a:lnTo>
                    <a:pt x="294741" y="504139"/>
                  </a:lnTo>
                  <a:lnTo>
                    <a:pt x="344081" y="497459"/>
                  </a:lnTo>
                  <a:lnTo>
                    <a:pt x="388505" y="478624"/>
                  </a:lnTo>
                  <a:lnTo>
                    <a:pt x="426212" y="449453"/>
                  </a:lnTo>
                  <a:lnTo>
                    <a:pt x="455383" y="411746"/>
                  </a:lnTo>
                  <a:lnTo>
                    <a:pt x="474218" y="367322"/>
                  </a:lnTo>
                  <a:lnTo>
                    <a:pt x="480898" y="317995"/>
                  </a:lnTo>
                  <a:close/>
                </a:path>
                <a:path extrusionOk="0" h="612775" w="612775">
                  <a:moveTo>
                    <a:pt x="589483" y="317995"/>
                  </a:moveTo>
                  <a:lnTo>
                    <a:pt x="587197" y="280936"/>
                  </a:lnTo>
                  <a:lnTo>
                    <a:pt x="580466" y="245478"/>
                  </a:lnTo>
                  <a:lnTo>
                    <a:pt x="569531" y="211759"/>
                  </a:lnTo>
                  <a:lnTo>
                    <a:pt x="554583" y="179933"/>
                  </a:lnTo>
                  <a:lnTo>
                    <a:pt x="549148" y="184581"/>
                  </a:lnTo>
                  <a:lnTo>
                    <a:pt x="539064" y="195440"/>
                  </a:lnTo>
                  <a:lnTo>
                    <a:pt x="524332" y="193890"/>
                  </a:lnTo>
                  <a:lnTo>
                    <a:pt x="508050" y="191566"/>
                  </a:lnTo>
                  <a:lnTo>
                    <a:pt x="522655" y="220484"/>
                  </a:lnTo>
                  <a:lnTo>
                    <a:pt x="533641" y="251294"/>
                  </a:lnTo>
                  <a:lnTo>
                    <a:pt x="540550" y="283845"/>
                  </a:lnTo>
                  <a:lnTo>
                    <a:pt x="542950" y="317995"/>
                  </a:lnTo>
                  <a:lnTo>
                    <a:pt x="537883" y="367842"/>
                  </a:lnTo>
                  <a:lnTo>
                    <a:pt x="523367" y="414362"/>
                  </a:lnTo>
                  <a:lnTo>
                    <a:pt x="500405" y="456514"/>
                  </a:lnTo>
                  <a:lnTo>
                    <a:pt x="470039" y="493280"/>
                  </a:lnTo>
                  <a:lnTo>
                    <a:pt x="433273" y="523646"/>
                  </a:lnTo>
                  <a:lnTo>
                    <a:pt x="391121" y="546595"/>
                  </a:lnTo>
                  <a:lnTo>
                    <a:pt x="344601" y="561124"/>
                  </a:lnTo>
                  <a:lnTo>
                    <a:pt x="294741" y="566178"/>
                  </a:lnTo>
                  <a:lnTo>
                    <a:pt x="244881" y="561124"/>
                  </a:lnTo>
                  <a:lnTo>
                    <a:pt x="198374" y="546595"/>
                  </a:lnTo>
                  <a:lnTo>
                    <a:pt x="156222" y="523646"/>
                  </a:lnTo>
                  <a:lnTo>
                    <a:pt x="119443" y="493280"/>
                  </a:lnTo>
                  <a:lnTo>
                    <a:pt x="89077" y="456514"/>
                  </a:lnTo>
                  <a:lnTo>
                    <a:pt x="66128" y="414362"/>
                  </a:lnTo>
                  <a:lnTo>
                    <a:pt x="51600" y="367842"/>
                  </a:lnTo>
                  <a:lnTo>
                    <a:pt x="46532" y="317995"/>
                  </a:lnTo>
                  <a:lnTo>
                    <a:pt x="51600" y="268135"/>
                  </a:lnTo>
                  <a:lnTo>
                    <a:pt x="66128" y="221627"/>
                  </a:lnTo>
                  <a:lnTo>
                    <a:pt x="89077" y="179476"/>
                  </a:lnTo>
                  <a:lnTo>
                    <a:pt x="119443" y="142709"/>
                  </a:lnTo>
                  <a:lnTo>
                    <a:pt x="156222" y="112331"/>
                  </a:lnTo>
                  <a:lnTo>
                    <a:pt x="198374" y="89382"/>
                  </a:lnTo>
                  <a:lnTo>
                    <a:pt x="244881" y="74866"/>
                  </a:lnTo>
                  <a:lnTo>
                    <a:pt x="294741" y="69799"/>
                  </a:lnTo>
                  <a:lnTo>
                    <a:pt x="328574" y="72085"/>
                  </a:lnTo>
                  <a:lnTo>
                    <a:pt x="361162" y="78816"/>
                  </a:lnTo>
                  <a:lnTo>
                    <a:pt x="392150" y="89763"/>
                  </a:lnTo>
                  <a:lnTo>
                    <a:pt x="421170" y="104698"/>
                  </a:lnTo>
                  <a:lnTo>
                    <a:pt x="419620" y="89192"/>
                  </a:lnTo>
                  <a:lnTo>
                    <a:pt x="417296" y="73672"/>
                  </a:lnTo>
                  <a:lnTo>
                    <a:pt x="433578" y="57391"/>
                  </a:lnTo>
                  <a:lnTo>
                    <a:pt x="401307" y="42900"/>
                  </a:lnTo>
                  <a:lnTo>
                    <a:pt x="367360" y="32181"/>
                  </a:lnTo>
                  <a:lnTo>
                    <a:pt x="331812" y="25539"/>
                  </a:lnTo>
                  <a:lnTo>
                    <a:pt x="294741" y="23266"/>
                  </a:lnTo>
                  <a:lnTo>
                    <a:pt x="246913" y="27114"/>
                  </a:lnTo>
                  <a:lnTo>
                    <a:pt x="201536" y="38277"/>
                  </a:lnTo>
                  <a:lnTo>
                    <a:pt x="159245" y="56146"/>
                  </a:lnTo>
                  <a:lnTo>
                    <a:pt x="120624" y="80098"/>
                  </a:lnTo>
                  <a:lnTo>
                    <a:pt x="86283" y="109550"/>
                  </a:lnTo>
                  <a:lnTo>
                    <a:pt x="56832" y="143878"/>
                  </a:lnTo>
                  <a:lnTo>
                    <a:pt x="32880" y="182499"/>
                  </a:lnTo>
                  <a:lnTo>
                    <a:pt x="15011" y="224790"/>
                  </a:lnTo>
                  <a:lnTo>
                    <a:pt x="3848" y="270154"/>
                  </a:lnTo>
                  <a:lnTo>
                    <a:pt x="0" y="317995"/>
                  </a:lnTo>
                  <a:lnTo>
                    <a:pt x="3848" y="365823"/>
                  </a:lnTo>
                  <a:lnTo>
                    <a:pt x="15011" y="411187"/>
                  </a:lnTo>
                  <a:lnTo>
                    <a:pt x="32880" y="453478"/>
                  </a:lnTo>
                  <a:lnTo>
                    <a:pt x="56832" y="492099"/>
                  </a:lnTo>
                  <a:lnTo>
                    <a:pt x="86283" y="526440"/>
                  </a:lnTo>
                  <a:lnTo>
                    <a:pt x="120624" y="555879"/>
                  </a:lnTo>
                  <a:lnTo>
                    <a:pt x="159245" y="579843"/>
                  </a:lnTo>
                  <a:lnTo>
                    <a:pt x="201549" y="597700"/>
                  </a:lnTo>
                  <a:lnTo>
                    <a:pt x="246913" y="608863"/>
                  </a:lnTo>
                  <a:lnTo>
                    <a:pt x="294741" y="612724"/>
                  </a:lnTo>
                  <a:lnTo>
                    <a:pt x="342582" y="608863"/>
                  </a:lnTo>
                  <a:lnTo>
                    <a:pt x="387946" y="597700"/>
                  </a:lnTo>
                  <a:lnTo>
                    <a:pt x="430237" y="579843"/>
                  </a:lnTo>
                  <a:lnTo>
                    <a:pt x="468858" y="555879"/>
                  </a:lnTo>
                  <a:lnTo>
                    <a:pt x="503199" y="526440"/>
                  </a:lnTo>
                  <a:lnTo>
                    <a:pt x="532650" y="492099"/>
                  </a:lnTo>
                  <a:lnTo>
                    <a:pt x="556602" y="453478"/>
                  </a:lnTo>
                  <a:lnTo>
                    <a:pt x="574471" y="411187"/>
                  </a:lnTo>
                  <a:lnTo>
                    <a:pt x="585635" y="365823"/>
                  </a:lnTo>
                  <a:lnTo>
                    <a:pt x="589483" y="317995"/>
                  </a:lnTo>
                  <a:close/>
                </a:path>
                <a:path extrusionOk="0" h="612775" w="612775">
                  <a:moveTo>
                    <a:pt x="612762" y="77558"/>
                  </a:moveTo>
                  <a:lnTo>
                    <a:pt x="542950" y="69799"/>
                  </a:lnTo>
                  <a:lnTo>
                    <a:pt x="535190" y="0"/>
                  </a:lnTo>
                  <a:lnTo>
                    <a:pt x="449872" y="85305"/>
                  </a:lnTo>
                  <a:lnTo>
                    <a:pt x="454520" y="125641"/>
                  </a:lnTo>
                  <a:lnTo>
                    <a:pt x="330428" y="249732"/>
                  </a:lnTo>
                  <a:lnTo>
                    <a:pt x="321995" y="245999"/>
                  </a:lnTo>
                  <a:lnTo>
                    <a:pt x="313067" y="243052"/>
                  </a:lnTo>
                  <a:lnTo>
                    <a:pt x="303695" y="241122"/>
                  </a:lnTo>
                  <a:lnTo>
                    <a:pt x="293966" y="240436"/>
                  </a:lnTo>
                  <a:lnTo>
                    <a:pt x="263855" y="246545"/>
                  </a:lnTo>
                  <a:lnTo>
                    <a:pt x="239191" y="263220"/>
                  </a:lnTo>
                  <a:lnTo>
                    <a:pt x="222529" y="287870"/>
                  </a:lnTo>
                  <a:lnTo>
                    <a:pt x="216408" y="317995"/>
                  </a:lnTo>
                  <a:lnTo>
                    <a:pt x="222529" y="348107"/>
                  </a:lnTo>
                  <a:lnTo>
                    <a:pt x="239191" y="372770"/>
                  </a:lnTo>
                  <a:lnTo>
                    <a:pt x="263855" y="389432"/>
                  </a:lnTo>
                  <a:lnTo>
                    <a:pt x="293966" y="395554"/>
                  </a:lnTo>
                  <a:lnTo>
                    <a:pt x="324091" y="389432"/>
                  </a:lnTo>
                  <a:lnTo>
                    <a:pt x="348742" y="372770"/>
                  </a:lnTo>
                  <a:lnTo>
                    <a:pt x="365417" y="348107"/>
                  </a:lnTo>
                  <a:lnTo>
                    <a:pt x="371538" y="317995"/>
                  </a:lnTo>
                  <a:lnTo>
                    <a:pt x="370967" y="308381"/>
                  </a:lnTo>
                  <a:lnTo>
                    <a:pt x="369303" y="299275"/>
                  </a:lnTo>
                  <a:lnTo>
                    <a:pt x="366623" y="290614"/>
                  </a:lnTo>
                  <a:lnTo>
                    <a:pt x="363004" y="282308"/>
                  </a:lnTo>
                  <a:lnTo>
                    <a:pt x="487108" y="158216"/>
                  </a:lnTo>
                  <a:lnTo>
                    <a:pt x="527431" y="162864"/>
                  </a:lnTo>
                  <a:lnTo>
                    <a:pt x="612762" y="77558"/>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13" name="Google Shape;113;p5"/>
          <p:cNvSpPr txBox="1"/>
          <p:nvPr/>
        </p:nvSpPr>
        <p:spPr>
          <a:xfrm>
            <a:off x="8183880" y="4022788"/>
            <a:ext cx="3068320" cy="1200785"/>
          </a:xfrm>
          <a:prstGeom prst="rect">
            <a:avLst/>
          </a:prstGeom>
          <a:noFill/>
          <a:ln>
            <a:noFill/>
          </a:ln>
        </p:spPr>
        <p:txBody>
          <a:bodyPr anchorCtr="0" anchor="t" bIns="0" lIns="0" spcFirstLastPara="1" rIns="0" wrap="square" tIns="18400">
            <a:spAutoFit/>
          </a:bodyPr>
          <a:lstStyle/>
          <a:p>
            <a:pPr indent="0" lvl="0" marL="12700" marR="5080" rtl="0" algn="just">
              <a:lnSpc>
                <a:spcPct val="98900"/>
              </a:lnSpc>
              <a:spcBef>
                <a:spcPts val="0"/>
              </a:spcBef>
              <a:spcAft>
                <a:spcPts val="0"/>
              </a:spcAft>
              <a:buNone/>
            </a:pPr>
            <a:r>
              <a:rPr lang="en-IN" sz="1550">
                <a:latin typeface="Times New Roman"/>
                <a:ea typeface="Times New Roman"/>
                <a:cs typeface="Times New Roman"/>
                <a:sym typeface="Times New Roman"/>
              </a:rPr>
              <a:t>Enhance diagnostic accuracy through early detection and identification, aiding in better treatment decisions by healthcare professionals.</a:t>
            </a:r>
            <a:endParaRPr sz="1550">
              <a:latin typeface="Times New Roman"/>
              <a:ea typeface="Times New Roman"/>
              <a:cs typeface="Times New Roman"/>
              <a:sym typeface="Times New Roman"/>
            </a:endParaRPr>
          </a:p>
        </p:txBody>
      </p:sp>
      <p:grpSp>
        <p:nvGrpSpPr>
          <p:cNvPr id="114" name="Google Shape;114;p5"/>
          <p:cNvGrpSpPr/>
          <p:nvPr/>
        </p:nvGrpSpPr>
        <p:grpSpPr>
          <a:xfrm>
            <a:off x="609600" y="5276850"/>
            <a:ext cx="1295400" cy="1304925"/>
            <a:chOff x="609600" y="5276850"/>
            <a:chExt cx="1295400" cy="1304925"/>
          </a:xfrm>
        </p:grpSpPr>
        <p:sp>
          <p:nvSpPr>
            <p:cNvPr id="115" name="Google Shape;115;p5"/>
            <p:cNvSpPr/>
            <p:nvPr/>
          </p:nvSpPr>
          <p:spPr>
            <a:xfrm>
              <a:off x="609600" y="5276850"/>
              <a:ext cx="1295400" cy="1304925"/>
            </a:xfrm>
            <a:custGeom>
              <a:rect b="b" l="l" r="r" t="t"/>
              <a:pathLst>
                <a:path extrusionOk="0" h="1304925" w="1295400">
                  <a:moveTo>
                    <a:pt x="647700" y="0"/>
                  </a:moveTo>
                  <a:lnTo>
                    <a:pt x="599360" y="1789"/>
                  </a:lnTo>
                  <a:lnTo>
                    <a:pt x="551986" y="7073"/>
                  </a:lnTo>
                  <a:lnTo>
                    <a:pt x="505702" y="15727"/>
                  </a:lnTo>
                  <a:lnTo>
                    <a:pt x="460633" y="27623"/>
                  </a:lnTo>
                  <a:lnTo>
                    <a:pt x="416905" y="42635"/>
                  </a:lnTo>
                  <a:lnTo>
                    <a:pt x="374643" y="60638"/>
                  </a:lnTo>
                  <a:lnTo>
                    <a:pt x="333972" y="81505"/>
                  </a:lnTo>
                  <a:lnTo>
                    <a:pt x="295017" y="105111"/>
                  </a:lnTo>
                  <a:lnTo>
                    <a:pt x="257904" y="131328"/>
                  </a:lnTo>
                  <a:lnTo>
                    <a:pt x="222758" y="160032"/>
                  </a:lnTo>
                  <a:lnTo>
                    <a:pt x="189704" y="191095"/>
                  </a:lnTo>
                  <a:lnTo>
                    <a:pt x="158867" y="224392"/>
                  </a:lnTo>
                  <a:lnTo>
                    <a:pt x="130373" y="259796"/>
                  </a:lnTo>
                  <a:lnTo>
                    <a:pt x="104346" y="297182"/>
                  </a:lnTo>
                  <a:lnTo>
                    <a:pt x="80913" y="336423"/>
                  </a:lnTo>
                  <a:lnTo>
                    <a:pt x="60197" y="377393"/>
                  </a:lnTo>
                  <a:lnTo>
                    <a:pt x="42325" y="419966"/>
                  </a:lnTo>
                  <a:lnTo>
                    <a:pt x="27422" y="464016"/>
                  </a:lnTo>
                  <a:lnTo>
                    <a:pt x="15612" y="509417"/>
                  </a:lnTo>
                  <a:lnTo>
                    <a:pt x="7022" y="556042"/>
                  </a:lnTo>
                  <a:lnTo>
                    <a:pt x="1776" y="603766"/>
                  </a:lnTo>
                  <a:lnTo>
                    <a:pt x="0" y="652462"/>
                  </a:lnTo>
                  <a:lnTo>
                    <a:pt x="1776" y="701157"/>
                  </a:lnTo>
                  <a:lnTo>
                    <a:pt x="7022" y="748879"/>
                  </a:lnTo>
                  <a:lnTo>
                    <a:pt x="15612" y="795504"/>
                  </a:lnTo>
                  <a:lnTo>
                    <a:pt x="27422" y="840904"/>
                  </a:lnTo>
                  <a:lnTo>
                    <a:pt x="42325" y="884953"/>
                  </a:lnTo>
                  <a:lnTo>
                    <a:pt x="60197" y="927526"/>
                  </a:lnTo>
                  <a:lnTo>
                    <a:pt x="80913" y="968496"/>
                  </a:lnTo>
                  <a:lnTo>
                    <a:pt x="104346" y="1007737"/>
                  </a:lnTo>
                  <a:lnTo>
                    <a:pt x="130373" y="1045123"/>
                  </a:lnTo>
                  <a:lnTo>
                    <a:pt x="158867" y="1080527"/>
                  </a:lnTo>
                  <a:lnTo>
                    <a:pt x="189704" y="1113824"/>
                  </a:lnTo>
                  <a:lnTo>
                    <a:pt x="222758" y="1144888"/>
                  </a:lnTo>
                  <a:lnTo>
                    <a:pt x="257904" y="1173592"/>
                  </a:lnTo>
                  <a:lnTo>
                    <a:pt x="295017" y="1199810"/>
                  </a:lnTo>
                  <a:lnTo>
                    <a:pt x="333972" y="1223416"/>
                  </a:lnTo>
                  <a:lnTo>
                    <a:pt x="374643" y="1244284"/>
                  </a:lnTo>
                  <a:lnTo>
                    <a:pt x="416905" y="1262287"/>
                  </a:lnTo>
                  <a:lnTo>
                    <a:pt x="460633" y="1277300"/>
                  </a:lnTo>
                  <a:lnTo>
                    <a:pt x="505702" y="1289197"/>
                  </a:lnTo>
                  <a:lnTo>
                    <a:pt x="551986" y="1297850"/>
                  </a:lnTo>
                  <a:lnTo>
                    <a:pt x="599360" y="1303135"/>
                  </a:lnTo>
                  <a:lnTo>
                    <a:pt x="647700" y="1304925"/>
                  </a:lnTo>
                  <a:lnTo>
                    <a:pt x="696044" y="1303135"/>
                  </a:lnTo>
                  <a:lnTo>
                    <a:pt x="743422" y="1297850"/>
                  </a:lnTo>
                  <a:lnTo>
                    <a:pt x="789709" y="1289197"/>
                  </a:lnTo>
                  <a:lnTo>
                    <a:pt x="834780" y="1277300"/>
                  </a:lnTo>
                  <a:lnTo>
                    <a:pt x="878510" y="1262287"/>
                  </a:lnTo>
                  <a:lnTo>
                    <a:pt x="920773" y="1244284"/>
                  </a:lnTo>
                  <a:lnTo>
                    <a:pt x="961444" y="1223416"/>
                  </a:lnTo>
                  <a:lnTo>
                    <a:pt x="1000398" y="1199810"/>
                  </a:lnTo>
                  <a:lnTo>
                    <a:pt x="1037511" y="1173592"/>
                  </a:lnTo>
                  <a:lnTo>
                    <a:pt x="1072656" y="1144888"/>
                  </a:lnTo>
                  <a:lnTo>
                    <a:pt x="1105709" y="1113824"/>
                  </a:lnTo>
                  <a:lnTo>
                    <a:pt x="1136545" y="1080527"/>
                  </a:lnTo>
                  <a:lnTo>
                    <a:pt x="1165037" y="1045123"/>
                  </a:lnTo>
                  <a:lnTo>
                    <a:pt x="1191062" y="1007737"/>
                  </a:lnTo>
                  <a:lnTo>
                    <a:pt x="1214494" y="968496"/>
                  </a:lnTo>
                  <a:lnTo>
                    <a:pt x="1235208" y="927526"/>
                  </a:lnTo>
                  <a:lnTo>
                    <a:pt x="1253078" y="884953"/>
                  </a:lnTo>
                  <a:lnTo>
                    <a:pt x="1267980" y="840904"/>
                  </a:lnTo>
                  <a:lnTo>
                    <a:pt x="1279788" y="795504"/>
                  </a:lnTo>
                  <a:lnTo>
                    <a:pt x="1288378" y="748879"/>
                  </a:lnTo>
                  <a:lnTo>
                    <a:pt x="1293623" y="701157"/>
                  </a:lnTo>
                  <a:lnTo>
                    <a:pt x="1295400" y="652462"/>
                  </a:lnTo>
                  <a:lnTo>
                    <a:pt x="1293623" y="603766"/>
                  </a:lnTo>
                  <a:lnTo>
                    <a:pt x="1288378" y="556042"/>
                  </a:lnTo>
                  <a:lnTo>
                    <a:pt x="1279788" y="509417"/>
                  </a:lnTo>
                  <a:lnTo>
                    <a:pt x="1267980" y="464016"/>
                  </a:lnTo>
                  <a:lnTo>
                    <a:pt x="1253078" y="419966"/>
                  </a:lnTo>
                  <a:lnTo>
                    <a:pt x="1235208" y="377393"/>
                  </a:lnTo>
                  <a:lnTo>
                    <a:pt x="1214494" y="336423"/>
                  </a:lnTo>
                  <a:lnTo>
                    <a:pt x="1191062" y="297182"/>
                  </a:lnTo>
                  <a:lnTo>
                    <a:pt x="1165037" y="259796"/>
                  </a:lnTo>
                  <a:lnTo>
                    <a:pt x="1136545" y="224392"/>
                  </a:lnTo>
                  <a:lnTo>
                    <a:pt x="1105709" y="191095"/>
                  </a:lnTo>
                  <a:lnTo>
                    <a:pt x="1072656" y="160032"/>
                  </a:lnTo>
                  <a:lnTo>
                    <a:pt x="1037511" y="131328"/>
                  </a:lnTo>
                  <a:lnTo>
                    <a:pt x="1000398" y="105111"/>
                  </a:lnTo>
                  <a:lnTo>
                    <a:pt x="961444" y="81505"/>
                  </a:lnTo>
                  <a:lnTo>
                    <a:pt x="920773" y="60638"/>
                  </a:lnTo>
                  <a:lnTo>
                    <a:pt x="878510" y="42635"/>
                  </a:lnTo>
                  <a:lnTo>
                    <a:pt x="834780" y="27623"/>
                  </a:lnTo>
                  <a:lnTo>
                    <a:pt x="789709" y="15727"/>
                  </a:lnTo>
                  <a:lnTo>
                    <a:pt x="743422" y="7073"/>
                  </a:lnTo>
                  <a:lnTo>
                    <a:pt x="696044" y="1789"/>
                  </a:lnTo>
                  <a:lnTo>
                    <a:pt x="647700" y="0"/>
                  </a:lnTo>
                  <a:close/>
                </a:path>
              </a:pathLst>
            </a:custGeom>
            <a:solidFill>
              <a:srgbClr val="BB80D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6" name="Google Shape;116;p5"/>
            <p:cNvSpPr/>
            <p:nvPr/>
          </p:nvSpPr>
          <p:spPr>
            <a:xfrm>
              <a:off x="963269" y="5625096"/>
              <a:ext cx="636905" cy="641985"/>
            </a:xfrm>
            <a:custGeom>
              <a:rect b="b" l="l" r="r" t="t"/>
              <a:pathLst>
                <a:path extrusionOk="0" h="641985" w="636905">
                  <a:moveTo>
                    <a:pt x="372313" y="317220"/>
                  </a:moveTo>
                  <a:lnTo>
                    <a:pt x="370395" y="307454"/>
                  </a:lnTo>
                  <a:lnTo>
                    <a:pt x="365137" y="299580"/>
                  </a:lnTo>
                  <a:lnTo>
                    <a:pt x="357251" y="294322"/>
                  </a:lnTo>
                  <a:lnTo>
                    <a:pt x="347484" y="292404"/>
                  </a:lnTo>
                  <a:lnTo>
                    <a:pt x="325767" y="292404"/>
                  </a:lnTo>
                  <a:lnTo>
                    <a:pt x="325767" y="338937"/>
                  </a:lnTo>
                  <a:lnTo>
                    <a:pt x="325767" y="517321"/>
                  </a:lnTo>
                  <a:lnTo>
                    <a:pt x="46532" y="517321"/>
                  </a:lnTo>
                  <a:lnTo>
                    <a:pt x="46532" y="338937"/>
                  </a:lnTo>
                  <a:lnTo>
                    <a:pt x="325767" y="338937"/>
                  </a:lnTo>
                  <a:lnTo>
                    <a:pt x="325767" y="292404"/>
                  </a:lnTo>
                  <a:lnTo>
                    <a:pt x="24815" y="292404"/>
                  </a:lnTo>
                  <a:lnTo>
                    <a:pt x="15049" y="294322"/>
                  </a:lnTo>
                  <a:lnTo>
                    <a:pt x="7175" y="299580"/>
                  </a:lnTo>
                  <a:lnTo>
                    <a:pt x="1917" y="307454"/>
                  </a:lnTo>
                  <a:lnTo>
                    <a:pt x="0" y="317220"/>
                  </a:lnTo>
                  <a:lnTo>
                    <a:pt x="0" y="539038"/>
                  </a:lnTo>
                  <a:lnTo>
                    <a:pt x="1917" y="548805"/>
                  </a:lnTo>
                  <a:lnTo>
                    <a:pt x="7175" y="556691"/>
                  </a:lnTo>
                  <a:lnTo>
                    <a:pt x="15049" y="561949"/>
                  </a:lnTo>
                  <a:lnTo>
                    <a:pt x="24815" y="563867"/>
                  </a:lnTo>
                  <a:lnTo>
                    <a:pt x="147370" y="563867"/>
                  </a:lnTo>
                  <a:lnTo>
                    <a:pt x="147370" y="594880"/>
                  </a:lnTo>
                  <a:lnTo>
                    <a:pt x="93078" y="594880"/>
                  </a:lnTo>
                  <a:lnTo>
                    <a:pt x="93078" y="641426"/>
                  </a:lnTo>
                  <a:lnTo>
                    <a:pt x="279234" y="641426"/>
                  </a:lnTo>
                  <a:lnTo>
                    <a:pt x="279234" y="594880"/>
                  </a:lnTo>
                  <a:lnTo>
                    <a:pt x="224929" y="594880"/>
                  </a:lnTo>
                  <a:lnTo>
                    <a:pt x="224929" y="563867"/>
                  </a:lnTo>
                  <a:lnTo>
                    <a:pt x="347484" y="563867"/>
                  </a:lnTo>
                  <a:lnTo>
                    <a:pt x="357251" y="561949"/>
                  </a:lnTo>
                  <a:lnTo>
                    <a:pt x="365137" y="556691"/>
                  </a:lnTo>
                  <a:lnTo>
                    <a:pt x="370395" y="548805"/>
                  </a:lnTo>
                  <a:lnTo>
                    <a:pt x="372313" y="539038"/>
                  </a:lnTo>
                  <a:lnTo>
                    <a:pt x="372313" y="517321"/>
                  </a:lnTo>
                  <a:lnTo>
                    <a:pt x="372313" y="338937"/>
                  </a:lnTo>
                  <a:lnTo>
                    <a:pt x="372313" y="317220"/>
                  </a:lnTo>
                  <a:close/>
                </a:path>
                <a:path extrusionOk="0" h="641985" w="636905">
                  <a:moveTo>
                    <a:pt x="636803" y="179933"/>
                  </a:moveTo>
                  <a:lnTo>
                    <a:pt x="632269" y="153416"/>
                  </a:lnTo>
                  <a:lnTo>
                    <a:pt x="619734" y="130594"/>
                  </a:lnTo>
                  <a:lnTo>
                    <a:pt x="600811" y="112864"/>
                  </a:lnTo>
                  <a:lnTo>
                    <a:pt x="591032" y="108229"/>
                  </a:lnTo>
                  <a:lnTo>
                    <a:pt x="591032" y="179158"/>
                  </a:lnTo>
                  <a:lnTo>
                    <a:pt x="587730" y="192913"/>
                  </a:lnTo>
                  <a:lnTo>
                    <a:pt x="579691" y="204279"/>
                  </a:lnTo>
                  <a:lnTo>
                    <a:pt x="568020" y="211988"/>
                  </a:lnTo>
                  <a:lnTo>
                    <a:pt x="553808" y="214845"/>
                  </a:lnTo>
                  <a:lnTo>
                    <a:pt x="324218" y="214845"/>
                  </a:lnTo>
                  <a:lnTo>
                    <a:pt x="283108" y="187693"/>
                  </a:lnTo>
                  <a:lnTo>
                    <a:pt x="279133" y="162293"/>
                  </a:lnTo>
                  <a:lnTo>
                    <a:pt x="282130" y="149745"/>
                  </a:lnTo>
                  <a:lnTo>
                    <a:pt x="315696" y="119951"/>
                  </a:lnTo>
                  <a:lnTo>
                    <a:pt x="326542" y="118668"/>
                  </a:lnTo>
                  <a:lnTo>
                    <a:pt x="331978" y="118668"/>
                  </a:lnTo>
                  <a:lnTo>
                    <a:pt x="334302" y="119443"/>
                  </a:lnTo>
                  <a:lnTo>
                    <a:pt x="348259" y="121767"/>
                  </a:lnTo>
                  <a:lnTo>
                    <a:pt x="348259" y="118668"/>
                  </a:lnTo>
                  <a:lnTo>
                    <a:pt x="348259" y="106260"/>
                  </a:lnTo>
                  <a:lnTo>
                    <a:pt x="351599" y="86258"/>
                  </a:lnTo>
                  <a:lnTo>
                    <a:pt x="360959" y="69024"/>
                  </a:lnTo>
                  <a:lnTo>
                    <a:pt x="375424" y="55867"/>
                  </a:lnTo>
                  <a:lnTo>
                    <a:pt x="394030" y="48082"/>
                  </a:lnTo>
                  <a:lnTo>
                    <a:pt x="403326" y="46532"/>
                  </a:lnTo>
                  <a:lnTo>
                    <a:pt x="407987" y="46532"/>
                  </a:lnTo>
                  <a:lnTo>
                    <a:pt x="451396" y="65519"/>
                  </a:lnTo>
                  <a:lnTo>
                    <a:pt x="465378" y="88417"/>
                  </a:lnTo>
                  <a:lnTo>
                    <a:pt x="475462" y="84543"/>
                  </a:lnTo>
                  <a:lnTo>
                    <a:pt x="480123" y="82994"/>
                  </a:lnTo>
                  <a:lnTo>
                    <a:pt x="485546" y="82219"/>
                  </a:lnTo>
                  <a:lnTo>
                    <a:pt x="490982" y="82219"/>
                  </a:lnTo>
                  <a:lnTo>
                    <a:pt x="527291" y="98666"/>
                  </a:lnTo>
                  <a:lnTo>
                    <a:pt x="539064" y="142709"/>
                  </a:lnTo>
                  <a:lnTo>
                    <a:pt x="554583" y="142709"/>
                  </a:lnTo>
                  <a:lnTo>
                    <a:pt x="568782" y="145567"/>
                  </a:lnTo>
                  <a:lnTo>
                    <a:pt x="580377" y="153377"/>
                  </a:lnTo>
                  <a:lnTo>
                    <a:pt x="588175" y="164960"/>
                  </a:lnTo>
                  <a:lnTo>
                    <a:pt x="591032" y="179158"/>
                  </a:lnTo>
                  <a:lnTo>
                    <a:pt x="591032" y="108229"/>
                  </a:lnTo>
                  <a:lnTo>
                    <a:pt x="577075" y="101600"/>
                  </a:lnTo>
                  <a:lnTo>
                    <a:pt x="570014" y="82219"/>
                  </a:lnTo>
                  <a:lnTo>
                    <a:pt x="567804" y="76161"/>
                  </a:lnTo>
                  <a:lnTo>
                    <a:pt x="534911" y="46532"/>
                  </a:lnTo>
                  <a:lnTo>
                    <a:pt x="500291" y="37223"/>
                  </a:lnTo>
                  <a:lnTo>
                    <a:pt x="496404" y="37223"/>
                  </a:lnTo>
                  <a:lnTo>
                    <a:pt x="491756" y="37998"/>
                  </a:lnTo>
                  <a:lnTo>
                    <a:pt x="487883" y="37998"/>
                  </a:lnTo>
                  <a:lnTo>
                    <a:pt x="472122" y="22250"/>
                  </a:lnTo>
                  <a:lnTo>
                    <a:pt x="453161" y="10274"/>
                  </a:lnTo>
                  <a:lnTo>
                    <a:pt x="431596" y="2667"/>
                  </a:lnTo>
                  <a:lnTo>
                    <a:pt x="407987" y="0"/>
                  </a:lnTo>
                  <a:lnTo>
                    <a:pt x="374256" y="5651"/>
                  </a:lnTo>
                  <a:lnTo>
                    <a:pt x="345262" y="21323"/>
                  </a:lnTo>
                  <a:lnTo>
                    <a:pt x="322795" y="45148"/>
                  </a:lnTo>
                  <a:lnTo>
                    <a:pt x="308698" y="75234"/>
                  </a:lnTo>
                  <a:lnTo>
                    <a:pt x="278498" y="86817"/>
                  </a:lnTo>
                  <a:lnTo>
                    <a:pt x="254406" y="107416"/>
                  </a:lnTo>
                  <a:lnTo>
                    <a:pt x="238455" y="135001"/>
                  </a:lnTo>
                  <a:lnTo>
                    <a:pt x="232689" y="167525"/>
                  </a:lnTo>
                  <a:lnTo>
                    <a:pt x="240030" y="204114"/>
                  </a:lnTo>
                  <a:lnTo>
                    <a:pt x="260032" y="233946"/>
                  </a:lnTo>
                  <a:lnTo>
                    <a:pt x="289623" y="254025"/>
                  </a:lnTo>
                  <a:lnTo>
                    <a:pt x="325767" y="261378"/>
                  </a:lnTo>
                  <a:lnTo>
                    <a:pt x="558457" y="261378"/>
                  </a:lnTo>
                  <a:lnTo>
                    <a:pt x="589673" y="254977"/>
                  </a:lnTo>
                  <a:lnTo>
                    <a:pt x="614502" y="237528"/>
                  </a:lnTo>
                  <a:lnTo>
                    <a:pt x="628865" y="214845"/>
                  </a:lnTo>
                  <a:lnTo>
                    <a:pt x="630885" y="211645"/>
                  </a:lnTo>
                  <a:lnTo>
                    <a:pt x="636803" y="179933"/>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17" name="Google Shape;117;p5"/>
            <p:cNvPicPr preferRelativeResize="0"/>
            <p:nvPr/>
          </p:nvPicPr>
          <p:blipFill rotWithShape="1">
            <a:blip r:embed="rId3">
              <a:alphaModFix/>
            </a:blip>
            <a:srcRect b="0" l="0" r="0" t="0"/>
            <a:stretch/>
          </p:blipFill>
          <p:spPr>
            <a:xfrm>
              <a:off x="1372037" y="5917492"/>
              <a:ext cx="135809" cy="172183"/>
            </a:xfrm>
            <a:prstGeom prst="rect">
              <a:avLst/>
            </a:prstGeom>
            <a:noFill/>
            <a:ln>
              <a:noFill/>
            </a:ln>
          </p:spPr>
        </p:pic>
        <p:pic>
          <p:nvPicPr>
            <p:cNvPr id="118" name="Google Shape;118;p5"/>
            <p:cNvPicPr preferRelativeResize="0"/>
            <p:nvPr/>
          </p:nvPicPr>
          <p:blipFill rotWithShape="1">
            <a:blip r:embed="rId4">
              <a:alphaModFix/>
            </a:blip>
            <a:srcRect b="0" l="0" r="0" t="0"/>
            <a:stretch/>
          </p:blipFill>
          <p:spPr>
            <a:xfrm>
              <a:off x="1029132" y="5714284"/>
              <a:ext cx="135809" cy="172183"/>
            </a:xfrm>
            <a:prstGeom prst="rect">
              <a:avLst/>
            </a:prstGeom>
            <a:noFill/>
            <a:ln>
              <a:noFill/>
            </a:ln>
          </p:spPr>
        </p:pic>
      </p:grpSp>
      <p:sp>
        <p:nvSpPr>
          <p:cNvPr id="119" name="Google Shape;119;p5"/>
          <p:cNvSpPr txBox="1"/>
          <p:nvPr/>
        </p:nvSpPr>
        <p:spPr>
          <a:xfrm>
            <a:off x="2240026" y="821753"/>
            <a:ext cx="4429760" cy="5692775"/>
          </a:xfrm>
          <a:prstGeom prst="rect">
            <a:avLst/>
          </a:prstGeom>
          <a:noFill/>
          <a:ln>
            <a:noFill/>
          </a:ln>
        </p:spPr>
        <p:txBody>
          <a:bodyPr anchorCtr="0" anchor="t" bIns="0" lIns="0" spcFirstLastPara="1" rIns="0" wrap="square" tIns="18400">
            <a:spAutoFit/>
          </a:bodyPr>
          <a:lstStyle/>
          <a:p>
            <a:pPr indent="0" lvl="0" marL="12700" marR="643890" rtl="0" algn="just">
              <a:lnSpc>
                <a:spcPct val="98900"/>
              </a:lnSpc>
              <a:spcBef>
                <a:spcPts val="0"/>
              </a:spcBef>
              <a:spcAft>
                <a:spcPts val="0"/>
              </a:spcAft>
              <a:buNone/>
            </a:pPr>
            <a:r>
              <a:rPr lang="en-IN" sz="1550">
                <a:latin typeface="Times New Roman"/>
                <a:ea typeface="Times New Roman"/>
                <a:cs typeface="Times New Roman"/>
                <a:sym typeface="Times New Roman"/>
              </a:rPr>
              <a:t>Predict the risk of hyperthyroidism, hypothyroidism (compensated, primary, secondary), or negative (no thyroid disease) in individuals using machine learning techniques.</a:t>
            </a:r>
            <a:endParaRPr sz="1550">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t/>
            </a:r>
            <a:endParaRPr sz="1550">
              <a:latin typeface="Times New Roman"/>
              <a:ea typeface="Times New Roman"/>
              <a:cs typeface="Times New Roman"/>
              <a:sym typeface="Times New Roman"/>
            </a:endParaRPr>
          </a:p>
          <a:p>
            <a:pPr indent="0" lvl="0" marL="0" rtl="0" algn="just">
              <a:lnSpc>
                <a:spcPct val="100000"/>
              </a:lnSpc>
              <a:spcBef>
                <a:spcPts val="10"/>
              </a:spcBef>
              <a:spcAft>
                <a:spcPts val="0"/>
              </a:spcAft>
              <a:buNone/>
            </a:pPr>
            <a:r>
              <a:t/>
            </a:r>
            <a:endParaRPr sz="1550">
              <a:latin typeface="Times New Roman"/>
              <a:ea typeface="Times New Roman"/>
              <a:cs typeface="Times New Roman"/>
              <a:sym typeface="Times New Roman"/>
            </a:endParaRPr>
          </a:p>
          <a:p>
            <a:pPr indent="0" lvl="0" marL="14604" marR="589915" rtl="0" algn="just">
              <a:lnSpc>
                <a:spcPct val="98500"/>
              </a:lnSpc>
              <a:spcBef>
                <a:spcPts val="0"/>
              </a:spcBef>
              <a:spcAft>
                <a:spcPts val="0"/>
              </a:spcAft>
              <a:buNone/>
            </a:pPr>
            <a:r>
              <a:rPr lang="en-IN" sz="1550">
                <a:latin typeface="Times New Roman"/>
                <a:ea typeface="Times New Roman"/>
                <a:cs typeface="Times New Roman"/>
                <a:sym typeface="Times New Roman"/>
              </a:rPr>
              <a:t>Employ Machine Learning algorithms such as Random Forest Classifier, Decision Tree Classifier, Logistic Regression, Linear Regression, AdaBoost Classifier, Gradient Boosting Classifier, XGBoost Classifier, Support Vector Classifier, Gaussian Naïve Bayes and K-Nearest Neighbors (KNN) on the thyroid dataset from the UCI Machine Learning Repository.</a:t>
            </a:r>
            <a:endParaRPr sz="1550">
              <a:latin typeface="Times New Roman"/>
              <a:ea typeface="Times New Roman"/>
              <a:cs typeface="Times New Roman"/>
              <a:sym typeface="Times New Roman"/>
            </a:endParaRPr>
          </a:p>
          <a:p>
            <a:pPr indent="0" lvl="0" marL="0" rtl="0" algn="just">
              <a:lnSpc>
                <a:spcPct val="100000"/>
              </a:lnSpc>
              <a:spcBef>
                <a:spcPts val="720"/>
              </a:spcBef>
              <a:spcAft>
                <a:spcPts val="0"/>
              </a:spcAft>
              <a:buNone/>
            </a:pPr>
            <a:r>
              <a:t/>
            </a:r>
            <a:endParaRPr sz="1550">
              <a:latin typeface="Times New Roman"/>
              <a:ea typeface="Times New Roman"/>
              <a:cs typeface="Times New Roman"/>
              <a:sym typeface="Times New Roman"/>
            </a:endParaRPr>
          </a:p>
          <a:p>
            <a:pPr indent="0" lvl="0" marL="26669" marR="5080" rtl="0" algn="just">
              <a:lnSpc>
                <a:spcPct val="98900"/>
              </a:lnSpc>
              <a:spcBef>
                <a:spcPts val="0"/>
              </a:spcBef>
              <a:spcAft>
                <a:spcPts val="0"/>
              </a:spcAft>
              <a:buNone/>
            </a:pPr>
            <a:r>
              <a:rPr lang="en-IN" sz="1550">
                <a:latin typeface="Times New Roman"/>
                <a:ea typeface="Times New Roman"/>
                <a:cs typeface="Times New Roman"/>
                <a:sym typeface="Times New Roman"/>
              </a:rPr>
              <a:t>Deploy the application on cloud platforms like Google Cloud Platform (GCP), Amazon Web Services (AWS), Microsoft Azure or Heroku using Flask for real-time predictions and accessibility.</a:t>
            </a:r>
            <a:endParaRPr sz="155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3" name="Shape 123"/>
        <p:cNvGrpSpPr/>
        <p:nvPr/>
      </p:nvGrpSpPr>
      <p:grpSpPr>
        <a:xfrm>
          <a:off x="0" y="0"/>
          <a:ext cx="0" cy="0"/>
          <a:chOff x="0" y="0"/>
          <a:chExt cx="0" cy="0"/>
        </a:xfrm>
      </p:grpSpPr>
      <p:sp>
        <p:nvSpPr>
          <p:cNvPr id="124" name="Google Shape;124;p6"/>
          <p:cNvSpPr txBox="1"/>
          <p:nvPr>
            <p:ph type="title"/>
          </p:nvPr>
        </p:nvSpPr>
        <p:spPr>
          <a:xfrm>
            <a:off x="353377" y="180022"/>
            <a:ext cx="3107690" cy="334645"/>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en-IN" sz="2000" u="none">
                <a:solidFill>
                  <a:schemeClr val="dk1"/>
                </a:solidFill>
              </a:rPr>
              <a:t>GENERAL DESCRIPTION</a:t>
            </a:r>
            <a:endParaRPr sz="2000" u="none">
              <a:solidFill>
                <a:schemeClr val="dk1"/>
              </a:solidFill>
            </a:endParaRPr>
          </a:p>
        </p:txBody>
      </p:sp>
      <p:sp>
        <p:nvSpPr>
          <p:cNvPr id="125" name="Google Shape;125;p6"/>
          <p:cNvSpPr txBox="1"/>
          <p:nvPr/>
        </p:nvSpPr>
        <p:spPr>
          <a:xfrm>
            <a:off x="353377" y="552489"/>
            <a:ext cx="9004935" cy="6096000"/>
          </a:xfrm>
          <a:prstGeom prst="rect">
            <a:avLst/>
          </a:prstGeom>
          <a:noFill/>
          <a:ln>
            <a:noFill/>
          </a:ln>
        </p:spPr>
        <p:txBody>
          <a:bodyPr anchorCtr="0" anchor="t" bIns="0" lIns="0" spcFirstLastPara="1" rIns="0" wrap="square" tIns="151125">
            <a:spAutoFit/>
          </a:bodyPr>
          <a:lstStyle/>
          <a:p>
            <a:pPr indent="-342265" lvl="0" marL="354965" rtl="0" algn="just">
              <a:lnSpc>
                <a:spcPct val="100000"/>
              </a:lnSpc>
              <a:spcBef>
                <a:spcPts val="0"/>
              </a:spcBef>
              <a:spcAft>
                <a:spcPts val="0"/>
              </a:spcAft>
              <a:buClr>
                <a:srgbClr val="EB3C9F"/>
              </a:buClr>
              <a:buSzPts val="1250"/>
              <a:buFont typeface="Noto Sans Symbols"/>
              <a:buChar char="▪"/>
            </a:pPr>
            <a:r>
              <a:rPr b="1" lang="en-IN" sz="1550">
                <a:latin typeface="Times New Roman"/>
                <a:ea typeface="Times New Roman"/>
                <a:cs typeface="Times New Roman"/>
                <a:sym typeface="Times New Roman"/>
              </a:rPr>
              <a:t>Impact:-</a:t>
            </a:r>
            <a:endParaRPr sz="1550">
              <a:latin typeface="Times New Roman"/>
              <a:ea typeface="Times New Roman"/>
              <a:cs typeface="Times New Roman"/>
              <a:sym typeface="Times New Roman"/>
            </a:endParaRPr>
          </a:p>
          <a:p>
            <a:pPr indent="-285750" lvl="1" marL="755650" rtl="0" algn="just">
              <a:lnSpc>
                <a:spcPct val="100000"/>
              </a:lnSpc>
              <a:spcBef>
                <a:spcPts val="994"/>
              </a:spcBef>
              <a:spcAft>
                <a:spcPts val="0"/>
              </a:spcAft>
              <a:buClr>
                <a:srgbClr val="EB3C9F"/>
              </a:buClr>
              <a:buSzPts val="1100"/>
              <a:buFont typeface="Noto Sans Symbols"/>
              <a:buChar char="▪"/>
            </a:pPr>
            <a:r>
              <a:rPr lang="en-IN" sz="1400">
                <a:latin typeface="Times New Roman"/>
                <a:ea typeface="Times New Roman"/>
                <a:cs typeface="Times New Roman"/>
                <a:sym typeface="Times New Roman"/>
              </a:rPr>
              <a:t>Enhance early detection of thyroid disease, reducing the risk of delayed diagnosis.</a:t>
            </a:r>
            <a:endParaRPr sz="1400">
              <a:latin typeface="Times New Roman"/>
              <a:ea typeface="Times New Roman"/>
              <a:cs typeface="Times New Roman"/>
              <a:sym typeface="Times New Roman"/>
            </a:endParaRPr>
          </a:p>
          <a:p>
            <a:pPr indent="-285750" lvl="1" marL="755650" marR="147955" rtl="0" algn="just">
              <a:lnSpc>
                <a:spcPct val="117857"/>
              </a:lnSpc>
              <a:spcBef>
                <a:spcPts val="1105"/>
              </a:spcBef>
              <a:spcAft>
                <a:spcPts val="0"/>
              </a:spcAft>
              <a:buClr>
                <a:srgbClr val="EB3C9F"/>
              </a:buClr>
              <a:buSzPts val="1100"/>
              <a:buFont typeface="Noto Sans Symbols"/>
              <a:buChar char="▪"/>
            </a:pPr>
            <a:r>
              <a:rPr lang="en-IN" sz="1400">
                <a:latin typeface="Times New Roman"/>
                <a:ea typeface="Times New Roman"/>
                <a:cs typeface="Times New Roman"/>
                <a:sym typeface="Times New Roman"/>
              </a:rPr>
              <a:t>Demonstrate the potential of machine learning in the medical field, offering insights into the application of predictive analytics in healthcare.</a:t>
            </a:r>
            <a:endParaRPr sz="1400">
              <a:latin typeface="Times New Roman"/>
              <a:ea typeface="Times New Roman"/>
              <a:cs typeface="Times New Roman"/>
              <a:sym typeface="Times New Roman"/>
            </a:endParaRPr>
          </a:p>
          <a:p>
            <a:pPr indent="-342900" lvl="0" marL="355600" marR="198120" rtl="0" algn="just">
              <a:lnSpc>
                <a:spcPct val="102899"/>
              </a:lnSpc>
              <a:spcBef>
                <a:spcPts val="994"/>
              </a:spcBef>
              <a:spcAft>
                <a:spcPts val="0"/>
              </a:spcAft>
              <a:buClr>
                <a:srgbClr val="EB3C9F"/>
              </a:buClr>
              <a:buSzPts val="1250"/>
              <a:buFont typeface="Noto Sans Symbols"/>
              <a:buChar char="▪"/>
            </a:pPr>
            <a:r>
              <a:rPr b="1" lang="en-IN" sz="1550">
                <a:latin typeface="Times New Roman"/>
                <a:ea typeface="Times New Roman"/>
                <a:cs typeface="Times New Roman"/>
                <a:sym typeface="Times New Roman"/>
              </a:rPr>
              <a:t>Scope:- </a:t>
            </a:r>
            <a:r>
              <a:rPr lang="en-IN" sz="1550">
                <a:latin typeface="Times New Roman"/>
                <a:ea typeface="Times New Roman"/>
                <a:cs typeface="Times New Roman"/>
                <a:sym typeface="Times New Roman"/>
              </a:rPr>
              <a:t>Go beyond disease prediction to showcase how advanced data processing and machine learning can revolutionize clinical diagnosis and improve patient outcomes.</a:t>
            </a:r>
            <a:endParaRPr sz="1550">
              <a:latin typeface="Times New Roman"/>
              <a:ea typeface="Times New Roman"/>
              <a:cs typeface="Times New Roman"/>
              <a:sym typeface="Times New Roman"/>
            </a:endParaRPr>
          </a:p>
          <a:p>
            <a:pPr indent="-342900" lvl="0" marL="355600" marR="198755" rtl="0" algn="just">
              <a:lnSpc>
                <a:spcPct val="105000"/>
              </a:lnSpc>
              <a:spcBef>
                <a:spcPts val="980"/>
              </a:spcBef>
              <a:spcAft>
                <a:spcPts val="0"/>
              </a:spcAft>
              <a:buClr>
                <a:srgbClr val="EB3C9F"/>
              </a:buClr>
              <a:buSzPts val="1250"/>
              <a:buFont typeface="Noto Sans Symbols"/>
              <a:buChar char="▪"/>
            </a:pPr>
            <a:r>
              <a:rPr b="1" lang="en-IN" sz="1550">
                <a:latin typeface="Times New Roman"/>
                <a:ea typeface="Times New Roman"/>
                <a:cs typeface="Times New Roman"/>
                <a:sym typeface="Times New Roman"/>
              </a:rPr>
              <a:t>Product Perspective:- </a:t>
            </a:r>
            <a:r>
              <a:rPr lang="en-IN" sz="1550">
                <a:latin typeface="Times New Roman"/>
                <a:ea typeface="Times New Roman"/>
                <a:cs typeface="Times New Roman"/>
                <a:sym typeface="Times New Roman"/>
              </a:rPr>
              <a:t>Develop a machine learning-based system to detect thyroid disease and guide necessary medical actions.</a:t>
            </a:r>
            <a:endParaRPr sz="1550">
              <a:latin typeface="Times New Roman"/>
              <a:ea typeface="Times New Roman"/>
              <a:cs typeface="Times New Roman"/>
              <a:sym typeface="Times New Roman"/>
            </a:endParaRPr>
          </a:p>
          <a:p>
            <a:pPr indent="-342900" lvl="0" marL="355600" marR="5080" rtl="0" algn="just">
              <a:lnSpc>
                <a:spcPct val="104900"/>
              </a:lnSpc>
              <a:spcBef>
                <a:spcPts val="900"/>
              </a:spcBef>
              <a:spcAft>
                <a:spcPts val="0"/>
              </a:spcAft>
              <a:buClr>
                <a:srgbClr val="EB3C9F"/>
              </a:buClr>
              <a:buSzPts val="1250"/>
              <a:buFont typeface="Noto Sans Symbols"/>
              <a:buChar char="▪"/>
            </a:pPr>
            <a:r>
              <a:rPr b="1" lang="en-IN" sz="1550">
                <a:latin typeface="Times New Roman"/>
                <a:ea typeface="Times New Roman"/>
                <a:cs typeface="Times New Roman"/>
                <a:sym typeface="Times New Roman"/>
              </a:rPr>
              <a:t>Problem Statement:- </a:t>
            </a:r>
            <a:r>
              <a:rPr lang="en-IN" sz="1550">
                <a:latin typeface="Times New Roman"/>
                <a:ea typeface="Times New Roman"/>
                <a:cs typeface="Times New Roman"/>
                <a:sym typeface="Times New Roman"/>
              </a:rPr>
              <a:t>Create an AI solution capable of detecting thyroid disease and identifying its type in both healthy and unhealthy individuals.</a:t>
            </a:r>
            <a:endParaRPr sz="1550">
              <a:latin typeface="Times New Roman"/>
              <a:ea typeface="Times New Roman"/>
              <a:cs typeface="Times New Roman"/>
              <a:sym typeface="Times New Roman"/>
            </a:endParaRPr>
          </a:p>
          <a:p>
            <a:pPr indent="-342900" lvl="0" marL="355600" marR="140970" rtl="0" algn="just">
              <a:lnSpc>
                <a:spcPct val="103000"/>
              </a:lnSpc>
              <a:spcBef>
                <a:spcPts val="1015"/>
              </a:spcBef>
              <a:spcAft>
                <a:spcPts val="0"/>
              </a:spcAft>
              <a:buClr>
                <a:srgbClr val="EB3C9F"/>
              </a:buClr>
              <a:buSzPts val="1250"/>
              <a:buFont typeface="Noto Sans Symbols"/>
              <a:buChar char="▪"/>
            </a:pPr>
            <a:r>
              <a:rPr b="1" lang="en-IN" sz="1550">
                <a:latin typeface="Times New Roman"/>
                <a:ea typeface="Times New Roman"/>
                <a:cs typeface="Times New Roman"/>
                <a:sym typeface="Times New Roman"/>
              </a:rPr>
              <a:t>Proposed Solution:- </a:t>
            </a:r>
            <a:r>
              <a:rPr lang="en-IN" sz="1550">
                <a:latin typeface="Times New Roman"/>
                <a:ea typeface="Times New Roman"/>
                <a:cs typeface="Times New Roman"/>
                <a:sym typeface="Times New Roman"/>
              </a:rPr>
              <a:t>Implement a data science model involving data preprocessing (transformation, imputation, encoding, feature selection) and model building, training, evaluation, and selection.</a:t>
            </a:r>
            <a:endParaRPr sz="1550">
              <a:latin typeface="Times New Roman"/>
              <a:ea typeface="Times New Roman"/>
              <a:cs typeface="Times New Roman"/>
              <a:sym typeface="Times New Roman"/>
            </a:endParaRPr>
          </a:p>
          <a:p>
            <a:pPr indent="-342265" lvl="0" marL="354965" rtl="0" algn="just">
              <a:lnSpc>
                <a:spcPct val="100000"/>
              </a:lnSpc>
              <a:spcBef>
                <a:spcPts val="1070"/>
              </a:spcBef>
              <a:spcAft>
                <a:spcPts val="0"/>
              </a:spcAft>
              <a:buClr>
                <a:srgbClr val="EB3C9F"/>
              </a:buClr>
              <a:buSzPts val="1250"/>
              <a:buFont typeface="Noto Sans Symbols"/>
              <a:buChar char="▪"/>
            </a:pPr>
            <a:r>
              <a:rPr b="1" lang="en-IN" sz="1550">
                <a:latin typeface="Times New Roman"/>
                <a:ea typeface="Times New Roman"/>
                <a:cs typeface="Times New Roman"/>
                <a:sym typeface="Times New Roman"/>
              </a:rPr>
              <a:t>Further Improvements:- </a:t>
            </a:r>
            <a:r>
              <a:rPr lang="en-IN" sz="1550">
                <a:latin typeface="Times New Roman"/>
                <a:ea typeface="Times New Roman"/>
                <a:cs typeface="Times New Roman"/>
                <a:sym typeface="Times New Roman"/>
              </a:rPr>
              <a:t>Explore additional healthcare applications and integrate with other healthcare domain solutions to provide comprehensive diagnostics.</a:t>
            </a:r>
            <a:endParaRPr sz="1550">
              <a:latin typeface="Times New Roman"/>
              <a:ea typeface="Times New Roman"/>
              <a:cs typeface="Times New Roman"/>
              <a:sym typeface="Times New Roman"/>
            </a:endParaRPr>
          </a:p>
          <a:p>
            <a:pPr indent="-342900" lvl="0" marL="355600" marR="327660" rtl="0" algn="just">
              <a:lnSpc>
                <a:spcPct val="100899"/>
              </a:lnSpc>
              <a:spcBef>
                <a:spcPts val="1055"/>
              </a:spcBef>
              <a:spcAft>
                <a:spcPts val="0"/>
              </a:spcAft>
              <a:buClr>
                <a:srgbClr val="EB3C9F"/>
              </a:buClr>
              <a:buSzPts val="1250"/>
              <a:buFont typeface="Noto Sans Symbols"/>
              <a:buChar char="▪"/>
            </a:pPr>
            <a:r>
              <a:rPr b="1" lang="en-IN" sz="1550">
                <a:latin typeface="Times New Roman"/>
                <a:ea typeface="Times New Roman"/>
                <a:cs typeface="Times New Roman"/>
                <a:sym typeface="Times New Roman"/>
              </a:rPr>
              <a:t>Constraints:- </a:t>
            </a:r>
            <a:r>
              <a:rPr lang="en-IN" sz="1550">
                <a:latin typeface="Times New Roman"/>
                <a:ea typeface="Times New Roman"/>
                <a:cs typeface="Times New Roman"/>
                <a:sym typeface="Times New Roman"/>
              </a:rPr>
              <a:t>Ensure accuracy and automation, minimizing user interaction with the system's internal workings.</a:t>
            </a:r>
            <a:endParaRPr sz="1550">
              <a:latin typeface="Times New Roman"/>
              <a:ea typeface="Times New Roman"/>
              <a:cs typeface="Times New Roman"/>
              <a:sym typeface="Times New Roman"/>
            </a:endParaRPr>
          </a:p>
          <a:p>
            <a:pPr indent="-342900" lvl="0" marL="355600" marR="26669" rtl="0" algn="just">
              <a:lnSpc>
                <a:spcPct val="105000"/>
              </a:lnSpc>
              <a:spcBef>
                <a:spcPts val="975"/>
              </a:spcBef>
              <a:spcAft>
                <a:spcPts val="0"/>
              </a:spcAft>
              <a:buClr>
                <a:srgbClr val="EB3C9F"/>
              </a:buClr>
              <a:buSzPts val="1250"/>
              <a:buFont typeface="Noto Sans Symbols"/>
              <a:buChar char="▪"/>
            </a:pPr>
            <a:r>
              <a:rPr b="1" lang="en-IN" sz="1550">
                <a:latin typeface="Times New Roman"/>
                <a:ea typeface="Times New Roman"/>
                <a:cs typeface="Times New Roman"/>
                <a:sym typeface="Times New Roman"/>
              </a:rPr>
              <a:t>Assumptions:- </a:t>
            </a:r>
            <a:r>
              <a:rPr lang="en-IN" sz="1550">
                <a:latin typeface="Times New Roman"/>
                <a:ea typeface="Times New Roman"/>
                <a:cs typeface="Times New Roman"/>
                <a:sym typeface="Times New Roman"/>
              </a:rPr>
              <a:t>The system will be implemented in hospitals to handle new datasets for thyroid disease detection and reporting.</a:t>
            </a:r>
            <a:endParaRPr sz="155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9" name="Shape 129"/>
        <p:cNvGrpSpPr/>
        <p:nvPr/>
      </p:nvGrpSpPr>
      <p:grpSpPr>
        <a:xfrm>
          <a:off x="0" y="0"/>
          <a:ext cx="0" cy="0"/>
          <a:chOff x="0" y="0"/>
          <a:chExt cx="0" cy="0"/>
        </a:xfrm>
      </p:grpSpPr>
      <p:sp>
        <p:nvSpPr>
          <p:cNvPr id="130" name="Google Shape;130;p7"/>
          <p:cNvSpPr txBox="1"/>
          <p:nvPr>
            <p:ph type="title"/>
          </p:nvPr>
        </p:nvSpPr>
        <p:spPr>
          <a:xfrm>
            <a:off x="756284" y="719074"/>
            <a:ext cx="3816350" cy="382797"/>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IN" sz="2400" u="none">
                <a:solidFill>
                  <a:schemeClr val="dk1"/>
                </a:solidFill>
              </a:rPr>
              <a:t>Data Requirements</a:t>
            </a:r>
            <a:endParaRPr/>
          </a:p>
        </p:txBody>
      </p:sp>
      <p:sp>
        <p:nvSpPr>
          <p:cNvPr id="131" name="Google Shape;131;p7"/>
          <p:cNvSpPr txBox="1"/>
          <p:nvPr/>
        </p:nvSpPr>
        <p:spPr>
          <a:xfrm>
            <a:off x="666115" y="1979866"/>
            <a:ext cx="3441065" cy="2197846"/>
          </a:xfrm>
          <a:prstGeom prst="rect">
            <a:avLst/>
          </a:prstGeom>
          <a:noFill/>
          <a:ln>
            <a:noFill/>
          </a:ln>
        </p:spPr>
        <p:txBody>
          <a:bodyPr anchorCtr="0" anchor="t" bIns="0" lIns="0" spcFirstLastPara="1" rIns="0" wrap="square" tIns="15225">
            <a:spAutoFit/>
          </a:bodyPr>
          <a:lstStyle/>
          <a:p>
            <a:pPr indent="457200" lvl="0" marL="12700" marR="5080" rtl="0" algn="l">
              <a:lnSpc>
                <a:spcPct val="99100"/>
              </a:lnSpc>
              <a:spcBef>
                <a:spcPts val="0"/>
              </a:spcBef>
              <a:spcAft>
                <a:spcPts val="0"/>
              </a:spcAft>
              <a:buNone/>
            </a:pPr>
            <a:r>
              <a:rPr lang="en-IN" sz="1800">
                <a:solidFill>
                  <a:srgbClr val="404040"/>
                </a:solidFill>
                <a:latin typeface="Times New Roman"/>
                <a:ea typeface="Times New Roman"/>
                <a:cs typeface="Times New Roman"/>
                <a:sym typeface="Times New Roman"/>
              </a:rPr>
              <a:t>The Thyroid Dataset has been taken from the UCI Machine Learning Repository.</a:t>
            </a:r>
            <a:endParaRPr sz="1800">
              <a:latin typeface="Times New Roman"/>
              <a:ea typeface="Times New Roman"/>
              <a:cs typeface="Times New Roman"/>
              <a:sym typeface="Times New Roman"/>
            </a:endParaRPr>
          </a:p>
          <a:p>
            <a:pPr indent="457200" lvl="0" marL="12700" marR="1197610" rtl="0" algn="l">
              <a:lnSpc>
                <a:spcPct val="100899"/>
              </a:lnSpc>
              <a:spcBef>
                <a:spcPts val="975"/>
              </a:spcBef>
              <a:spcAft>
                <a:spcPts val="0"/>
              </a:spcAft>
              <a:buNone/>
            </a:pPr>
            <a:r>
              <a:rPr lang="en-IN" sz="1800">
                <a:solidFill>
                  <a:srgbClr val="404040"/>
                </a:solidFill>
                <a:latin typeface="Times New Roman"/>
                <a:ea typeface="Times New Roman"/>
                <a:cs typeface="Times New Roman"/>
                <a:sym typeface="Times New Roman"/>
              </a:rPr>
              <a:t>The Link to the Repository:</a:t>
            </a:r>
            <a:endParaRPr sz="1800">
              <a:latin typeface="Times New Roman"/>
              <a:ea typeface="Times New Roman"/>
              <a:cs typeface="Times New Roman"/>
              <a:sym typeface="Times New Roman"/>
            </a:endParaRPr>
          </a:p>
          <a:p>
            <a:pPr indent="0" lvl="0" marL="12700" marR="201930" rtl="0" algn="l">
              <a:lnSpc>
                <a:spcPct val="100899"/>
              </a:lnSpc>
              <a:spcBef>
                <a:spcPts val="969"/>
              </a:spcBef>
              <a:spcAft>
                <a:spcPts val="0"/>
              </a:spcAft>
              <a:buNone/>
            </a:pPr>
            <a:r>
              <a:rPr lang="en-IN" sz="1800">
                <a:solidFill>
                  <a:srgbClr val="404040"/>
                </a:solidFill>
                <a:latin typeface="Times New Roman"/>
                <a:ea typeface="Times New Roman"/>
                <a:cs typeface="Times New Roman"/>
                <a:sym typeface="Times New Roman"/>
              </a:rPr>
              <a:t>&lt;</a:t>
            </a:r>
            <a:r>
              <a:rPr lang="en-IN" sz="1800" u="sng">
                <a:solidFill>
                  <a:srgbClr val="EE5285"/>
                </a:solidFill>
                <a:latin typeface="Times New Roman"/>
                <a:ea typeface="Times New Roman"/>
                <a:cs typeface="Times New Roman"/>
                <a:sym typeface="Times New Roman"/>
                <a:hlinkClick r:id="rId3">
                  <a:extLst>
                    <a:ext uri="{A12FA001-AC4F-418D-AE19-62706E023703}">
                      <ahyp:hlinkClr val="tx"/>
                    </a:ext>
                  </a:extLst>
                </a:hlinkClick>
              </a:rPr>
              <a:t>Thyroid Disease - UCI Machine</a:t>
            </a:r>
            <a:r>
              <a:rPr lang="en-IN" sz="1800">
                <a:solidFill>
                  <a:srgbClr val="EE5285"/>
                </a:solidFill>
                <a:latin typeface="Times New Roman"/>
                <a:ea typeface="Times New Roman"/>
                <a:cs typeface="Times New Roman"/>
                <a:sym typeface="Times New Roman"/>
              </a:rPr>
              <a:t> </a:t>
            </a:r>
            <a:r>
              <a:rPr lang="en-IN" sz="1800" u="sng">
                <a:solidFill>
                  <a:srgbClr val="EE5285"/>
                </a:solidFill>
                <a:latin typeface="Times New Roman"/>
                <a:ea typeface="Times New Roman"/>
                <a:cs typeface="Times New Roman"/>
                <a:sym typeface="Times New Roman"/>
                <a:hlinkClick r:id="rId4">
                  <a:extLst>
                    <a:ext uri="{A12FA001-AC4F-418D-AE19-62706E023703}">
                      <ahyp:hlinkClr val="tx"/>
                    </a:ext>
                  </a:extLst>
                </a:hlinkClick>
              </a:rPr>
              <a:t>Learning Repository</a:t>
            </a:r>
            <a:r>
              <a:rPr lang="en-IN" sz="1800">
                <a:solidFill>
                  <a:srgbClr val="404040"/>
                </a:solidFill>
                <a:latin typeface="Times New Roman"/>
                <a:ea typeface="Times New Roman"/>
                <a:cs typeface="Times New Roman"/>
                <a:sym typeface="Times New Roman"/>
              </a:rPr>
              <a:t>&gt;</a:t>
            </a:r>
            <a:endParaRPr sz="1800">
              <a:latin typeface="Times New Roman"/>
              <a:ea typeface="Times New Roman"/>
              <a:cs typeface="Times New Roman"/>
              <a:sym typeface="Times New Roman"/>
            </a:endParaRPr>
          </a:p>
        </p:txBody>
      </p:sp>
      <p:pic>
        <p:nvPicPr>
          <p:cNvPr id="132" name="Google Shape;132;p7"/>
          <p:cNvPicPr preferRelativeResize="0"/>
          <p:nvPr/>
        </p:nvPicPr>
        <p:blipFill rotWithShape="1">
          <a:blip r:embed="rId5">
            <a:alphaModFix/>
          </a:blip>
          <a:srcRect b="0" l="0" r="0" t="0"/>
          <a:stretch/>
        </p:blipFill>
        <p:spPr>
          <a:xfrm>
            <a:off x="4429125" y="1847850"/>
            <a:ext cx="7067550" cy="39528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6" name="Shape 136"/>
        <p:cNvGrpSpPr/>
        <p:nvPr/>
      </p:nvGrpSpPr>
      <p:grpSpPr>
        <a:xfrm>
          <a:off x="0" y="0"/>
          <a:ext cx="0" cy="0"/>
          <a:chOff x="0" y="0"/>
          <a:chExt cx="0" cy="0"/>
        </a:xfrm>
      </p:grpSpPr>
      <p:sp>
        <p:nvSpPr>
          <p:cNvPr id="137" name="Google Shape;137;p8"/>
          <p:cNvSpPr txBox="1"/>
          <p:nvPr>
            <p:ph type="title"/>
          </p:nvPr>
        </p:nvSpPr>
        <p:spPr>
          <a:xfrm>
            <a:off x="486092" y="312038"/>
            <a:ext cx="1052195" cy="382797"/>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IN" sz="2400" u="none">
                <a:solidFill>
                  <a:schemeClr val="dk1"/>
                </a:solidFill>
              </a:rPr>
              <a:t>Tools</a:t>
            </a:r>
            <a:endParaRPr/>
          </a:p>
        </p:txBody>
      </p:sp>
      <p:pic>
        <p:nvPicPr>
          <p:cNvPr id="138" name="Google Shape;138;p8"/>
          <p:cNvPicPr preferRelativeResize="0"/>
          <p:nvPr/>
        </p:nvPicPr>
        <p:blipFill rotWithShape="1">
          <a:blip r:embed="rId3">
            <a:alphaModFix/>
          </a:blip>
          <a:srcRect b="0" l="0" r="0" t="0"/>
          <a:stretch/>
        </p:blipFill>
        <p:spPr>
          <a:xfrm>
            <a:off x="314325" y="1343025"/>
            <a:ext cx="1085850" cy="1190625"/>
          </a:xfrm>
          <a:prstGeom prst="rect">
            <a:avLst/>
          </a:prstGeom>
          <a:noFill/>
          <a:ln>
            <a:noFill/>
          </a:ln>
        </p:spPr>
      </p:pic>
      <p:pic>
        <p:nvPicPr>
          <p:cNvPr id="139" name="Google Shape;139;p8"/>
          <p:cNvPicPr preferRelativeResize="0"/>
          <p:nvPr/>
        </p:nvPicPr>
        <p:blipFill rotWithShape="1">
          <a:blip r:embed="rId4">
            <a:alphaModFix/>
          </a:blip>
          <a:srcRect b="0" l="0" r="0" t="0"/>
          <a:stretch/>
        </p:blipFill>
        <p:spPr>
          <a:xfrm>
            <a:off x="1685925" y="1447800"/>
            <a:ext cx="2162175" cy="1085850"/>
          </a:xfrm>
          <a:prstGeom prst="rect">
            <a:avLst/>
          </a:prstGeom>
          <a:noFill/>
          <a:ln>
            <a:noFill/>
          </a:ln>
        </p:spPr>
      </p:pic>
      <p:pic>
        <p:nvPicPr>
          <p:cNvPr id="140" name="Google Shape;140;p8"/>
          <p:cNvPicPr preferRelativeResize="0"/>
          <p:nvPr/>
        </p:nvPicPr>
        <p:blipFill rotWithShape="1">
          <a:blip r:embed="rId5">
            <a:alphaModFix/>
          </a:blip>
          <a:srcRect b="0" l="0" r="0" t="0"/>
          <a:stretch/>
        </p:blipFill>
        <p:spPr>
          <a:xfrm>
            <a:off x="4229100" y="1314450"/>
            <a:ext cx="2152650" cy="1247775"/>
          </a:xfrm>
          <a:prstGeom prst="rect">
            <a:avLst/>
          </a:prstGeom>
          <a:noFill/>
          <a:ln>
            <a:noFill/>
          </a:ln>
        </p:spPr>
      </p:pic>
      <p:pic>
        <p:nvPicPr>
          <p:cNvPr id="141" name="Google Shape;141;p8"/>
          <p:cNvPicPr preferRelativeResize="0"/>
          <p:nvPr/>
        </p:nvPicPr>
        <p:blipFill rotWithShape="1">
          <a:blip r:embed="rId6">
            <a:alphaModFix/>
          </a:blip>
          <a:srcRect b="0" l="0" r="0" t="0"/>
          <a:stretch/>
        </p:blipFill>
        <p:spPr>
          <a:xfrm>
            <a:off x="5324475" y="4429125"/>
            <a:ext cx="2676525" cy="723900"/>
          </a:xfrm>
          <a:prstGeom prst="rect">
            <a:avLst/>
          </a:prstGeom>
          <a:noFill/>
          <a:ln>
            <a:noFill/>
          </a:ln>
        </p:spPr>
      </p:pic>
      <p:pic>
        <p:nvPicPr>
          <p:cNvPr id="142" name="Google Shape;142;p8"/>
          <p:cNvPicPr preferRelativeResize="0"/>
          <p:nvPr/>
        </p:nvPicPr>
        <p:blipFill rotWithShape="1">
          <a:blip r:embed="rId7">
            <a:alphaModFix/>
          </a:blip>
          <a:srcRect b="0" l="0" r="0" t="0"/>
          <a:stretch/>
        </p:blipFill>
        <p:spPr>
          <a:xfrm>
            <a:off x="5324475" y="5438775"/>
            <a:ext cx="2600325" cy="714375"/>
          </a:xfrm>
          <a:prstGeom prst="rect">
            <a:avLst/>
          </a:prstGeom>
          <a:noFill/>
          <a:ln>
            <a:noFill/>
          </a:ln>
        </p:spPr>
      </p:pic>
      <p:pic>
        <p:nvPicPr>
          <p:cNvPr id="143" name="Google Shape;143;p8"/>
          <p:cNvPicPr preferRelativeResize="0"/>
          <p:nvPr/>
        </p:nvPicPr>
        <p:blipFill rotWithShape="1">
          <a:blip r:embed="rId8">
            <a:alphaModFix/>
          </a:blip>
          <a:srcRect b="0" l="0" r="0" t="0"/>
          <a:stretch/>
        </p:blipFill>
        <p:spPr>
          <a:xfrm>
            <a:off x="2295525" y="4429125"/>
            <a:ext cx="2390775" cy="1447800"/>
          </a:xfrm>
          <a:prstGeom prst="rect">
            <a:avLst/>
          </a:prstGeom>
          <a:noFill/>
          <a:ln>
            <a:noFill/>
          </a:ln>
        </p:spPr>
      </p:pic>
      <p:pic>
        <p:nvPicPr>
          <p:cNvPr id="144" name="Google Shape;144;p8"/>
          <p:cNvPicPr preferRelativeResize="0"/>
          <p:nvPr/>
        </p:nvPicPr>
        <p:blipFill rotWithShape="1">
          <a:blip r:embed="rId9">
            <a:alphaModFix/>
          </a:blip>
          <a:srcRect b="0" l="0" r="0" t="0"/>
          <a:stretch/>
        </p:blipFill>
        <p:spPr>
          <a:xfrm>
            <a:off x="228600" y="2847975"/>
            <a:ext cx="3800475" cy="542925"/>
          </a:xfrm>
          <a:prstGeom prst="rect">
            <a:avLst/>
          </a:prstGeom>
          <a:noFill/>
          <a:ln>
            <a:noFill/>
          </a:ln>
        </p:spPr>
      </p:pic>
      <p:pic>
        <p:nvPicPr>
          <p:cNvPr id="145" name="Google Shape;145;p8"/>
          <p:cNvPicPr preferRelativeResize="0"/>
          <p:nvPr/>
        </p:nvPicPr>
        <p:blipFill rotWithShape="1">
          <a:blip r:embed="rId10">
            <a:alphaModFix/>
          </a:blip>
          <a:srcRect b="0" l="0" r="0" t="0"/>
          <a:stretch/>
        </p:blipFill>
        <p:spPr>
          <a:xfrm>
            <a:off x="4391025" y="2800350"/>
            <a:ext cx="1228725" cy="1447800"/>
          </a:xfrm>
          <a:prstGeom prst="rect">
            <a:avLst/>
          </a:prstGeom>
          <a:noFill/>
          <a:ln>
            <a:noFill/>
          </a:ln>
        </p:spPr>
      </p:pic>
      <p:pic>
        <p:nvPicPr>
          <p:cNvPr id="146" name="Google Shape;146;p8"/>
          <p:cNvPicPr preferRelativeResize="0"/>
          <p:nvPr/>
        </p:nvPicPr>
        <p:blipFill rotWithShape="1">
          <a:blip r:embed="rId11">
            <a:alphaModFix/>
          </a:blip>
          <a:srcRect b="0" l="0" r="0" t="0"/>
          <a:stretch/>
        </p:blipFill>
        <p:spPr>
          <a:xfrm>
            <a:off x="561975" y="3524250"/>
            <a:ext cx="1323975" cy="1438275"/>
          </a:xfrm>
          <a:prstGeom prst="rect">
            <a:avLst/>
          </a:prstGeom>
          <a:noFill/>
          <a:ln>
            <a:noFill/>
          </a:ln>
        </p:spPr>
      </p:pic>
      <p:pic>
        <p:nvPicPr>
          <p:cNvPr id="147" name="Google Shape;147;p8"/>
          <p:cNvPicPr preferRelativeResize="0"/>
          <p:nvPr/>
        </p:nvPicPr>
        <p:blipFill rotWithShape="1">
          <a:blip r:embed="rId12">
            <a:alphaModFix/>
          </a:blip>
          <a:srcRect b="0" l="0" r="0" t="0"/>
          <a:stretch/>
        </p:blipFill>
        <p:spPr>
          <a:xfrm>
            <a:off x="6905625" y="1343025"/>
            <a:ext cx="1619250" cy="723900"/>
          </a:xfrm>
          <a:prstGeom prst="rect">
            <a:avLst/>
          </a:prstGeom>
          <a:noFill/>
          <a:ln>
            <a:noFill/>
          </a:ln>
        </p:spPr>
      </p:pic>
      <p:pic>
        <p:nvPicPr>
          <p:cNvPr id="148" name="Google Shape;148;p8"/>
          <p:cNvPicPr preferRelativeResize="0"/>
          <p:nvPr/>
        </p:nvPicPr>
        <p:blipFill rotWithShape="1">
          <a:blip r:embed="rId13">
            <a:alphaModFix/>
          </a:blip>
          <a:srcRect b="0" l="0" r="0" t="0"/>
          <a:stretch/>
        </p:blipFill>
        <p:spPr>
          <a:xfrm>
            <a:off x="7048500" y="2295525"/>
            <a:ext cx="1219200" cy="1076325"/>
          </a:xfrm>
          <a:prstGeom prst="rect">
            <a:avLst/>
          </a:prstGeom>
          <a:noFill/>
          <a:ln>
            <a:noFill/>
          </a:ln>
        </p:spPr>
      </p:pic>
      <p:pic>
        <p:nvPicPr>
          <p:cNvPr id="149" name="Google Shape;149;p8"/>
          <p:cNvPicPr preferRelativeResize="0"/>
          <p:nvPr/>
        </p:nvPicPr>
        <p:blipFill rotWithShape="1">
          <a:blip r:embed="rId14">
            <a:alphaModFix/>
          </a:blip>
          <a:srcRect b="0" l="0" r="0" t="0"/>
          <a:stretch/>
        </p:blipFill>
        <p:spPr>
          <a:xfrm>
            <a:off x="8848725" y="1343025"/>
            <a:ext cx="742950" cy="1085850"/>
          </a:xfrm>
          <a:prstGeom prst="rect">
            <a:avLst/>
          </a:prstGeom>
          <a:noFill/>
          <a:ln>
            <a:noFill/>
          </a:ln>
        </p:spPr>
      </p:pic>
      <p:pic>
        <p:nvPicPr>
          <p:cNvPr id="150" name="Google Shape;150;p8"/>
          <p:cNvPicPr preferRelativeResize="0"/>
          <p:nvPr/>
        </p:nvPicPr>
        <p:blipFill rotWithShape="1">
          <a:blip r:embed="rId15">
            <a:alphaModFix/>
          </a:blip>
          <a:srcRect b="0" l="0" r="0" t="0"/>
          <a:stretch/>
        </p:blipFill>
        <p:spPr>
          <a:xfrm>
            <a:off x="8829675" y="2800350"/>
            <a:ext cx="762000" cy="1085850"/>
          </a:xfrm>
          <a:prstGeom prst="rect">
            <a:avLst/>
          </a:prstGeom>
          <a:noFill/>
          <a:ln>
            <a:noFill/>
          </a:ln>
        </p:spPr>
      </p:pic>
      <p:pic>
        <p:nvPicPr>
          <p:cNvPr id="151" name="Google Shape;151;p8"/>
          <p:cNvPicPr preferRelativeResize="0"/>
          <p:nvPr/>
        </p:nvPicPr>
        <p:blipFill rotWithShape="1">
          <a:blip r:embed="rId16">
            <a:alphaModFix/>
          </a:blip>
          <a:srcRect b="0" l="0" r="0" t="0"/>
          <a:stretch/>
        </p:blipFill>
        <p:spPr>
          <a:xfrm>
            <a:off x="8848725" y="4276725"/>
            <a:ext cx="790575" cy="1085850"/>
          </a:xfrm>
          <a:prstGeom prst="rect">
            <a:avLst/>
          </a:prstGeom>
          <a:noFill/>
          <a:ln>
            <a:noFill/>
          </a:ln>
        </p:spPr>
      </p:pic>
      <p:pic>
        <p:nvPicPr>
          <p:cNvPr id="152" name="Google Shape;152;p8"/>
          <p:cNvPicPr preferRelativeResize="0"/>
          <p:nvPr/>
        </p:nvPicPr>
        <p:blipFill rotWithShape="1">
          <a:blip r:embed="rId17">
            <a:alphaModFix/>
          </a:blip>
          <a:srcRect b="0" l="0" r="0" t="0"/>
          <a:stretch/>
        </p:blipFill>
        <p:spPr>
          <a:xfrm>
            <a:off x="8572500" y="5724523"/>
            <a:ext cx="1076325" cy="1085850"/>
          </a:xfrm>
          <a:prstGeom prst="rect">
            <a:avLst/>
          </a:prstGeom>
          <a:noFill/>
          <a:ln>
            <a:noFill/>
          </a:ln>
        </p:spPr>
      </p:pic>
      <p:pic>
        <p:nvPicPr>
          <p:cNvPr id="153" name="Google Shape;153;p8"/>
          <p:cNvPicPr preferRelativeResize="0"/>
          <p:nvPr/>
        </p:nvPicPr>
        <p:blipFill rotWithShape="1">
          <a:blip r:embed="rId18">
            <a:alphaModFix/>
          </a:blip>
          <a:srcRect b="0" l="0" r="0" t="0"/>
          <a:stretch/>
        </p:blipFill>
        <p:spPr>
          <a:xfrm>
            <a:off x="542925" y="5153025"/>
            <a:ext cx="1438275" cy="1438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7" name="Shape 157"/>
        <p:cNvGrpSpPr/>
        <p:nvPr/>
      </p:nvGrpSpPr>
      <p:grpSpPr>
        <a:xfrm>
          <a:off x="0" y="0"/>
          <a:ext cx="0" cy="0"/>
          <a:chOff x="0" y="0"/>
          <a:chExt cx="0" cy="0"/>
        </a:xfrm>
      </p:grpSpPr>
      <p:sp>
        <p:nvSpPr>
          <p:cNvPr id="158" name="Google Shape;158;p9"/>
          <p:cNvSpPr txBox="1"/>
          <p:nvPr/>
        </p:nvSpPr>
        <p:spPr>
          <a:xfrm>
            <a:off x="353377" y="230441"/>
            <a:ext cx="2169795" cy="895985"/>
          </a:xfrm>
          <a:prstGeom prst="rect">
            <a:avLst/>
          </a:prstGeom>
          <a:noFill/>
          <a:ln>
            <a:noFill/>
          </a:ln>
        </p:spPr>
        <p:txBody>
          <a:bodyPr anchorCtr="0" anchor="t" bIns="0" lIns="0" spcFirstLastPara="1" rIns="0" wrap="square" tIns="15875">
            <a:spAutoFit/>
          </a:bodyPr>
          <a:lstStyle/>
          <a:p>
            <a:pPr indent="0" lvl="0" marL="0" rtl="0" algn="ctr">
              <a:lnSpc>
                <a:spcPct val="100000"/>
              </a:lnSpc>
              <a:spcBef>
                <a:spcPts val="0"/>
              </a:spcBef>
              <a:spcAft>
                <a:spcPts val="0"/>
              </a:spcAft>
              <a:buNone/>
            </a:pPr>
            <a:r>
              <a:rPr b="1" lang="en-IN" sz="2000">
                <a:solidFill>
                  <a:schemeClr val="dk1"/>
                </a:solidFill>
                <a:latin typeface="Times New Roman"/>
                <a:ea typeface="Times New Roman"/>
                <a:cs typeface="Times New Roman"/>
                <a:sym typeface="Times New Roman"/>
              </a:rPr>
              <a:t>DESIGN DETAILS</a:t>
            </a:r>
            <a:endParaRPr sz="2000">
              <a:solidFill>
                <a:schemeClr val="dk1"/>
              </a:solidFill>
              <a:latin typeface="Times New Roman"/>
              <a:ea typeface="Times New Roman"/>
              <a:cs typeface="Times New Roman"/>
              <a:sym typeface="Times New Roman"/>
            </a:endParaRPr>
          </a:p>
          <a:p>
            <a:pPr indent="0" lvl="0" marL="4445" rtl="0" algn="ctr">
              <a:lnSpc>
                <a:spcPct val="100000"/>
              </a:lnSpc>
              <a:spcBef>
                <a:spcPts val="2020"/>
              </a:spcBef>
              <a:spcAft>
                <a:spcPts val="0"/>
              </a:spcAft>
              <a:buNone/>
            </a:pPr>
            <a:r>
              <a:rPr b="1" lang="en-IN" sz="2000">
                <a:solidFill>
                  <a:schemeClr val="dk1"/>
                </a:solidFill>
                <a:latin typeface="Times New Roman"/>
                <a:ea typeface="Times New Roman"/>
                <a:cs typeface="Times New Roman"/>
                <a:sym typeface="Times New Roman"/>
              </a:rPr>
              <a:t>Architecture</a:t>
            </a:r>
            <a:endParaRPr sz="2000">
              <a:solidFill>
                <a:schemeClr val="dk1"/>
              </a:solidFill>
              <a:latin typeface="Times New Roman"/>
              <a:ea typeface="Times New Roman"/>
              <a:cs typeface="Times New Roman"/>
              <a:sym typeface="Times New Roman"/>
            </a:endParaRPr>
          </a:p>
        </p:txBody>
      </p:sp>
      <p:pic>
        <p:nvPicPr>
          <p:cNvPr id="159" name="Google Shape;159;p9"/>
          <p:cNvPicPr preferRelativeResize="0"/>
          <p:nvPr/>
        </p:nvPicPr>
        <p:blipFill rotWithShape="1">
          <a:blip r:embed="rId3">
            <a:alphaModFix/>
          </a:blip>
          <a:srcRect b="0" l="0" r="0" t="0"/>
          <a:stretch/>
        </p:blipFill>
        <p:spPr>
          <a:xfrm>
            <a:off x="3352800" y="209550"/>
            <a:ext cx="6172200" cy="62293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3" name="Shape 163"/>
        <p:cNvGrpSpPr/>
        <p:nvPr/>
      </p:nvGrpSpPr>
      <p:grpSpPr>
        <a:xfrm>
          <a:off x="0" y="0"/>
          <a:ext cx="0" cy="0"/>
          <a:chOff x="0" y="0"/>
          <a:chExt cx="0" cy="0"/>
        </a:xfrm>
      </p:grpSpPr>
      <p:pic>
        <p:nvPicPr>
          <p:cNvPr id="164" name="Google Shape;164;p10"/>
          <p:cNvPicPr preferRelativeResize="0"/>
          <p:nvPr/>
        </p:nvPicPr>
        <p:blipFill rotWithShape="1">
          <a:blip r:embed="rId3">
            <a:alphaModFix/>
          </a:blip>
          <a:srcRect b="0" l="0" r="0" t="0"/>
          <a:stretch/>
        </p:blipFill>
        <p:spPr>
          <a:xfrm>
            <a:off x="209550" y="1114425"/>
            <a:ext cx="10077450" cy="4972050"/>
          </a:xfrm>
          <a:prstGeom prst="rect">
            <a:avLst/>
          </a:prstGeom>
          <a:noFill/>
          <a:ln>
            <a:noFill/>
          </a:ln>
        </p:spPr>
      </p:pic>
      <p:sp>
        <p:nvSpPr>
          <p:cNvPr id="165" name="Google Shape;165;p10"/>
          <p:cNvSpPr txBox="1"/>
          <p:nvPr>
            <p:ph type="title"/>
          </p:nvPr>
        </p:nvSpPr>
        <p:spPr>
          <a:xfrm>
            <a:off x="314007" y="64135"/>
            <a:ext cx="11563984" cy="494943"/>
          </a:xfrm>
          <a:prstGeom prst="rect">
            <a:avLst/>
          </a:prstGeom>
          <a:noFill/>
          <a:ln>
            <a:noFill/>
          </a:ln>
        </p:spPr>
        <p:txBody>
          <a:bodyPr anchorCtr="0" anchor="t" bIns="0" lIns="0" spcFirstLastPara="1" rIns="0" wrap="square" tIns="185350">
            <a:spAutoFit/>
          </a:bodyPr>
          <a:lstStyle/>
          <a:p>
            <a:pPr indent="0" lvl="0" marL="154940" rtl="0" algn="l">
              <a:lnSpc>
                <a:spcPct val="100000"/>
              </a:lnSpc>
              <a:spcBef>
                <a:spcPts val="0"/>
              </a:spcBef>
              <a:spcAft>
                <a:spcPts val="0"/>
              </a:spcAft>
              <a:buNone/>
            </a:pPr>
            <a:r>
              <a:rPr lang="en-IN" sz="2000" u="none">
                <a:solidFill>
                  <a:schemeClr val="dk1"/>
                </a:solidFill>
              </a:rPr>
              <a:t>Process Flow</a:t>
            </a:r>
            <a:endParaRPr sz="2000" u="none">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9" name="Shape 169"/>
        <p:cNvGrpSpPr/>
        <p:nvPr/>
      </p:nvGrpSpPr>
      <p:grpSpPr>
        <a:xfrm>
          <a:off x="0" y="0"/>
          <a:ext cx="0" cy="0"/>
          <a:chOff x="0" y="0"/>
          <a:chExt cx="0" cy="0"/>
        </a:xfrm>
      </p:grpSpPr>
      <p:sp>
        <p:nvSpPr>
          <p:cNvPr id="170" name="Google Shape;170;p11"/>
          <p:cNvSpPr txBox="1"/>
          <p:nvPr>
            <p:ph type="title"/>
          </p:nvPr>
        </p:nvSpPr>
        <p:spPr>
          <a:xfrm>
            <a:off x="314007" y="64135"/>
            <a:ext cx="11563984" cy="494943"/>
          </a:xfrm>
          <a:prstGeom prst="rect">
            <a:avLst/>
          </a:prstGeom>
          <a:noFill/>
          <a:ln>
            <a:noFill/>
          </a:ln>
        </p:spPr>
        <p:txBody>
          <a:bodyPr anchorCtr="0" anchor="t" bIns="0" lIns="0" spcFirstLastPara="1" rIns="0" wrap="square" tIns="185350">
            <a:spAutoFit/>
          </a:bodyPr>
          <a:lstStyle/>
          <a:p>
            <a:pPr indent="0" lvl="0" marL="154940" rtl="0" algn="l">
              <a:lnSpc>
                <a:spcPct val="100000"/>
              </a:lnSpc>
              <a:spcBef>
                <a:spcPts val="0"/>
              </a:spcBef>
              <a:spcAft>
                <a:spcPts val="0"/>
              </a:spcAft>
              <a:buNone/>
            </a:pPr>
            <a:r>
              <a:rPr lang="en-IN" sz="2000" u="none">
                <a:solidFill>
                  <a:schemeClr val="dk1"/>
                </a:solidFill>
              </a:rPr>
              <a:t>Model Training &amp; Evaluation</a:t>
            </a:r>
            <a:endParaRPr sz="2000" u="none">
              <a:solidFill>
                <a:schemeClr val="dk1"/>
              </a:solidFill>
            </a:endParaRPr>
          </a:p>
        </p:txBody>
      </p:sp>
      <p:pic>
        <p:nvPicPr>
          <p:cNvPr id="171" name="Google Shape;171;p11"/>
          <p:cNvPicPr preferRelativeResize="0"/>
          <p:nvPr/>
        </p:nvPicPr>
        <p:blipFill rotWithShape="1">
          <a:blip r:embed="rId3">
            <a:alphaModFix/>
          </a:blip>
          <a:srcRect b="0" l="0" r="0" t="0"/>
          <a:stretch/>
        </p:blipFill>
        <p:spPr>
          <a:xfrm>
            <a:off x="533400" y="876300"/>
            <a:ext cx="8639175" cy="5772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5" name="Shape 175"/>
        <p:cNvGrpSpPr/>
        <p:nvPr/>
      </p:nvGrpSpPr>
      <p:grpSpPr>
        <a:xfrm>
          <a:off x="0" y="0"/>
          <a:ext cx="0" cy="0"/>
          <a:chOff x="0" y="0"/>
          <a:chExt cx="0" cy="0"/>
        </a:xfrm>
      </p:grpSpPr>
      <p:sp>
        <p:nvSpPr>
          <p:cNvPr id="176" name="Google Shape;176;p12"/>
          <p:cNvSpPr txBox="1"/>
          <p:nvPr>
            <p:ph type="title"/>
          </p:nvPr>
        </p:nvSpPr>
        <p:spPr>
          <a:xfrm>
            <a:off x="314007" y="64135"/>
            <a:ext cx="11563984" cy="494943"/>
          </a:xfrm>
          <a:prstGeom prst="rect">
            <a:avLst/>
          </a:prstGeom>
          <a:noFill/>
          <a:ln>
            <a:noFill/>
          </a:ln>
        </p:spPr>
        <p:txBody>
          <a:bodyPr anchorCtr="0" anchor="t" bIns="0" lIns="0" spcFirstLastPara="1" rIns="0" wrap="square" tIns="185350">
            <a:spAutoFit/>
          </a:bodyPr>
          <a:lstStyle/>
          <a:p>
            <a:pPr indent="0" lvl="0" marL="154940" rtl="0" algn="l">
              <a:lnSpc>
                <a:spcPct val="100000"/>
              </a:lnSpc>
              <a:spcBef>
                <a:spcPts val="0"/>
              </a:spcBef>
              <a:spcAft>
                <a:spcPts val="0"/>
              </a:spcAft>
              <a:buNone/>
            </a:pPr>
            <a:r>
              <a:rPr lang="en-IN" sz="2000" u="none">
                <a:solidFill>
                  <a:schemeClr val="dk1"/>
                </a:solidFill>
              </a:rPr>
              <a:t>Workflow of Deployment Process</a:t>
            </a:r>
            <a:endParaRPr sz="2000" u="none">
              <a:solidFill>
                <a:schemeClr val="dk1"/>
              </a:solidFill>
            </a:endParaRPr>
          </a:p>
        </p:txBody>
      </p:sp>
      <p:pic>
        <p:nvPicPr>
          <p:cNvPr id="177" name="Google Shape;177;p12"/>
          <p:cNvPicPr preferRelativeResize="0"/>
          <p:nvPr/>
        </p:nvPicPr>
        <p:blipFill rotWithShape="1">
          <a:blip r:embed="rId3">
            <a:alphaModFix/>
          </a:blip>
          <a:srcRect b="0" l="0" r="0" t="0"/>
          <a:stretch/>
        </p:blipFill>
        <p:spPr>
          <a:xfrm>
            <a:off x="542925" y="1209675"/>
            <a:ext cx="8639175" cy="34956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1" name="Shape 181"/>
        <p:cNvGrpSpPr/>
        <p:nvPr/>
      </p:nvGrpSpPr>
      <p:grpSpPr>
        <a:xfrm>
          <a:off x="0" y="0"/>
          <a:ext cx="0" cy="0"/>
          <a:chOff x="0" y="0"/>
          <a:chExt cx="0" cy="0"/>
        </a:xfrm>
      </p:grpSpPr>
      <p:sp>
        <p:nvSpPr>
          <p:cNvPr id="182" name="Google Shape;182;p13"/>
          <p:cNvSpPr txBox="1"/>
          <p:nvPr>
            <p:ph type="title"/>
          </p:nvPr>
        </p:nvSpPr>
        <p:spPr>
          <a:xfrm>
            <a:off x="5570220" y="180022"/>
            <a:ext cx="2220595" cy="334645"/>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en-IN" sz="2000" u="none">
                <a:solidFill>
                  <a:schemeClr val="dk1"/>
                </a:solidFill>
              </a:rPr>
              <a:t>Workflow Overview</a:t>
            </a:r>
            <a:endParaRPr sz="2000" u="none">
              <a:solidFill>
                <a:schemeClr val="dk1"/>
              </a:solidFill>
            </a:endParaRPr>
          </a:p>
        </p:txBody>
      </p:sp>
      <p:sp>
        <p:nvSpPr>
          <p:cNvPr id="183" name="Google Shape;183;p13"/>
          <p:cNvSpPr txBox="1"/>
          <p:nvPr/>
        </p:nvSpPr>
        <p:spPr>
          <a:xfrm>
            <a:off x="5570220" y="690562"/>
            <a:ext cx="4494530" cy="5702935"/>
          </a:xfrm>
          <a:prstGeom prst="rect">
            <a:avLst/>
          </a:prstGeom>
          <a:noFill/>
          <a:ln>
            <a:noFill/>
          </a:ln>
        </p:spPr>
        <p:txBody>
          <a:bodyPr anchorCtr="0" anchor="t" bIns="0" lIns="0" spcFirstLastPara="1" rIns="0" wrap="square" tIns="58400">
            <a:spAutoFit/>
          </a:bodyPr>
          <a:lstStyle/>
          <a:p>
            <a:pPr indent="-342900" lvl="0" marL="355600" marR="429259" rtl="0" algn="just">
              <a:lnSpc>
                <a:spcPct val="82100"/>
              </a:lnSpc>
              <a:spcBef>
                <a:spcPts val="0"/>
              </a:spcBef>
              <a:spcAft>
                <a:spcPts val="0"/>
              </a:spcAft>
              <a:buClr>
                <a:srgbClr val="EB3C9F"/>
              </a:buClr>
              <a:buSzPts val="1250"/>
              <a:buFont typeface="Noto Sans Symbols"/>
              <a:buChar char="▪"/>
            </a:pPr>
            <a:r>
              <a:rPr lang="en-IN" sz="1550">
                <a:solidFill>
                  <a:srgbClr val="404040"/>
                </a:solidFill>
                <a:latin typeface="Times New Roman"/>
                <a:ea typeface="Times New Roman"/>
                <a:cs typeface="Times New Roman"/>
                <a:sym typeface="Times New Roman"/>
              </a:rPr>
              <a:t>Firstly, the data of the database has been uploaded to MongoDB and has been successfully retrieved from MongoDB, in the form of a CSV File.</a:t>
            </a:r>
            <a:endParaRPr sz="1550">
              <a:latin typeface="Times New Roman"/>
              <a:ea typeface="Times New Roman"/>
              <a:cs typeface="Times New Roman"/>
              <a:sym typeface="Times New Roman"/>
            </a:endParaRPr>
          </a:p>
          <a:p>
            <a:pPr indent="-342900" lvl="0" marL="355600" marR="170815" rtl="0" algn="just">
              <a:lnSpc>
                <a:spcPct val="82100"/>
              </a:lnSpc>
              <a:spcBef>
                <a:spcPts val="1025"/>
              </a:spcBef>
              <a:spcAft>
                <a:spcPts val="0"/>
              </a:spcAft>
              <a:buClr>
                <a:srgbClr val="EB3C9F"/>
              </a:buClr>
              <a:buSzPts val="1250"/>
              <a:buFont typeface="Noto Sans Symbols"/>
              <a:buChar char="▪"/>
            </a:pPr>
            <a:r>
              <a:rPr lang="en-IN" sz="1550">
                <a:solidFill>
                  <a:srgbClr val="404040"/>
                </a:solidFill>
                <a:latin typeface="Times New Roman"/>
                <a:ea typeface="Times New Roman"/>
                <a:cs typeface="Times New Roman"/>
                <a:sym typeface="Times New Roman"/>
              </a:rPr>
              <a:t>The dataset was checked for value consistency and the duplicated values were dropped and missing value imputation was performed.</a:t>
            </a:r>
            <a:endParaRPr sz="1550">
              <a:latin typeface="Times New Roman"/>
              <a:ea typeface="Times New Roman"/>
              <a:cs typeface="Times New Roman"/>
              <a:sym typeface="Times New Roman"/>
            </a:endParaRPr>
          </a:p>
          <a:p>
            <a:pPr indent="-342265" lvl="0" marL="354965" rtl="0" algn="just">
              <a:lnSpc>
                <a:spcPct val="100000"/>
              </a:lnSpc>
              <a:spcBef>
                <a:spcPts val="690"/>
              </a:spcBef>
              <a:spcAft>
                <a:spcPts val="0"/>
              </a:spcAft>
              <a:buClr>
                <a:srgbClr val="EB3C9F"/>
              </a:buClr>
              <a:buSzPts val="1250"/>
              <a:buFont typeface="Noto Sans Symbols"/>
              <a:buChar char="▪"/>
            </a:pPr>
            <a:r>
              <a:rPr lang="en-IN" sz="1550">
                <a:solidFill>
                  <a:srgbClr val="404040"/>
                </a:solidFill>
                <a:latin typeface="Times New Roman"/>
                <a:ea typeface="Times New Roman"/>
                <a:cs typeface="Times New Roman"/>
                <a:sym typeface="Times New Roman"/>
              </a:rPr>
              <a:t>Data encoding was also done.</a:t>
            </a:r>
            <a:endParaRPr sz="1550">
              <a:latin typeface="Times New Roman"/>
              <a:ea typeface="Times New Roman"/>
              <a:cs typeface="Times New Roman"/>
              <a:sym typeface="Times New Roman"/>
            </a:endParaRPr>
          </a:p>
          <a:p>
            <a:pPr indent="-342900" lvl="0" marL="355600" marR="379730" rtl="0" algn="just">
              <a:lnSpc>
                <a:spcPct val="96774"/>
              </a:lnSpc>
              <a:spcBef>
                <a:spcPts val="1045"/>
              </a:spcBef>
              <a:spcAft>
                <a:spcPts val="0"/>
              </a:spcAft>
              <a:buClr>
                <a:srgbClr val="EB3C9F"/>
              </a:buClr>
              <a:buSzPts val="1250"/>
              <a:buFont typeface="Noto Sans Symbols"/>
              <a:buChar char="▪"/>
            </a:pPr>
            <a:r>
              <a:rPr lang="en-IN" sz="1550">
                <a:solidFill>
                  <a:srgbClr val="404040"/>
                </a:solidFill>
                <a:latin typeface="Times New Roman"/>
                <a:ea typeface="Times New Roman"/>
                <a:cs typeface="Times New Roman"/>
                <a:sym typeface="Times New Roman"/>
              </a:rPr>
              <a:t>Exploratory Data Analysis (EDA) was performed.</a:t>
            </a:r>
            <a:endParaRPr sz="1550">
              <a:latin typeface="Times New Roman"/>
              <a:ea typeface="Times New Roman"/>
              <a:cs typeface="Times New Roman"/>
              <a:sym typeface="Times New Roman"/>
            </a:endParaRPr>
          </a:p>
          <a:p>
            <a:pPr indent="-342265" lvl="0" marL="354965" rtl="0" algn="just">
              <a:lnSpc>
                <a:spcPct val="100000"/>
              </a:lnSpc>
              <a:spcBef>
                <a:spcPts val="705"/>
              </a:spcBef>
              <a:spcAft>
                <a:spcPts val="0"/>
              </a:spcAft>
              <a:buClr>
                <a:srgbClr val="EB3C9F"/>
              </a:buClr>
              <a:buSzPts val="1250"/>
              <a:buFont typeface="Noto Sans Symbols"/>
              <a:buChar char="▪"/>
            </a:pPr>
            <a:r>
              <a:rPr lang="en-IN" sz="1550">
                <a:solidFill>
                  <a:srgbClr val="404040"/>
                </a:solidFill>
                <a:latin typeface="Times New Roman"/>
                <a:ea typeface="Times New Roman"/>
                <a:cs typeface="Times New Roman"/>
                <a:sym typeface="Times New Roman"/>
              </a:rPr>
              <a:t>The Class Imbalance was handled.</a:t>
            </a:r>
            <a:endParaRPr sz="1550">
              <a:latin typeface="Times New Roman"/>
              <a:ea typeface="Times New Roman"/>
              <a:cs typeface="Times New Roman"/>
              <a:sym typeface="Times New Roman"/>
            </a:endParaRPr>
          </a:p>
          <a:p>
            <a:pPr indent="-342900" lvl="0" marL="355600" marR="527685" rtl="0" algn="just">
              <a:lnSpc>
                <a:spcPct val="96774"/>
              </a:lnSpc>
              <a:spcBef>
                <a:spcPts val="1045"/>
              </a:spcBef>
              <a:spcAft>
                <a:spcPts val="0"/>
              </a:spcAft>
              <a:buClr>
                <a:srgbClr val="EB3C9F"/>
              </a:buClr>
              <a:buSzPts val="1250"/>
              <a:buFont typeface="Noto Sans Symbols"/>
              <a:buChar char="▪"/>
            </a:pPr>
            <a:r>
              <a:rPr lang="en-IN" sz="1550">
                <a:solidFill>
                  <a:srgbClr val="404040"/>
                </a:solidFill>
                <a:latin typeface="Times New Roman"/>
                <a:ea typeface="Times New Roman"/>
                <a:cs typeface="Times New Roman"/>
                <a:sym typeface="Times New Roman"/>
              </a:rPr>
              <a:t>The dataset was split into Training Dataset and Test Dataset.</a:t>
            </a:r>
            <a:endParaRPr sz="1550">
              <a:latin typeface="Times New Roman"/>
              <a:ea typeface="Times New Roman"/>
              <a:cs typeface="Times New Roman"/>
              <a:sym typeface="Times New Roman"/>
            </a:endParaRPr>
          </a:p>
          <a:p>
            <a:pPr indent="-342900" lvl="0" marL="355600" marR="23495" rtl="0" algn="just">
              <a:lnSpc>
                <a:spcPct val="96774"/>
              </a:lnSpc>
              <a:spcBef>
                <a:spcPts val="1130"/>
              </a:spcBef>
              <a:spcAft>
                <a:spcPts val="0"/>
              </a:spcAft>
              <a:buClr>
                <a:srgbClr val="EB3C9F"/>
              </a:buClr>
              <a:buSzPts val="1250"/>
              <a:buFont typeface="Noto Sans Symbols"/>
              <a:buChar char="▪"/>
            </a:pPr>
            <a:r>
              <a:rPr lang="en-IN" sz="1550">
                <a:solidFill>
                  <a:srgbClr val="404040"/>
                </a:solidFill>
                <a:latin typeface="Times New Roman"/>
                <a:ea typeface="Times New Roman"/>
                <a:cs typeface="Times New Roman"/>
                <a:sym typeface="Times New Roman"/>
              </a:rPr>
              <a:t>Using different algorithms, the dataset was trained, accompanied by Cross- Validation and Hyperparameter Tuning.</a:t>
            </a:r>
            <a:endParaRPr sz="1550">
              <a:latin typeface="Times New Roman"/>
              <a:ea typeface="Times New Roman"/>
              <a:cs typeface="Times New Roman"/>
              <a:sym typeface="Times New Roman"/>
            </a:endParaRPr>
          </a:p>
          <a:p>
            <a:pPr indent="-342265" lvl="0" marL="354965" rtl="0" algn="just">
              <a:lnSpc>
                <a:spcPct val="100000"/>
              </a:lnSpc>
              <a:spcBef>
                <a:spcPts val="705"/>
              </a:spcBef>
              <a:spcAft>
                <a:spcPts val="0"/>
              </a:spcAft>
              <a:buClr>
                <a:srgbClr val="EB3C9F"/>
              </a:buClr>
              <a:buSzPts val="1250"/>
              <a:buFont typeface="Noto Sans Symbols"/>
              <a:buChar char="▪"/>
            </a:pPr>
            <a:r>
              <a:rPr lang="en-IN" sz="1550">
                <a:solidFill>
                  <a:srgbClr val="404040"/>
                </a:solidFill>
                <a:latin typeface="Times New Roman"/>
                <a:ea typeface="Times New Roman"/>
                <a:cs typeface="Times New Roman"/>
                <a:sym typeface="Times New Roman"/>
              </a:rPr>
              <a:t>The Model Performance were evaluated.</a:t>
            </a:r>
            <a:endParaRPr sz="1550">
              <a:latin typeface="Times New Roman"/>
              <a:ea typeface="Times New Roman"/>
              <a:cs typeface="Times New Roman"/>
              <a:sym typeface="Times New Roman"/>
            </a:endParaRPr>
          </a:p>
          <a:p>
            <a:pPr indent="-342900" lvl="0" marL="355600" marR="259715" rtl="0" algn="just">
              <a:lnSpc>
                <a:spcPct val="82800"/>
              </a:lnSpc>
              <a:spcBef>
                <a:spcPts val="1015"/>
              </a:spcBef>
              <a:spcAft>
                <a:spcPts val="0"/>
              </a:spcAft>
              <a:buClr>
                <a:srgbClr val="EB3C9F"/>
              </a:buClr>
              <a:buSzPts val="1250"/>
              <a:buFont typeface="Noto Sans Symbols"/>
              <a:buChar char="▪"/>
            </a:pPr>
            <a:r>
              <a:rPr lang="en-IN" sz="1550">
                <a:solidFill>
                  <a:srgbClr val="404040"/>
                </a:solidFill>
                <a:latin typeface="Times New Roman"/>
                <a:ea typeface="Times New Roman"/>
                <a:cs typeface="Times New Roman"/>
                <a:sym typeface="Times New Roman"/>
              </a:rPr>
              <a:t>The Model with the best performance was saved in the form of a Pickle object.</a:t>
            </a:r>
            <a:endParaRPr sz="1550">
              <a:latin typeface="Times New Roman"/>
              <a:ea typeface="Times New Roman"/>
              <a:cs typeface="Times New Roman"/>
              <a:sym typeface="Times New Roman"/>
            </a:endParaRPr>
          </a:p>
          <a:p>
            <a:pPr indent="-342900" lvl="0" marL="355600" marR="430530" rtl="0" algn="just">
              <a:lnSpc>
                <a:spcPct val="96774"/>
              </a:lnSpc>
              <a:spcBef>
                <a:spcPts val="1045"/>
              </a:spcBef>
              <a:spcAft>
                <a:spcPts val="0"/>
              </a:spcAft>
              <a:buClr>
                <a:srgbClr val="EB3C9F"/>
              </a:buClr>
              <a:buSzPts val="1250"/>
              <a:buFont typeface="Noto Sans Symbols"/>
              <a:buChar char="▪"/>
            </a:pPr>
            <a:r>
              <a:rPr lang="en-IN" sz="1550">
                <a:solidFill>
                  <a:srgbClr val="404040"/>
                </a:solidFill>
                <a:latin typeface="Times New Roman"/>
                <a:ea typeface="Times New Roman"/>
                <a:cs typeface="Times New Roman"/>
                <a:sym typeface="Times New Roman"/>
              </a:rPr>
              <a:t>The Model was deployed on a cloud platform.</a:t>
            </a:r>
            <a:endParaRPr sz="1550">
              <a:latin typeface="Times New Roman"/>
              <a:ea typeface="Times New Roman"/>
              <a:cs typeface="Times New Roman"/>
              <a:sym typeface="Times New Roman"/>
            </a:endParaRPr>
          </a:p>
        </p:txBody>
      </p:sp>
      <p:grpSp>
        <p:nvGrpSpPr>
          <p:cNvPr id="184" name="Google Shape;184;p13"/>
          <p:cNvGrpSpPr/>
          <p:nvPr/>
        </p:nvGrpSpPr>
        <p:grpSpPr>
          <a:xfrm>
            <a:off x="0" y="0"/>
            <a:ext cx="5391149" cy="6857999"/>
            <a:chOff x="0" y="0"/>
            <a:chExt cx="5391149" cy="6857999"/>
          </a:xfrm>
        </p:grpSpPr>
        <p:pic>
          <p:nvPicPr>
            <p:cNvPr id="185" name="Google Shape;185;p13"/>
            <p:cNvPicPr preferRelativeResize="0"/>
            <p:nvPr/>
          </p:nvPicPr>
          <p:blipFill rotWithShape="1">
            <a:blip r:embed="rId3">
              <a:alphaModFix/>
            </a:blip>
            <a:srcRect b="0" l="0" r="0" t="0"/>
            <a:stretch/>
          </p:blipFill>
          <p:spPr>
            <a:xfrm>
              <a:off x="0" y="0"/>
              <a:ext cx="5391149" cy="6857999"/>
            </a:xfrm>
            <a:prstGeom prst="rect">
              <a:avLst/>
            </a:prstGeom>
            <a:noFill/>
            <a:ln>
              <a:noFill/>
            </a:ln>
          </p:spPr>
        </p:pic>
        <p:sp>
          <p:nvSpPr>
            <p:cNvPr id="186" name="Google Shape;186;p13"/>
            <p:cNvSpPr/>
            <p:nvPr/>
          </p:nvSpPr>
          <p:spPr>
            <a:xfrm>
              <a:off x="0" y="0"/>
              <a:ext cx="838200" cy="5667375"/>
            </a:xfrm>
            <a:custGeom>
              <a:rect b="b" l="l" r="r" t="t"/>
              <a:pathLst>
                <a:path extrusionOk="0" h="5667375" w="838200">
                  <a:moveTo>
                    <a:pt x="838200" y="0"/>
                  </a:moveTo>
                  <a:lnTo>
                    <a:pt x="0" y="0"/>
                  </a:lnTo>
                  <a:lnTo>
                    <a:pt x="0" y="5667375"/>
                  </a:lnTo>
                  <a:lnTo>
                    <a:pt x="838200" y="0"/>
                  </a:lnTo>
                  <a:close/>
                </a:path>
              </a:pathLst>
            </a:custGeom>
            <a:solidFill>
              <a:srgbClr val="F495C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0" name="Shape 190"/>
        <p:cNvGrpSpPr/>
        <p:nvPr/>
      </p:nvGrpSpPr>
      <p:grpSpPr>
        <a:xfrm>
          <a:off x="0" y="0"/>
          <a:ext cx="0" cy="0"/>
          <a:chOff x="0" y="0"/>
          <a:chExt cx="0" cy="0"/>
        </a:xfrm>
      </p:grpSpPr>
      <p:grpSp>
        <p:nvGrpSpPr>
          <p:cNvPr id="191" name="Google Shape;191;p14"/>
          <p:cNvGrpSpPr/>
          <p:nvPr/>
        </p:nvGrpSpPr>
        <p:grpSpPr>
          <a:xfrm>
            <a:off x="600075" y="1714500"/>
            <a:ext cx="9439275" cy="657225"/>
            <a:chOff x="600075" y="1714500"/>
            <a:chExt cx="9439275" cy="657225"/>
          </a:xfrm>
        </p:grpSpPr>
        <p:sp>
          <p:nvSpPr>
            <p:cNvPr id="192" name="Google Shape;192;p14"/>
            <p:cNvSpPr/>
            <p:nvPr/>
          </p:nvSpPr>
          <p:spPr>
            <a:xfrm>
              <a:off x="600075" y="1714500"/>
              <a:ext cx="9439275" cy="657225"/>
            </a:xfrm>
            <a:custGeom>
              <a:rect b="b" l="l" r="r" t="t"/>
              <a:pathLst>
                <a:path extrusionOk="0" h="657225" w="9439275">
                  <a:moveTo>
                    <a:pt x="9373489" y="0"/>
                  </a:moveTo>
                  <a:lnTo>
                    <a:pt x="65722" y="0"/>
                  </a:lnTo>
                  <a:lnTo>
                    <a:pt x="40140" y="5171"/>
                  </a:lnTo>
                  <a:lnTo>
                    <a:pt x="19250" y="19272"/>
                  </a:lnTo>
                  <a:lnTo>
                    <a:pt x="5164" y="40183"/>
                  </a:lnTo>
                  <a:lnTo>
                    <a:pt x="0" y="65786"/>
                  </a:lnTo>
                  <a:lnTo>
                    <a:pt x="0" y="591438"/>
                  </a:lnTo>
                  <a:lnTo>
                    <a:pt x="5164" y="617041"/>
                  </a:lnTo>
                  <a:lnTo>
                    <a:pt x="19250" y="637952"/>
                  </a:lnTo>
                  <a:lnTo>
                    <a:pt x="40140" y="652053"/>
                  </a:lnTo>
                  <a:lnTo>
                    <a:pt x="65722" y="657225"/>
                  </a:lnTo>
                  <a:lnTo>
                    <a:pt x="9373489" y="657225"/>
                  </a:lnTo>
                  <a:lnTo>
                    <a:pt x="9399091" y="652053"/>
                  </a:lnTo>
                  <a:lnTo>
                    <a:pt x="9420002" y="637952"/>
                  </a:lnTo>
                  <a:lnTo>
                    <a:pt x="9434103" y="617041"/>
                  </a:lnTo>
                  <a:lnTo>
                    <a:pt x="9439275" y="591438"/>
                  </a:lnTo>
                  <a:lnTo>
                    <a:pt x="9439275" y="65786"/>
                  </a:lnTo>
                  <a:lnTo>
                    <a:pt x="9434103" y="40183"/>
                  </a:lnTo>
                  <a:lnTo>
                    <a:pt x="9420002" y="19272"/>
                  </a:lnTo>
                  <a:lnTo>
                    <a:pt x="9399091" y="5171"/>
                  </a:lnTo>
                  <a:lnTo>
                    <a:pt x="9373489" y="0"/>
                  </a:lnTo>
                  <a:close/>
                </a:path>
              </a:pathLst>
            </a:custGeom>
            <a:solidFill>
              <a:srgbClr val="FADDE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3" name="Google Shape;193;p14"/>
            <p:cNvSpPr/>
            <p:nvPr/>
          </p:nvSpPr>
          <p:spPr>
            <a:xfrm>
              <a:off x="831174" y="1888079"/>
              <a:ext cx="300355" cy="299720"/>
            </a:xfrm>
            <a:custGeom>
              <a:rect b="b" l="l" r="r" t="t"/>
              <a:pathLst>
                <a:path extrusionOk="0" h="299719" w="300355">
                  <a:moveTo>
                    <a:pt x="198110" y="22384"/>
                  </a:moveTo>
                  <a:lnTo>
                    <a:pt x="191022" y="22384"/>
                  </a:lnTo>
                  <a:lnTo>
                    <a:pt x="186918" y="26860"/>
                  </a:lnTo>
                  <a:lnTo>
                    <a:pt x="182441" y="31337"/>
                  </a:lnTo>
                  <a:lnTo>
                    <a:pt x="182441" y="38426"/>
                  </a:lnTo>
                  <a:lnTo>
                    <a:pt x="186918" y="42529"/>
                  </a:lnTo>
                  <a:lnTo>
                    <a:pt x="194006" y="49618"/>
                  </a:lnTo>
                  <a:lnTo>
                    <a:pt x="95511" y="148108"/>
                  </a:lnTo>
                  <a:lnTo>
                    <a:pt x="83572" y="176461"/>
                  </a:lnTo>
                  <a:lnTo>
                    <a:pt x="83572" y="180565"/>
                  </a:lnTo>
                  <a:lnTo>
                    <a:pt x="84318" y="184669"/>
                  </a:lnTo>
                  <a:lnTo>
                    <a:pt x="85438" y="188772"/>
                  </a:lnTo>
                  <a:lnTo>
                    <a:pt x="60814" y="213395"/>
                  </a:lnTo>
                  <a:lnTo>
                    <a:pt x="59321" y="221229"/>
                  </a:lnTo>
                  <a:lnTo>
                    <a:pt x="61933" y="227945"/>
                  </a:lnTo>
                  <a:lnTo>
                    <a:pt x="0" y="289875"/>
                  </a:lnTo>
                  <a:lnTo>
                    <a:pt x="0" y="294351"/>
                  </a:lnTo>
                  <a:lnTo>
                    <a:pt x="4477" y="298828"/>
                  </a:lnTo>
                  <a:lnTo>
                    <a:pt x="6342" y="299574"/>
                  </a:lnTo>
                  <a:lnTo>
                    <a:pt x="10073" y="299574"/>
                  </a:lnTo>
                  <a:lnTo>
                    <a:pt x="11938" y="298828"/>
                  </a:lnTo>
                  <a:lnTo>
                    <a:pt x="72380" y="238391"/>
                  </a:lnTo>
                  <a:lnTo>
                    <a:pt x="88049" y="238391"/>
                  </a:lnTo>
                  <a:lnTo>
                    <a:pt x="111554" y="214887"/>
                  </a:lnTo>
                  <a:lnTo>
                    <a:pt x="135530" y="214887"/>
                  </a:lnTo>
                  <a:lnTo>
                    <a:pt x="139022" y="213861"/>
                  </a:lnTo>
                  <a:lnTo>
                    <a:pt x="145954" y="210142"/>
                  </a:lnTo>
                  <a:lnTo>
                    <a:pt x="152220" y="204814"/>
                  </a:lnTo>
                  <a:lnTo>
                    <a:pt x="188410" y="168627"/>
                  </a:lnTo>
                  <a:lnTo>
                    <a:pt x="157071" y="168627"/>
                  </a:lnTo>
                  <a:lnTo>
                    <a:pt x="131701" y="143258"/>
                  </a:lnTo>
                  <a:lnTo>
                    <a:pt x="209676" y="65287"/>
                  </a:lnTo>
                  <a:lnTo>
                    <a:pt x="261162" y="65287"/>
                  </a:lnTo>
                  <a:lnTo>
                    <a:pt x="270862" y="55587"/>
                  </a:lnTo>
                  <a:lnTo>
                    <a:pt x="300336" y="55587"/>
                  </a:lnTo>
                  <a:lnTo>
                    <a:pt x="300336" y="53722"/>
                  </a:lnTo>
                  <a:lnTo>
                    <a:pt x="295859" y="49245"/>
                  </a:lnTo>
                  <a:lnTo>
                    <a:pt x="224973" y="49245"/>
                  </a:lnTo>
                  <a:lnTo>
                    <a:pt x="198110" y="22384"/>
                  </a:lnTo>
                  <a:close/>
                </a:path>
                <a:path extrusionOk="0" h="299719" w="300355">
                  <a:moveTo>
                    <a:pt x="88049" y="238391"/>
                  </a:moveTo>
                  <a:lnTo>
                    <a:pt x="72380" y="238391"/>
                  </a:lnTo>
                  <a:lnTo>
                    <a:pt x="79095" y="241002"/>
                  </a:lnTo>
                  <a:lnTo>
                    <a:pt x="86930" y="239510"/>
                  </a:lnTo>
                  <a:lnTo>
                    <a:pt x="88049" y="238391"/>
                  </a:lnTo>
                  <a:close/>
                </a:path>
                <a:path extrusionOk="0" h="299719" w="300355">
                  <a:moveTo>
                    <a:pt x="135530" y="214887"/>
                  </a:moveTo>
                  <a:lnTo>
                    <a:pt x="111554" y="214887"/>
                  </a:lnTo>
                  <a:lnTo>
                    <a:pt x="115658" y="216006"/>
                  </a:lnTo>
                  <a:lnTo>
                    <a:pt x="119762" y="216753"/>
                  </a:lnTo>
                  <a:lnTo>
                    <a:pt x="123866" y="216753"/>
                  </a:lnTo>
                  <a:lnTo>
                    <a:pt x="131601" y="216041"/>
                  </a:lnTo>
                  <a:lnTo>
                    <a:pt x="135530" y="214887"/>
                  </a:lnTo>
                  <a:close/>
                </a:path>
                <a:path extrusionOk="0" h="299719" w="300355">
                  <a:moveTo>
                    <a:pt x="166398" y="133931"/>
                  </a:moveTo>
                  <a:lnTo>
                    <a:pt x="155951" y="144377"/>
                  </a:lnTo>
                  <a:lnTo>
                    <a:pt x="168636" y="157062"/>
                  </a:lnTo>
                  <a:lnTo>
                    <a:pt x="157071" y="168627"/>
                  </a:lnTo>
                  <a:lnTo>
                    <a:pt x="188410" y="168627"/>
                  </a:lnTo>
                  <a:lnTo>
                    <a:pt x="210422" y="146616"/>
                  </a:lnTo>
                  <a:lnTo>
                    <a:pt x="179083" y="146616"/>
                  </a:lnTo>
                  <a:lnTo>
                    <a:pt x="166398" y="133931"/>
                  </a:lnTo>
                  <a:close/>
                </a:path>
                <a:path extrusionOk="0" h="299719" w="300355">
                  <a:moveTo>
                    <a:pt x="188783" y="111547"/>
                  </a:moveTo>
                  <a:lnTo>
                    <a:pt x="178337" y="121993"/>
                  </a:lnTo>
                  <a:lnTo>
                    <a:pt x="191022" y="134677"/>
                  </a:lnTo>
                  <a:lnTo>
                    <a:pt x="179083" y="146616"/>
                  </a:lnTo>
                  <a:lnTo>
                    <a:pt x="210422" y="146616"/>
                  </a:lnTo>
                  <a:lnTo>
                    <a:pt x="232807" y="124232"/>
                  </a:lnTo>
                  <a:lnTo>
                    <a:pt x="201468" y="124232"/>
                  </a:lnTo>
                  <a:lnTo>
                    <a:pt x="188783" y="111547"/>
                  </a:lnTo>
                  <a:close/>
                </a:path>
                <a:path extrusionOk="0" h="299719" w="300355">
                  <a:moveTo>
                    <a:pt x="211168" y="89163"/>
                  </a:moveTo>
                  <a:lnTo>
                    <a:pt x="200722" y="99609"/>
                  </a:lnTo>
                  <a:lnTo>
                    <a:pt x="213407" y="112293"/>
                  </a:lnTo>
                  <a:lnTo>
                    <a:pt x="201468" y="124232"/>
                  </a:lnTo>
                  <a:lnTo>
                    <a:pt x="232807" y="124232"/>
                  </a:lnTo>
                  <a:lnTo>
                    <a:pt x="250716" y="106324"/>
                  </a:lnTo>
                  <a:lnTo>
                    <a:pt x="277951" y="106324"/>
                  </a:lnTo>
                  <a:lnTo>
                    <a:pt x="277951" y="101847"/>
                  </a:lnTo>
                  <a:lnTo>
                    <a:pt x="223853" y="101847"/>
                  </a:lnTo>
                  <a:lnTo>
                    <a:pt x="211168" y="89163"/>
                  </a:lnTo>
                  <a:close/>
                </a:path>
                <a:path extrusionOk="0" h="299719" w="300355">
                  <a:moveTo>
                    <a:pt x="277951" y="106324"/>
                  </a:moveTo>
                  <a:lnTo>
                    <a:pt x="250716" y="106324"/>
                  </a:lnTo>
                  <a:lnTo>
                    <a:pt x="260043" y="115651"/>
                  </a:lnTo>
                  <a:lnTo>
                    <a:pt x="263028" y="116770"/>
                  </a:lnTo>
                  <a:lnTo>
                    <a:pt x="268251" y="116770"/>
                  </a:lnTo>
                  <a:lnTo>
                    <a:pt x="271236" y="115651"/>
                  </a:lnTo>
                  <a:lnTo>
                    <a:pt x="277951" y="108936"/>
                  </a:lnTo>
                  <a:lnTo>
                    <a:pt x="277951" y="106324"/>
                  </a:lnTo>
                  <a:close/>
                </a:path>
                <a:path extrusionOk="0" h="299719" w="300355">
                  <a:moveTo>
                    <a:pt x="261162" y="65287"/>
                  </a:moveTo>
                  <a:lnTo>
                    <a:pt x="209676" y="65287"/>
                  </a:lnTo>
                  <a:lnTo>
                    <a:pt x="235046" y="90655"/>
                  </a:lnTo>
                  <a:lnTo>
                    <a:pt x="223853" y="101847"/>
                  </a:lnTo>
                  <a:lnTo>
                    <a:pt x="277951" y="101847"/>
                  </a:lnTo>
                  <a:lnTo>
                    <a:pt x="273474" y="97744"/>
                  </a:lnTo>
                  <a:lnTo>
                    <a:pt x="251089" y="75360"/>
                  </a:lnTo>
                  <a:lnTo>
                    <a:pt x="261162" y="65287"/>
                  </a:lnTo>
                  <a:close/>
                </a:path>
                <a:path extrusionOk="0" h="299719" w="300355">
                  <a:moveTo>
                    <a:pt x="300336" y="55587"/>
                  </a:moveTo>
                  <a:lnTo>
                    <a:pt x="270862" y="55587"/>
                  </a:lnTo>
                  <a:lnTo>
                    <a:pt x="282428" y="67152"/>
                  </a:lnTo>
                  <a:lnTo>
                    <a:pt x="285413" y="68271"/>
                  </a:lnTo>
                  <a:lnTo>
                    <a:pt x="290636" y="68271"/>
                  </a:lnTo>
                  <a:lnTo>
                    <a:pt x="293621" y="67152"/>
                  </a:lnTo>
                  <a:lnTo>
                    <a:pt x="300336" y="60437"/>
                  </a:lnTo>
                  <a:lnTo>
                    <a:pt x="300336" y="55587"/>
                  </a:lnTo>
                  <a:close/>
                </a:path>
                <a:path extrusionOk="0" h="299719" w="300355">
                  <a:moveTo>
                    <a:pt x="246612" y="0"/>
                  </a:moveTo>
                  <a:lnTo>
                    <a:pt x="239523" y="0"/>
                  </a:lnTo>
                  <a:lnTo>
                    <a:pt x="235419" y="4476"/>
                  </a:lnTo>
                  <a:lnTo>
                    <a:pt x="230942" y="8953"/>
                  </a:lnTo>
                  <a:lnTo>
                    <a:pt x="230942" y="16041"/>
                  </a:lnTo>
                  <a:lnTo>
                    <a:pt x="235419" y="20145"/>
                  </a:lnTo>
                  <a:lnTo>
                    <a:pt x="244746" y="29472"/>
                  </a:lnTo>
                  <a:lnTo>
                    <a:pt x="224973" y="49245"/>
                  </a:lnTo>
                  <a:lnTo>
                    <a:pt x="295859" y="49245"/>
                  </a:lnTo>
                  <a:lnTo>
                    <a:pt x="246612" y="0"/>
                  </a:lnTo>
                  <a:close/>
                </a:path>
              </a:pathLst>
            </a:custGeom>
            <a:solidFill>
              <a:srgbClr val="F394C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94" name="Google Shape;194;p14"/>
            <p:cNvPicPr preferRelativeResize="0"/>
            <p:nvPr/>
          </p:nvPicPr>
          <p:blipFill rotWithShape="1">
            <a:blip r:embed="rId3">
              <a:alphaModFix/>
            </a:blip>
            <a:srcRect b="0" l="0" r="0" t="0"/>
            <a:stretch/>
          </p:blipFill>
          <p:spPr>
            <a:xfrm>
              <a:off x="961010" y="1951501"/>
              <a:ext cx="107076" cy="107070"/>
            </a:xfrm>
            <a:prstGeom prst="rect">
              <a:avLst/>
            </a:prstGeom>
            <a:noFill/>
            <a:ln>
              <a:noFill/>
            </a:ln>
          </p:spPr>
        </p:pic>
      </p:grpSp>
      <p:grpSp>
        <p:nvGrpSpPr>
          <p:cNvPr id="195" name="Google Shape;195;p14"/>
          <p:cNvGrpSpPr/>
          <p:nvPr/>
        </p:nvGrpSpPr>
        <p:grpSpPr>
          <a:xfrm>
            <a:off x="800100" y="1857375"/>
            <a:ext cx="361950" cy="361950"/>
            <a:chOff x="800100" y="1857375"/>
            <a:chExt cx="361950" cy="361950"/>
          </a:xfrm>
        </p:grpSpPr>
        <p:sp>
          <p:nvSpPr>
            <p:cNvPr id="196" name="Google Shape;196;p14"/>
            <p:cNvSpPr/>
            <p:nvPr/>
          </p:nvSpPr>
          <p:spPr>
            <a:xfrm>
              <a:off x="831174" y="1888079"/>
              <a:ext cx="300355" cy="299720"/>
            </a:xfrm>
            <a:custGeom>
              <a:rect b="b" l="l" r="r" t="t"/>
              <a:pathLst>
                <a:path extrusionOk="0" h="299719" w="300355">
                  <a:moveTo>
                    <a:pt x="295859" y="49245"/>
                  </a:moveTo>
                  <a:lnTo>
                    <a:pt x="251089" y="4476"/>
                  </a:lnTo>
                  <a:lnTo>
                    <a:pt x="246612" y="0"/>
                  </a:lnTo>
                  <a:lnTo>
                    <a:pt x="239523" y="0"/>
                  </a:lnTo>
                  <a:lnTo>
                    <a:pt x="235419" y="4476"/>
                  </a:lnTo>
                  <a:lnTo>
                    <a:pt x="230942" y="8953"/>
                  </a:lnTo>
                  <a:lnTo>
                    <a:pt x="230942" y="16041"/>
                  </a:lnTo>
                  <a:lnTo>
                    <a:pt x="235419" y="20145"/>
                  </a:lnTo>
                  <a:lnTo>
                    <a:pt x="244746" y="29472"/>
                  </a:lnTo>
                  <a:lnTo>
                    <a:pt x="224973" y="49245"/>
                  </a:lnTo>
                  <a:lnTo>
                    <a:pt x="209676" y="33949"/>
                  </a:lnTo>
                  <a:lnTo>
                    <a:pt x="202587" y="26860"/>
                  </a:lnTo>
                  <a:lnTo>
                    <a:pt x="198110" y="22384"/>
                  </a:lnTo>
                  <a:lnTo>
                    <a:pt x="191022" y="22384"/>
                  </a:lnTo>
                  <a:lnTo>
                    <a:pt x="186918" y="26860"/>
                  </a:lnTo>
                  <a:lnTo>
                    <a:pt x="182441" y="31337"/>
                  </a:lnTo>
                  <a:lnTo>
                    <a:pt x="182441" y="38426"/>
                  </a:lnTo>
                  <a:lnTo>
                    <a:pt x="186918" y="42529"/>
                  </a:lnTo>
                  <a:lnTo>
                    <a:pt x="194006" y="49618"/>
                  </a:lnTo>
                  <a:lnTo>
                    <a:pt x="95511" y="148108"/>
                  </a:lnTo>
                  <a:lnTo>
                    <a:pt x="83572" y="176461"/>
                  </a:lnTo>
                  <a:lnTo>
                    <a:pt x="83572" y="180565"/>
                  </a:lnTo>
                  <a:lnTo>
                    <a:pt x="84318" y="184669"/>
                  </a:lnTo>
                  <a:lnTo>
                    <a:pt x="85438" y="188772"/>
                  </a:lnTo>
                  <a:lnTo>
                    <a:pt x="66037" y="208172"/>
                  </a:lnTo>
                  <a:lnTo>
                    <a:pt x="60814" y="213395"/>
                  </a:lnTo>
                  <a:lnTo>
                    <a:pt x="59321" y="221229"/>
                  </a:lnTo>
                  <a:lnTo>
                    <a:pt x="61933" y="227945"/>
                  </a:lnTo>
                  <a:lnTo>
                    <a:pt x="2984" y="286890"/>
                  </a:lnTo>
                  <a:lnTo>
                    <a:pt x="0" y="289875"/>
                  </a:lnTo>
                  <a:lnTo>
                    <a:pt x="0" y="294351"/>
                  </a:lnTo>
                  <a:lnTo>
                    <a:pt x="2984" y="297336"/>
                  </a:lnTo>
                  <a:lnTo>
                    <a:pt x="4477" y="298828"/>
                  </a:lnTo>
                  <a:lnTo>
                    <a:pt x="6342" y="299574"/>
                  </a:lnTo>
                  <a:lnTo>
                    <a:pt x="8207" y="299574"/>
                  </a:lnTo>
                  <a:lnTo>
                    <a:pt x="10073" y="299574"/>
                  </a:lnTo>
                  <a:lnTo>
                    <a:pt x="11938" y="298828"/>
                  </a:lnTo>
                  <a:lnTo>
                    <a:pt x="13431" y="297336"/>
                  </a:lnTo>
                  <a:lnTo>
                    <a:pt x="72380" y="238391"/>
                  </a:lnTo>
                  <a:lnTo>
                    <a:pt x="79095" y="241002"/>
                  </a:lnTo>
                  <a:lnTo>
                    <a:pt x="86930" y="239510"/>
                  </a:lnTo>
                  <a:lnTo>
                    <a:pt x="92153" y="234287"/>
                  </a:lnTo>
                  <a:lnTo>
                    <a:pt x="111554" y="214887"/>
                  </a:lnTo>
                  <a:lnTo>
                    <a:pt x="115658" y="216006"/>
                  </a:lnTo>
                  <a:lnTo>
                    <a:pt x="119762" y="216753"/>
                  </a:lnTo>
                  <a:lnTo>
                    <a:pt x="123866" y="216753"/>
                  </a:lnTo>
                  <a:lnTo>
                    <a:pt x="131601" y="216041"/>
                  </a:lnTo>
                  <a:lnTo>
                    <a:pt x="139022" y="213861"/>
                  </a:lnTo>
                  <a:lnTo>
                    <a:pt x="145954" y="210142"/>
                  </a:lnTo>
                  <a:lnTo>
                    <a:pt x="152220" y="204814"/>
                  </a:lnTo>
                  <a:lnTo>
                    <a:pt x="250716" y="106324"/>
                  </a:lnTo>
                  <a:lnTo>
                    <a:pt x="257804" y="113413"/>
                  </a:lnTo>
                  <a:lnTo>
                    <a:pt x="260043" y="115651"/>
                  </a:lnTo>
                  <a:lnTo>
                    <a:pt x="263028" y="116770"/>
                  </a:lnTo>
                  <a:lnTo>
                    <a:pt x="265639" y="116770"/>
                  </a:lnTo>
                  <a:lnTo>
                    <a:pt x="268251" y="116770"/>
                  </a:lnTo>
                  <a:lnTo>
                    <a:pt x="271236" y="115651"/>
                  </a:lnTo>
                  <a:lnTo>
                    <a:pt x="273474" y="113413"/>
                  </a:lnTo>
                  <a:lnTo>
                    <a:pt x="277951" y="108936"/>
                  </a:lnTo>
                  <a:lnTo>
                    <a:pt x="277951" y="101847"/>
                  </a:lnTo>
                  <a:lnTo>
                    <a:pt x="273474" y="97744"/>
                  </a:lnTo>
                  <a:lnTo>
                    <a:pt x="266385" y="90655"/>
                  </a:lnTo>
                  <a:lnTo>
                    <a:pt x="251089" y="75360"/>
                  </a:lnTo>
                  <a:lnTo>
                    <a:pt x="270862" y="55587"/>
                  </a:lnTo>
                  <a:lnTo>
                    <a:pt x="280190" y="64914"/>
                  </a:lnTo>
                  <a:lnTo>
                    <a:pt x="282428" y="67152"/>
                  </a:lnTo>
                  <a:lnTo>
                    <a:pt x="285413" y="68271"/>
                  </a:lnTo>
                  <a:lnTo>
                    <a:pt x="288024" y="68271"/>
                  </a:lnTo>
                  <a:lnTo>
                    <a:pt x="290636" y="68271"/>
                  </a:lnTo>
                  <a:lnTo>
                    <a:pt x="293621" y="67152"/>
                  </a:lnTo>
                  <a:lnTo>
                    <a:pt x="295859" y="64914"/>
                  </a:lnTo>
                  <a:lnTo>
                    <a:pt x="300336" y="60437"/>
                  </a:lnTo>
                  <a:lnTo>
                    <a:pt x="300336" y="53722"/>
                  </a:lnTo>
                  <a:lnTo>
                    <a:pt x="295859" y="49245"/>
                  </a:lnTo>
                  <a:close/>
                </a:path>
              </a:pathLst>
            </a:custGeom>
            <a:noFill/>
            <a:ln cap="flat" cmpd="sng" w="9525">
              <a:solidFill>
                <a:srgbClr val="F394C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7" name="Google Shape;197;p14"/>
            <p:cNvSpPr/>
            <p:nvPr/>
          </p:nvSpPr>
          <p:spPr>
            <a:xfrm>
              <a:off x="800100" y="1857375"/>
              <a:ext cx="361950" cy="361950"/>
            </a:xfrm>
            <a:custGeom>
              <a:rect b="b" l="l" r="r" t="t"/>
              <a:pathLst>
                <a:path extrusionOk="0" h="361950" w="361950">
                  <a:moveTo>
                    <a:pt x="0" y="361950"/>
                  </a:moveTo>
                  <a:lnTo>
                    <a:pt x="361950" y="361950"/>
                  </a:lnTo>
                  <a:lnTo>
                    <a:pt x="361950" y="0"/>
                  </a:lnTo>
                  <a:lnTo>
                    <a:pt x="0" y="0"/>
                  </a:lnTo>
                  <a:lnTo>
                    <a:pt x="0" y="361950"/>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grpSp>
        <p:nvGrpSpPr>
          <p:cNvPr id="198" name="Google Shape;198;p14"/>
          <p:cNvGrpSpPr/>
          <p:nvPr/>
        </p:nvGrpSpPr>
        <p:grpSpPr>
          <a:xfrm>
            <a:off x="600075" y="2590800"/>
            <a:ext cx="9439275" cy="657225"/>
            <a:chOff x="600075" y="2590800"/>
            <a:chExt cx="9439275" cy="657225"/>
          </a:xfrm>
        </p:grpSpPr>
        <p:sp>
          <p:nvSpPr>
            <p:cNvPr id="199" name="Google Shape;199;p14"/>
            <p:cNvSpPr/>
            <p:nvPr/>
          </p:nvSpPr>
          <p:spPr>
            <a:xfrm>
              <a:off x="600075" y="2590800"/>
              <a:ext cx="9439275" cy="657225"/>
            </a:xfrm>
            <a:custGeom>
              <a:rect b="b" l="l" r="r" t="t"/>
              <a:pathLst>
                <a:path extrusionOk="0" h="657225" w="9439275">
                  <a:moveTo>
                    <a:pt x="9373489" y="0"/>
                  </a:moveTo>
                  <a:lnTo>
                    <a:pt x="65722" y="0"/>
                  </a:lnTo>
                  <a:lnTo>
                    <a:pt x="40140" y="5171"/>
                  </a:lnTo>
                  <a:lnTo>
                    <a:pt x="19250" y="19272"/>
                  </a:lnTo>
                  <a:lnTo>
                    <a:pt x="5164" y="40183"/>
                  </a:lnTo>
                  <a:lnTo>
                    <a:pt x="0" y="65786"/>
                  </a:lnTo>
                  <a:lnTo>
                    <a:pt x="0" y="591438"/>
                  </a:lnTo>
                  <a:lnTo>
                    <a:pt x="5164" y="617041"/>
                  </a:lnTo>
                  <a:lnTo>
                    <a:pt x="19250" y="637952"/>
                  </a:lnTo>
                  <a:lnTo>
                    <a:pt x="40140" y="652053"/>
                  </a:lnTo>
                  <a:lnTo>
                    <a:pt x="65722" y="657225"/>
                  </a:lnTo>
                  <a:lnTo>
                    <a:pt x="9373489" y="657225"/>
                  </a:lnTo>
                  <a:lnTo>
                    <a:pt x="9399091" y="652053"/>
                  </a:lnTo>
                  <a:lnTo>
                    <a:pt x="9420002" y="637952"/>
                  </a:lnTo>
                  <a:lnTo>
                    <a:pt x="9434103" y="617041"/>
                  </a:lnTo>
                  <a:lnTo>
                    <a:pt x="9439275" y="591438"/>
                  </a:lnTo>
                  <a:lnTo>
                    <a:pt x="9439275" y="65786"/>
                  </a:lnTo>
                  <a:lnTo>
                    <a:pt x="9434103" y="40183"/>
                  </a:lnTo>
                  <a:lnTo>
                    <a:pt x="9420002" y="19272"/>
                  </a:lnTo>
                  <a:lnTo>
                    <a:pt x="9399091" y="5171"/>
                  </a:lnTo>
                  <a:lnTo>
                    <a:pt x="9373489" y="0"/>
                  </a:lnTo>
                  <a:close/>
                </a:path>
              </a:pathLst>
            </a:custGeom>
            <a:solidFill>
              <a:srgbClr val="FADDE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00" name="Google Shape;200;p14"/>
            <p:cNvPicPr preferRelativeResize="0"/>
            <p:nvPr/>
          </p:nvPicPr>
          <p:blipFill rotWithShape="1">
            <a:blip r:embed="rId4">
              <a:alphaModFix/>
            </a:blip>
            <a:srcRect b="0" l="0" r="0" t="0"/>
            <a:stretch/>
          </p:blipFill>
          <p:spPr>
            <a:xfrm>
              <a:off x="817931" y="2751794"/>
              <a:ext cx="326374" cy="325939"/>
            </a:xfrm>
            <a:prstGeom prst="rect">
              <a:avLst/>
            </a:prstGeom>
            <a:noFill/>
            <a:ln>
              <a:noFill/>
            </a:ln>
          </p:spPr>
        </p:pic>
      </p:grpSp>
      <p:sp>
        <p:nvSpPr>
          <p:cNvPr id="201" name="Google Shape;201;p14"/>
          <p:cNvSpPr/>
          <p:nvPr/>
        </p:nvSpPr>
        <p:spPr>
          <a:xfrm>
            <a:off x="800100" y="2733675"/>
            <a:ext cx="361950" cy="361950"/>
          </a:xfrm>
          <a:custGeom>
            <a:rect b="b" l="l" r="r" t="t"/>
            <a:pathLst>
              <a:path extrusionOk="0" h="361950" w="361950">
                <a:moveTo>
                  <a:pt x="0" y="361950"/>
                </a:moveTo>
                <a:lnTo>
                  <a:pt x="361950" y="361950"/>
                </a:lnTo>
                <a:lnTo>
                  <a:pt x="361950" y="0"/>
                </a:lnTo>
                <a:lnTo>
                  <a:pt x="0" y="0"/>
                </a:lnTo>
                <a:lnTo>
                  <a:pt x="0" y="361950"/>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nvGrpSpPr>
          <p:cNvPr id="202" name="Google Shape;202;p14"/>
          <p:cNvGrpSpPr/>
          <p:nvPr/>
        </p:nvGrpSpPr>
        <p:grpSpPr>
          <a:xfrm>
            <a:off x="600075" y="3457575"/>
            <a:ext cx="9439275" cy="657225"/>
            <a:chOff x="600075" y="3457575"/>
            <a:chExt cx="9439275" cy="657225"/>
          </a:xfrm>
        </p:grpSpPr>
        <p:sp>
          <p:nvSpPr>
            <p:cNvPr id="203" name="Google Shape;203;p14"/>
            <p:cNvSpPr/>
            <p:nvPr/>
          </p:nvSpPr>
          <p:spPr>
            <a:xfrm>
              <a:off x="600075" y="3457575"/>
              <a:ext cx="9439275" cy="657225"/>
            </a:xfrm>
            <a:custGeom>
              <a:rect b="b" l="l" r="r" t="t"/>
              <a:pathLst>
                <a:path extrusionOk="0" h="657225" w="9439275">
                  <a:moveTo>
                    <a:pt x="9373489" y="0"/>
                  </a:moveTo>
                  <a:lnTo>
                    <a:pt x="65722" y="0"/>
                  </a:lnTo>
                  <a:lnTo>
                    <a:pt x="40140" y="5171"/>
                  </a:lnTo>
                  <a:lnTo>
                    <a:pt x="19250" y="19272"/>
                  </a:lnTo>
                  <a:lnTo>
                    <a:pt x="5164" y="40183"/>
                  </a:lnTo>
                  <a:lnTo>
                    <a:pt x="0" y="65786"/>
                  </a:lnTo>
                  <a:lnTo>
                    <a:pt x="0" y="591438"/>
                  </a:lnTo>
                  <a:lnTo>
                    <a:pt x="5164" y="617041"/>
                  </a:lnTo>
                  <a:lnTo>
                    <a:pt x="19250" y="637952"/>
                  </a:lnTo>
                  <a:lnTo>
                    <a:pt x="40140" y="652053"/>
                  </a:lnTo>
                  <a:lnTo>
                    <a:pt x="65722" y="657225"/>
                  </a:lnTo>
                  <a:lnTo>
                    <a:pt x="9373489" y="657225"/>
                  </a:lnTo>
                  <a:lnTo>
                    <a:pt x="9399091" y="652053"/>
                  </a:lnTo>
                  <a:lnTo>
                    <a:pt x="9420002" y="637952"/>
                  </a:lnTo>
                  <a:lnTo>
                    <a:pt x="9434103" y="617041"/>
                  </a:lnTo>
                  <a:lnTo>
                    <a:pt x="9439275" y="591438"/>
                  </a:lnTo>
                  <a:lnTo>
                    <a:pt x="9439275" y="65786"/>
                  </a:lnTo>
                  <a:lnTo>
                    <a:pt x="9434103" y="40183"/>
                  </a:lnTo>
                  <a:lnTo>
                    <a:pt x="9420002" y="19272"/>
                  </a:lnTo>
                  <a:lnTo>
                    <a:pt x="9399091" y="5171"/>
                  </a:lnTo>
                  <a:lnTo>
                    <a:pt x="9373489" y="0"/>
                  </a:lnTo>
                  <a:close/>
                </a:path>
              </a:pathLst>
            </a:custGeom>
            <a:solidFill>
              <a:srgbClr val="FADDE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04" name="Google Shape;204;p14"/>
            <p:cNvPicPr preferRelativeResize="0"/>
            <p:nvPr/>
          </p:nvPicPr>
          <p:blipFill rotWithShape="1">
            <a:blip r:embed="rId5">
              <a:alphaModFix/>
            </a:blip>
            <a:srcRect b="0" l="0" r="0" t="0"/>
            <a:stretch/>
          </p:blipFill>
          <p:spPr>
            <a:xfrm>
              <a:off x="886651" y="3763926"/>
              <a:ext cx="189006" cy="95570"/>
            </a:xfrm>
            <a:prstGeom prst="rect">
              <a:avLst/>
            </a:prstGeom>
            <a:noFill/>
            <a:ln>
              <a:noFill/>
            </a:ln>
          </p:spPr>
        </p:pic>
        <p:sp>
          <p:nvSpPr>
            <p:cNvPr id="205" name="Google Shape;205;p14"/>
            <p:cNvSpPr/>
            <p:nvPr/>
          </p:nvSpPr>
          <p:spPr>
            <a:xfrm>
              <a:off x="831920" y="3675374"/>
              <a:ext cx="299085" cy="231775"/>
            </a:xfrm>
            <a:custGeom>
              <a:rect b="b" l="l" r="r" t="t"/>
              <a:pathLst>
                <a:path extrusionOk="0" h="231775" w="299084">
                  <a:moveTo>
                    <a:pt x="298471" y="0"/>
                  </a:moveTo>
                  <a:lnTo>
                    <a:pt x="0" y="0"/>
                  </a:lnTo>
                  <a:lnTo>
                    <a:pt x="0" y="231302"/>
                  </a:lnTo>
                  <a:lnTo>
                    <a:pt x="298471" y="231303"/>
                  </a:lnTo>
                  <a:lnTo>
                    <a:pt x="298471" y="208918"/>
                  </a:lnTo>
                  <a:lnTo>
                    <a:pt x="22386" y="208918"/>
                  </a:lnTo>
                  <a:lnTo>
                    <a:pt x="22386" y="59691"/>
                  </a:lnTo>
                  <a:lnTo>
                    <a:pt x="298471" y="59691"/>
                  </a:lnTo>
                  <a:lnTo>
                    <a:pt x="298471" y="37307"/>
                  </a:lnTo>
                  <a:lnTo>
                    <a:pt x="201075" y="37307"/>
                  </a:lnTo>
                  <a:lnTo>
                    <a:pt x="197737" y="33969"/>
                  </a:lnTo>
                  <a:lnTo>
                    <a:pt x="197737" y="25726"/>
                  </a:lnTo>
                  <a:lnTo>
                    <a:pt x="201075" y="22384"/>
                  </a:lnTo>
                  <a:lnTo>
                    <a:pt x="298471" y="22384"/>
                  </a:lnTo>
                  <a:lnTo>
                    <a:pt x="298471" y="0"/>
                  </a:lnTo>
                  <a:close/>
                </a:path>
                <a:path extrusionOk="0" h="231775" w="299084">
                  <a:moveTo>
                    <a:pt x="298471" y="59691"/>
                  </a:moveTo>
                  <a:lnTo>
                    <a:pt x="276086" y="59691"/>
                  </a:lnTo>
                  <a:lnTo>
                    <a:pt x="276086" y="208918"/>
                  </a:lnTo>
                  <a:lnTo>
                    <a:pt x="298471" y="208918"/>
                  </a:lnTo>
                  <a:lnTo>
                    <a:pt x="298471" y="59691"/>
                  </a:lnTo>
                  <a:close/>
                </a:path>
                <a:path extrusionOk="0" h="231775" w="299084">
                  <a:moveTo>
                    <a:pt x="227191" y="22384"/>
                  </a:moveTo>
                  <a:lnTo>
                    <a:pt x="209318" y="22384"/>
                  </a:lnTo>
                  <a:lnTo>
                    <a:pt x="212661" y="25726"/>
                  </a:lnTo>
                  <a:lnTo>
                    <a:pt x="212661" y="33969"/>
                  </a:lnTo>
                  <a:lnTo>
                    <a:pt x="209318" y="37307"/>
                  </a:lnTo>
                  <a:lnTo>
                    <a:pt x="227191" y="37307"/>
                  </a:lnTo>
                  <a:lnTo>
                    <a:pt x="223853" y="33969"/>
                  </a:lnTo>
                  <a:lnTo>
                    <a:pt x="223853" y="25726"/>
                  </a:lnTo>
                  <a:lnTo>
                    <a:pt x="227191" y="22384"/>
                  </a:lnTo>
                  <a:close/>
                </a:path>
                <a:path extrusionOk="0" h="231775" w="299084">
                  <a:moveTo>
                    <a:pt x="253307" y="22384"/>
                  </a:moveTo>
                  <a:lnTo>
                    <a:pt x="235434" y="22384"/>
                  </a:lnTo>
                  <a:lnTo>
                    <a:pt x="238777" y="25726"/>
                  </a:lnTo>
                  <a:lnTo>
                    <a:pt x="238777" y="33969"/>
                  </a:lnTo>
                  <a:lnTo>
                    <a:pt x="235434" y="37307"/>
                  </a:lnTo>
                  <a:lnTo>
                    <a:pt x="253307" y="37307"/>
                  </a:lnTo>
                  <a:lnTo>
                    <a:pt x="249970" y="33969"/>
                  </a:lnTo>
                  <a:lnTo>
                    <a:pt x="249970" y="25726"/>
                  </a:lnTo>
                  <a:lnTo>
                    <a:pt x="253307" y="22384"/>
                  </a:lnTo>
                  <a:close/>
                </a:path>
                <a:path extrusionOk="0" h="231775" w="299084">
                  <a:moveTo>
                    <a:pt x="298471" y="22384"/>
                  </a:moveTo>
                  <a:lnTo>
                    <a:pt x="261550" y="22384"/>
                  </a:lnTo>
                  <a:lnTo>
                    <a:pt x="264893" y="25726"/>
                  </a:lnTo>
                  <a:lnTo>
                    <a:pt x="264893" y="33969"/>
                  </a:lnTo>
                  <a:lnTo>
                    <a:pt x="261550" y="37307"/>
                  </a:lnTo>
                  <a:lnTo>
                    <a:pt x="298471" y="37307"/>
                  </a:lnTo>
                  <a:lnTo>
                    <a:pt x="298471" y="22384"/>
                  </a:lnTo>
                  <a:close/>
                </a:path>
              </a:pathLst>
            </a:custGeom>
            <a:solidFill>
              <a:srgbClr val="F394C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06" name="Google Shape;206;p14"/>
            <p:cNvSpPr/>
            <p:nvPr/>
          </p:nvSpPr>
          <p:spPr>
            <a:xfrm>
              <a:off x="831920" y="3675374"/>
              <a:ext cx="299085" cy="231775"/>
            </a:xfrm>
            <a:custGeom>
              <a:rect b="b" l="l" r="r" t="t"/>
              <a:pathLst>
                <a:path extrusionOk="0" h="231775" w="299084">
                  <a:moveTo>
                    <a:pt x="0" y="0"/>
                  </a:moveTo>
                  <a:lnTo>
                    <a:pt x="0" y="231302"/>
                  </a:lnTo>
                  <a:lnTo>
                    <a:pt x="298471" y="231303"/>
                  </a:lnTo>
                  <a:lnTo>
                    <a:pt x="298471" y="0"/>
                  </a:lnTo>
                  <a:lnTo>
                    <a:pt x="0" y="0"/>
                  </a:lnTo>
                  <a:close/>
                </a:path>
                <a:path extrusionOk="0" h="231775" w="299084">
                  <a:moveTo>
                    <a:pt x="257431" y="22384"/>
                  </a:moveTo>
                  <a:lnTo>
                    <a:pt x="261550" y="22384"/>
                  </a:lnTo>
                  <a:lnTo>
                    <a:pt x="264893" y="25726"/>
                  </a:lnTo>
                  <a:lnTo>
                    <a:pt x="264893" y="29845"/>
                  </a:lnTo>
                  <a:lnTo>
                    <a:pt x="264893" y="33969"/>
                  </a:lnTo>
                  <a:lnTo>
                    <a:pt x="261550" y="37307"/>
                  </a:lnTo>
                  <a:lnTo>
                    <a:pt x="257431" y="37307"/>
                  </a:lnTo>
                  <a:lnTo>
                    <a:pt x="253307" y="37307"/>
                  </a:lnTo>
                  <a:lnTo>
                    <a:pt x="249970" y="33969"/>
                  </a:lnTo>
                  <a:lnTo>
                    <a:pt x="249970" y="29845"/>
                  </a:lnTo>
                  <a:lnTo>
                    <a:pt x="249970" y="25726"/>
                  </a:lnTo>
                  <a:lnTo>
                    <a:pt x="253307" y="22384"/>
                  </a:lnTo>
                  <a:lnTo>
                    <a:pt x="257431" y="22384"/>
                  </a:lnTo>
                  <a:close/>
                </a:path>
                <a:path extrusionOk="0" h="231775" w="299084">
                  <a:moveTo>
                    <a:pt x="231315" y="22384"/>
                  </a:moveTo>
                  <a:lnTo>
                    <a:pt x="235434" y="22384"/>
                  </a:lnTo>
                  <a:lnTo>
                    <a:pt x="238777" y="25726"/>
                  </a:lnTo>
                  <a:lnTo>
                    <a:pt x="238777" y="29845"/>
                  </a:lnTo>
                  <a:lnTo>
                    <a:pt x="238777" y="33969"/>
                  </a:lnTo>
                  <a:lnTo>
                    <a:pt x="235434" y="37307"/>
                  </a:lnTo>
                  <a:lnTo>
                    <a:pt x="231315" y="37307"/>
                  </a:lnTo>
                  <a:lnTo>
                    <a:pt x="227191" y="37307"/>
                  </a:lnTo>
                  <a:lnTo>
                    <a:pt x="223853" y="33969"/>
                  </a:lnTo>
                  <a:lnTo>
                    <a:pt x="223853" y="29845"/>
                  </a:lnTo>
                  <a:lnTo>
                    <a:pt x="223853" y="25726"/>
                  </a:lnTo>
                  <a:lnTo>
                    <a:pt x="227191" y="22384"/>
                  </a:lnTo>
                  <a:lnTo>
                    <a:pt x="231315" y="22384"/>
                  </a:lnTo>
                  <a:close/>
                </a:path>
                <a:path extrusionOk="0" h="231775" w="299084">
                  <a:moveTo>
                    <a:pt x="205199" y="22384"/>
                  </a:moveTo>
                  <a:lnTo>
                    <a:pt x="209318" y="22384"/>
                  </a:lnTo>
                  <a:lnTo>
                    <a:pt x="212661" y="25726"/>
                  </a:lnTo>
                  <a:lnTo>
                    <a:pt x="212661" y="29845"/>
                  </a:lnTo>
                  <a:lnTo>
                    <a:pt x="212661" y="33969"/>
                  </a:lnTo>
                  <a:lnTo>
                    <a:pt x="209318" y="37307"/>
                  </a:lnTo>
                  <a:lnTo>
                    <a:pt x="205199" y="37307"/>
                  </a:lnTo>
                  <a:lnTo>
                    <a:pt x="201075" y="37307"/>
                  </a:lnTo>
                  <a:lnTo>
                    <a:pt x="197737" y="33969"/>
                  </a:lnTo>
                  <a:lnTo>
                    <a:pt x="197737" y="29845"/>
                  </a:lnTo>
                  <a:lnTo>
                    <a:pt x="197737" y="25726"/>
                  </a:lnTo>
                  <a:lnTo>
                    <a:pt x="201075" y="22384"/>
                  </a:lnTo>
                  <a:lnTo>
                    <a:pt x="205199" y="22384"/>
                  </a:lnTo>
                  <a:close/>
                </a:path>
                <a:path extrusionOk="0" h="231775" w="299084">
                  <a:moveTo>
                    <a:pt x="276086" y="208918"/>
                  </a:moveTo>
                  <a:lnTo>
                    <a:pt x="22386" y="208918"/>
                  </a:lnTo>
                  <a:lnTo>
                    <a:pt x="22386" y="59691"/>
                  </a:lnTo>
                  <a:lnTo>
                    <a:pt x="276086" y="59691"/>
                  </a:lnTo>
                  <a:lnTo>
                    <a:pt x="276086" y="208918"/>
                  </a:lnTo>
                  <a:close/>
                </a:path>
              </a:pathLst>
            </a:custGeom>
            <a:noFill/>
            <a:ln cap="flat" cmpd="sng" w="9525">
              <a:solidFill>
                <a:srgbClr val="F394C9"/>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07" name="Google Shape;207;p14"/>
          <p:cNvSpPr/>
          <p:nvPr/>
        </p:nvSpPr>
        <p:spPr>
          <a:xfrm>
            <a:off x="800100" y="3609975"/>
            <a:ext cx="361950" cy="361950"/>
          </a:xfrm>
          <a:custGeom>
            <a:rect b="b" l="l" r="r" t="t"/>
            <a:pathLst>
              <a:path extrusionOk="0" h="361950" w="361950">
                <a:moveTo>
                  <a:pt x="0" y="361950"/>
                </a:moveTo>
                <a:lnTo>
                  <a:pt x="361950" y="361950"/>
                </a:lnTo>
                <a:lnTo>
                  <a:pt x="361950" y="0"/>
                </a:lnTo>
                <a:lnTo>
                  <a:pt x="0" y="0"/>
                </a:lnTo>
                <a:lnTo>
                  <a:pt x="0" y="361950"/>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nvGrpSpPr>
          <p:cNvPr id="208" name="Google Shape;208;p14"/>
          <p:cNvGrpSpPr/>
          <p:nvPr/>
        </p:nvGrpSpPr>
        <p:grpSpPr>
          <a:xfrm>
            <a:off x="600075" y="4333875"/>
            <a:ext cx="9439275" cy="657225"/>
            <a:chOff x="600075" y="4333875"/>
            <a:chExt cx="9439275" cy="657225"/>
          </a:xfrm>
        </p:grpSpPr>
        <p:sp>
          <p:nvSpPr>
            <p:cNvPr id="209" name="Google Shape;209;p14"/>
            <p:cNvSpPr/>
            <p:nvPr/>
          </p:nvSpPr>
          <p:spPr>
            <a:xfrm>
              <a:off x="600075" y="4333875"/>
              <a:ext cx="9439275" cy="657225"/>
            </a:xfrm>
            <a:custGeom>
              <a:rect b="b" l="l" r="r" t="t"/>
              <a:pathLst>
                <a:path extrusionOk="0" h="657225" w="9439275">
                  <a:moveTo>
                    <a:pt x="9373489" y="0"/>
                  </a:moveTo>
                  <a:lnTo>
                    <a:pt x="65722" y="0"/>
                  </a:lnTo>
                  <a:lnTo>
                    <a:pt x="40140" y="5171"/>
                  </a:lnTo>
                  <a:lnTo>
                    <a:pt x="19250" y="19272"/>
                  </a:lnTo>
                  <a:lnTo>
                    <a:pt x="5164" y="40183"/>
                  </a:lnTo>
                  <a:lnTo>
                    <a:pt x="0" y="65786"/>
                  </a:lnTo>
                  <a:lnTo>
                    <a:pt x="0" y="591438"/>
                  </a:lnTo>
                  <a:lnTo>
                    <a:pt x="5164" y="617041"/>
                  </a:lnTo>
                  <a:lnTo>
                    <a:pt x="19250" y="637952"/>
                  </a:lnTo>
                  <a:lnTo>
                    <a:pt x="40140" y="652053"/>
                  </a:lnTo>
                  <a:lnTo>
                    <a:pt x="65722" y="657225"/>
                  </a:lnTo>
                  <a:lnTo>
                    <a:pt x="9373489" y="657225"/>
                  </a:lnTo>
                  <a:lnTo>
                    <a:pt x="9399091" y="652053"/>
                  </a:lnTo>
                  <a:lnTo>
                    <a:pt x="9420002" y="637952"/>
                  </a:lnTo>
                  <a:lnTo>
                    <a:pt x="9434103" y="617041"/>
                  </a:lnTo>
                  <a:lnTo>
                    <a:pt x="9439275" y="591438"/>
                  </a:lnTo>
                  <a:lnTo>
                    <a:pt x="9439275" y="65786"/>
                  </a:lnTo>
                  <a:lnTo>
                    <a:pt x="9434103" y="40183"/>
                  </a:lnTo>
                  <a:lnTo>
                    <a:pt x="9420002" y="19272"/>
                  </a:lnTo>
                  <a:lnTo>
                    <a:pt x="9399091" y="5171"/>
                  </a:lnTo>
                  <a:lnTo>
                    <a:pt x="9373489" y="0"/>
                  </a:lnTo>
                  <a:close/>
                </a:path>
              </a:pathLst>
            </a:custGeom>
            <a:solidFill>
              <a:srgbClr val="FADDEB"/>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10" name="Google Shape;210;p14"/>
            <p:cNvPicPr preferRelativeResize="0"/>
            <p:nvPr/>
          </p:nvPicPr>
          <p:blipFill rotWithShape="1">
            <a:blip r:embed="rId6">
              <a:alphaModFix/>
            </a:blip>
            <a:srcRect b="0" l="0" r="0" t="0"/>
            <a:stretch/>
          </p:blipFill>
          <p:spPr>
            <a:xfrm>
              <a:off x="857665" y="4518098"/>
              <a:ext cx="246984" cy="298082"/>
            </a:xfrm>
            <a:prstGeom prst="rect">
              <a:avLst/>
            </a:prstGeom>
            <a:noFill/>
            <a:ln>
              <a:noFill/>
            </a:ln>
          </p:spPr>
        </p:pic>
      </p:grpSp>
      <p:sp>
        <p:nvSpPr>
          <p:cNvPr id="211" name="Google Shape;211;p14"/>
          <p:cNvSpPr/>
          <p:nvPr/>
        </p:nvSpPr>
        <p:spPr>
          <a:xfrm>
            <a:off x="800100" y="4486275"/>
            <a:ext cx="361950" cy="361950"/>
          </a:xfrm>
          <a:custGeom>
            <a:rect b="b" l="l" r="r" t="t"/>
            <a:pathLst>
              <a:path extrusionOk="0" h="361950" w="361950">
                <a:moveTo>
                  <a:pt x="0" y="361950"/>
                </a:moveTo>
                <a:lnTo>
                  <a:pt x="361950" y="361950"/>
                </a:lnTo>
                <a:lnTo>
                  <a:pt x="361950" y="0"/>
                </a:lnTo>
                <a:lnTo>
                  <a:pt x="0" y="0"/>
                </a:lnTo>
                <a:lnTo>
                  <a:pt x="0" y="361950"/>
                </a:lnTo>
                <a:close/>
              </a:path>
            </a:pathLst>
          </a:custGeom>
          <a:noFill/>
          <a:ln cap="flat"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12" name="Google Shape;212;p14"/>
          <p:cNvSpPr txBox="1"/>
          <p:nvPr/>
        </p:nvSpPr>
        <p:spPr>
          <a:xfrm>
            <a:off x="235267" y="180022"/>
            <a:ext cx="9648190" cy="4953279"/>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b="1" lang="en-IN" sz="2000">
                <a:solidFill>
                  <a:schemeClr val="dk1"/>
                </a:solidFill>
                <a:latin typeface="Times New Roman"/>
                <a:ea typeface="Times New Roman"/>
                <a:cs typeface="Times New Roman"/>
                <a:sym typeface="Times New Roman"/>
              </a:rPr>
              <a:t>MODEL PERFORMANCE &amp; DEPLOYMENT</a:t>
            </a:r>
            <a:endParaRPr sz="2000">
              <a:solidFill>
                <a:schemeClr val="dk1"/>
              </a:solidFill>
              <a:latin typeface="Times New Roman"/>
              <a:ea typeface="Times New Roman"/>
              <a:cs typeface="Times New Roman"/>
              <a:sym typeface="Times New Roman"/>
            </a:endParaRPr>
          </a:p>
          <a:p>
            <a:pPr indent="0" lvl="0" marL="0" rtl="0" algn="l">
              <a:lnSpc>
                <a:spcPct val="100000"/>
              </a:lnSpc>
              <a:spcBef>
                <a:spcPts val="215"/>
              </a:spcBef>
              <a:spcAft>
                <a:spcPts val="0"/>
              </a:spcAft>
              <a:buNone/>
            </a:pPr>
            <a:r>
              <a:t/>
            </a:r>
            <a:endParaRPr sz="2000">
              <a:solidFill>
                <a:schemeClr val="dk1"/>
              </a:solidFill>
              <a:latin typeface="Times New Roman"/>
              <a:ea typeface="Times New Roman"/>
              <a:cs typeface="Times New Roman"/>
              <a:sym typeface="Times New Roman"/>
            </a:endParaRPr>
          </a:p>
          <a:p>
            <a:pPr indent="0" lvl="0" marL="455930" rtl="0" algn="l">
              <a:lnSpc>
                <a:spcPct val="100000"/>
              </a:lnSpc>
              <a:spcBef>
                <a:spcPts val="5"/>
              </a:spcBef>
              <a:spcAft>
                <a:spcPts val="0"/>
              </a:spcAft>
              <a:buNone/>
            </a:pPr>
            <a:r>
              <a:rPr b="1" lang="en-IN" sz="2000">
                <a:solidFill>
                  <a:schemeClr val="dk1"/>
                </a:solidFill>
                <a:latin typeface="Times New Roman"/>
                <a:ea typeface="Times New Roman"/>
                <a:cs typeface="Times New Roman"/>
                <a:sym typeface="Times New Roman"/>
              </a:rPr>
              <a:t>Overview of Performance</a:t>
            </a:r>
            <a:endParaRPr sz="20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rtl="0" algn="l">
              <a:lnSpc>
                <a:spcPct val="100000"/>
              </a:lnSpc>
              <a:spcBef>
                <a:spcPts val="390"/>
              </a:spcBef>
              <a:spcAft>
                <a:spcPts val="0"/>
              </a:spcAft>
              <a:buNone/>
            </a:pPr>
            <a:r>
              <a:t/>
            </a:r>
            <a:endParaRPr sz="2000">
              <a:solidFill>
                <a:schemeClr val="dk1"/>
              </a:solidFill>
              <a:latin typeface="Times New Roman"/>
              <a:ea typeface="Times New Roman"/>
              <a:cs typeface="Times New Roman"/>
              <a:sym typeface="Times New Roman"/>
            </a:endParaRPr>
          </a:p>
          <a:p>
            <a:pPr indent="0" lvl="0" marL="1198880" rtl="0" algn="l">
              <a:lnSpc>
                <a:spcPct val="118250"/>
              </a:lnSpc>
              <a:spcBef>
                <a:spcPts val="0"/>
              </a:spcBef>
              <a:spcAft>
                <a:spcPts val="0"/>
              </a:spcAft>
              <a:buNone/>
            </a:pPr>
            <a:r>
              <a:rPr b="1" lang="en-IN" sz="2000">
                <a:solidFill>
                  <a:schemeClr val="dk1"/>
                </a:solidFill>
                <a:latin typeface="Times New Roman"/>
                <a:ea typeface="Times New Roman"/>
                <a:cs typeface="Times New Roman"/>
                <a:sym typeface="Times New Roman"/>
              </a:rPr>
              <a:t>Purpose:- </a:t>
            </a:r>
            <a:r>
              <a:rPr lang="en-IN" sz="2000">
                <a:solidFill>
                  <a:schemeClr val="dk1"/>
                </a:solidFill>
                <a:latin typeface="Times New Roman"/>
                <a:ea typeface="Times New Roman"/>
                <a:cs typeface="Times New Roman"/>
                <a:sym typeface="Times New Roman"/>
              </a:rPr>
              <a:t>Utilizes Machine Learning to detect Thyroid Disorders</a:t>
            </a:r>
            <a:endParaRPr sz="2000">
              <a:solidFill>
                <a:schemeClr val="dk1"/>
              </a:solidFill>
              <a:latin typeface="Times New Roman"/>
              <a:ea typeface="Times New Roman"/>
              <a:cs typeface="Times New Roman"/>
              <a:sym typeface="Times New Roman"/>
            </a:endParaRPr>
          </a:p>
          <a:p>
            <a:pPr indent="0" lvl="0" marL="1198880" rtl="0" algn="l">
              <a:lnSpc>
                <a:spcPct val="118250"/>
              </a:lnSpc>
              <a:spcBef>
                <a:spcPts val="0"/>
              </a:spcBef>
              <a:spcAft>
                <a:spcPts val="0"/>
              </a:spcAft>
              <a:buNone/>
            </a:pPr>
            <a:r>
              <a:rPr lang="en-IN" sz="2000">
                <a:solidFill>
                  <a:schemeClr val="dk1"/>
                </a:solidFill>
                <a:latin typeface="Times New Roman"/>
                <a:ea typeface="Times New Roman"/>
                <a:cs typeface="Times New Roman"/>
                <a:sym typeface="Times New Roman"/>
              </a:rPr>
              <a:t>in symptomatic patients, enabling timely treatment.</a:t>
            </a:r>
            <a:endParaRPr sz="2000">
              <a:solidFill>
                <a:schemeClr val="dk1"/>
              </a:solidFill>
              <a:latin typeface="Times New Roman"/>
              <a:ea typeface="Times New Roman"/>
              <a:cs typeface="Times New Roman"/>
              <a:sym typeface="Times New Roman"/>
            </a:endParaRPr>
          </a:p>
          <a:p>
            <a:pPr indent="0" lvl="0" marL="0" rtl="0" algn="l">
              <a:lnSpc>
                <a:spcPct val="100000"/>
              </a:lnSpc>
              <a:spcBef>
                <a:spcPts val="1035"/>
              </a:spcBef>
              <a:spcAft>
                <a:spcPts val="0"/>
              </a:spcAft>
              <a:buNone/>
            </a:pPr>
            <a:r>
              <a:t/>
            </a:r>
            <a:endParaRPr sz="2000">
              <a:solidFill>
                <a:schemeClr val="dk1"/>
              </a:solidFill>
              <a:latin typeface="Times New Roman"/>
              <a:ea typeface="Times New Roman"/>
              <a:cs typeface="Times New Roman"/>
              <a:sym typeface="Times New Roman"/>
            </a:endParaRPr>
          </a:p>
          <a:p>
            <a:pPr indent="0" lvl="0" marL="1198880" rtl="0" algn="l">
              <a:lnSpc>
                <a:spcPct val="100000"/>
              </a:lnSpc>
              <a:spcBef>
                <a:spcPts val="0"/>
              </a:spcBef>
              <a:spcAft>
                <a:spcPts val="0"/>
              </a:spcAft>
              <a:buNone/>
            </a:pPr>
            <a:r>
              <a:rPr b="1" lang="en-IN" sz="2000">
                <a:solidFill>
                  <a:schemeClr val="dk1"/>
                </a:solidFill>
                <a:latin typeface="Times New Roman"/>
                <a:ea typeface="Times New Roman"/>
                <a:cs typeface="Times New Roman"/>
                <a:sym typeface="Times New Roman"/>
              </a:rPr>
              <a:t>Reusability:- </a:t>
            </a:r>
            <a:r>
              <a:rPr lang="en-IN" sz="2000">
                <a:solidFill>
                  <a:schemeClr val="dk1"/>
                </a:solidFill>
                <a:latin typeface="Times New Roman"/>
                <a:ea typeface="Times New Roman"/>
                <a:cs typeface="Times New Roman"/>
                <a:sym typeface="Times New Roman"/>
              </a:rPr>
              <a:t>Code is designed for seamless reuse without issues.</a:t>
            </a:r>
            <a:endParaRPr sz="2000">
              <a:solidFill>
                <a:schemeClr val="dk1"/>
              </a:solidFill>
              <a:latin typeface="Times New Roman"/>
              <a:ea typeface="Times New Roman"/>
              <a:cs typeface="Times New Roman"/>
              <a:sym typeface="Times New Roman"/>
            </a:endParaRPr>
          </a:p>
          <a:p>
            <a:pPr indent="0" lvl="0" marL="0" rtl="0" algn="l">
              <a:lnSpc>
                <a:spcPct val="100000"/>
              </a:lnSpc>
              <a:spcBef>
                <a:spcPts val="1070"/>
              </a:spcBef>
              <a:spcAft>
                <a:spcPts val="0"/>
              </a:spcAft>
              <a:buNone/>
            </a:pPr>
            <a:r>
              <a:t/>
            </a:r>
            <a:endParaRPr sz="2000">
              <a:solidFill>
                <a:schemeClr val="dk1"/>
              </a:solidFill>
              <a:latin typeface="Times New Roman"/>
              <a:ea typeface="Times New Roman"/>
              <a:cs typeface="Times New Roman"/>
              <a:sym typeface="Times New Roman"/>
            </a:endParaRPr>
          </a:p>
          <a:p>
            <a:pPr indent="0" lvl="0" marL="1198880" rtl="0" algn="l">
              <a:lnSpc>
                <a:spcPct val="118250"/>
              </a:lnSpc>
              <a:spcBef>
                <a:spcPts val="0"/>
              </a:spcBef>
              <a:spcAft>
                <a:spcPts val="0"/>
              </a:spcAft>
              <a:buNone/>
            </a:pPr>
            <a:r>
              <a:rPr b="1" lang="en-IN" sz="2000">
                <a:solidFill>
                  <a:schemeClr val="dk1"/>
                </a:solidFill>
                <a:latin typeface="Times New Roman"/>
                <a:ea typeface="Times New Roman"/>
                <a:cs typeface="Times New Roman"/>
                <a:sym typeface="Times New Roman"/>
              </a:rPr>
              <a:t>Application Compatibility:- </a:t>
            </a:r>
            <a:r>
              <a:rPr lang="en-IN" sz="2000">
                <a:solidFill>
                  <a:schemeClr val="dk1"/>
                </a:solidFill>
                <a:latin typeface="Times New Roman"/>
                <a:ea typeface="Times New Roman"/>
                <a:cs typeface="Times New Roman"/>
                <a:sym typeface="Times New Roman"/>
              </a:rPr>
              <a:t>Python acts as the interface,</a:t>
            </a:r>
            <a:endParaRPr sz="2000">
              <a:solidFill>
                <a:schemeClr val="dk1"/>
              </a:solidFill>
              <a:latin typeface="Times New Roman"/>
              <a:ea typeface="Times New Roman"/>
              <a:cs typeface="Times New Roman"/>
              <a:sym typeface="Times New Roman"/>
            </a:endParaRPr>
          </a:p>
          <a:p>
            <a:pPr indent="0" lvl="0" marL="1198880" rtl="0" algn="l">
              <a:lnSpc>
                <a:spcPct val="118250"/>
              </a:lnSpc>
              <a:spcBef>
                <a:spcPts val="0"/>
              </a:spcBef>
              <a:spcAft>
                <a:spcPts val="0"/>
              </a:spcAft>
              <a:buNone/>
            </a:pPr>
            <a:r>
              <a:rPr lang="en-IN" sz="2000">
                <a:solidFill>
                  <a:schemeClr val="dk1"/>
                </a:solidFill>
                <a:latin typeface="Times New Roman"/>
                <a:ea typeface="Times New Roman"/>
                <a:cs typeface="Times New Roman"/>
                <a:sym typeface="Times New Roman"/>
              </a:rPr>
              <a:t>ensuring proper data transfer between components.</a:t>
            </a:r>
            <a:endParaRPr sz="2000">
              <a:solidFill>
                <a:schemeClr val="dk1"/>
              </a:solidFill>
              <a:latin typeface="Times New Roman"/>
              <a:ea typeface="Times New Roman"/>
              <a:cs typeface="Times New Roman"/>
              <a:sym typeface="Times New Roman"/>
            </a:endParaRPr>
          </a:p>
          <a:p>
            <a:pPr indent="0" lvl="0" marL="0" rtl="0" algn="l">
              <a:lnSpc>
                <a:spcPct val="100000"/>
              </a:lnSpc>
              <a:spcBef>
                <a:spcPts val="25"/>
              </a:spcBef>
              <a:spcAft>
                <a:spcPts val="0"/>
              </a:spcAft>
              <a:buNone/>
            </a:pPr>
            <a:r>
              <a:t/>
            </a:r>
            <a:endParaRPr sz="2000">
              <a:solidFill>
                <a:schemeClr val="dk1"/>
              </a:solidFill>
              <a:latin typeface="Times New Roman"/>
              <a:ea typeface="Times New Roman"/>
              <a:cs typeface="Times New Roman"/>
              <a:sym typeface="Times New Roman"/>
            </a:endParaRPr>
          </a:p>
          <a:p>
            <a:pPr indent="0" lvl="0" marL="1198880" marR="229234" rtl="0" algn="l">
              <a:lnSpc>
                <a:spcPct val="116500"/>
              </a:lnSpc>
              <a:spcBef>
                <a:spcPts val="0"/>
              </a:spcBef>
              <a:spcAft>
                <a:spcPts val="0"/>
              </a:spcAft>
              <a:buNone/>
            </a:pPr>
            <a:r>
              <a:rPr b="1" lang="en-IN" sz="2000">
                <a:solidFill>
                  <a:schemeClr val="dk1"/>
                </a:solidFill>
                <a:latin typeface="Times New Roman"/>
                <a:ea typeface="Times New Roman"/>
                <a:cs typeface="Times New Roman"/>
                <a:sym typeface="Times New Roman"/>
              </a:rPr>
              <a:t>Resource Utilization:- </a:t>
            </a:r>
            <a:r>
              <a:rPr lang="en-IN" sz="2000">
                <a:solidFill>
                  <a:schemeClr val="dk1"/>
                </a:solidFill>
                <a:latin typeface="Times New Roman"/>
                <a:ea typeface="Times New Roman"/>
                <a:cs typeface="Times New Roman"/>
                <a:sym typeface="Times New Roman"/>
              </a:rPr>
              <a:t>Maximizes processing power during task execution.</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6" name="Shape 216"/>
        <p:cNvGrpSpPr/>
        <p:nvPr/>
      </p:nvGrpSpPr>
      <p:grpSpPr>
        <a:xfrm>
          <a:off x="0" y="0"/>
          <a:ext cx="0" cy="0"/>
          <a:chOff x="0" y="0"/>
          <a:chExt cx="0" cy="0"/>
        </a:xfrm>
      </p:grpSpPr>
      <p:sp>
        <p:nvSpPr>
          <p:cNvPr id="217" name="Google Shape;217;p15"/>
          <p:cNvSpPr txBox="1"/>
          <p:nvPr>
            <p:ph type="title"/>
          </p:nvPr>
        </p:nvSpPr>
        <p:spPr>
          <a:xfrm>
            <a:off x="678497" y="351472"/>
            <a:ext cx="3811904" cy="334645"/>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en-IN" sz="2000" u="none">
                <a:solidFill>
                  <a:schemeClr val="dk1"/>
                </a:solidFill>
              </a:rPr>
              <a:t>The Best Machine Learning Model</a:t>
            </a:r>
            <a:endParaRPr sz="2000" u="none">
              <a:solidFill>
                <a:schemeClr val="dk1"/>
              </a:solidFill>
            </a:endParaRPr>
          </a:p>
        </p:txBody>
      </p:sp>
      <p:sp>
        <p:nvSpPr>
          <p:cNvPr id="218" name="Google Shape;218;p15"/>
          <p:cNvSpPr txBox="1"/>
          <p:nvPr/>
        </p:nvSpPr>
        <p:spPr>
          <a:xfrm>
            <a:off x="657225" y="814260"/>
            <a:ext cx="9203055" cy="5428346"/>
          </a:xfrm>
          <a:prstGeom prst="rect">
            <a:avLst/>
          </a:prstGeom>
          <a:noFill/>
          <a:ln>
            <a:noFill/>
          </a:ln>
        </p:spPr>
        <p:txBody>
          <a:bodyPr anchorCtr="0" anchor="t" bIns="0" lIns="0" spcFirstLastPara="1" rIns="0" wrap="square" tIns="147950">
            <a:spAutoFit/>
          </a:bodyPr>
          <a:lstStyle/>
          <a:p>
            <a:pPr indent="-342900" lvl="0" marL="355600" rtl="0" algn="just">
              <a:lnSpc>
                <a:spcPct val="100000"/>
              </a:lnSpc>
              <a:spcBef>
                <a:spcPts val="0"/>
              </a:spcBef>
              <a:spcAft>
                <a:spcPts val="0"/>
              </a:spcAft>
              <a:buClr>
                <a:srgbClr val="EB3C9F"/>
              </a:buClr>
              <a:buSzPts val="1250"/>
              <a:buFont typeface="Noto Sans Symbols"/>
              <a:buChar char="▪"/>
            </a:pPr>
            <a:r>
              <a:rPr lang="en-IN" sz="1550">
                <a:solidFill>
                  <a:schemeClr val="dk1"/>
                </a:solidFill>
                <a:latin typeface="Times New Roman"/>
                <a:ea typeface="Times New Roman"/>
                <a:cs typeface="Times New Roman"/>
                <a:sym typeface="Times New Roman"/>
              </a:rPr>
              <a:t>In this Project, the Best Machine Learning Model has been Random Forest Classifier.</a:t>
            </a:r>
            <a:endParaRPr sz="1550">
              <a:solidFill>
                <a:schemeClr val="dk1"/>
              </a:solidFill>
              <a:latin typeface="Times New Roman"/>
              <a:ea typeface="Times New Roman"/>
              <a:cs typeface="Times New Roman"/>
              <a:sym typeface="Times New Roman"/>
            </a:endParaRPr>
          </a:p>
          <a:p>
            <a:pPr indent="-343535" lvl="0" marL="355600" marR="247650" rtl="0" algn="just">
              <a:lnSpc>
                <a:spcPct val="104900"/>
              </a:lnSpc>
              <a:spcBef>
                <a:spcPts val="980"/>
              </a:spcBef>
              <a:spcAft>
                <a:spcPts val="0"/>
              </a:spcAft>
              <a:buClr>
                <a:srgbClr val="EB3C9F"/>
              </a:buClr>
              <a:buSzPts val="1250"/>
              <a:buFont typeface="Noto Sans Symbols"/>
              <a:buChar char="▪"/>
            </a:pPr>
            <a:r>
              <a:rPr b="1" lang="en-IN" sz="1550">
                <a:solidFill>
                  <a:schemeClr val="dk1"/>
                </a:solidFill>
                <a:latin typeface="Times New Roman"/>
                <a:ea typeface="Times New Roman"/>
                <a:cs typeface="Times New Roman"/>
                <a:sym typeface="Times New Roman"/>
              </a:rPr>
              <a:t>Definition:- </a:t>
            </a:r>
            <a:r>
              <a:rPr lang="en-IN" sz="1550">
                <a:solidFill>
                  <a:schemeClr val="dk1"/>
                </a:solidFill>
                <a:latin typeface="Times New Roman"/>
                <a:ea typeface="Times New Roman"/>
                <a:cs typeface="Times New Roman"/>
                <a:sym typeface="Times New Roman"/>
              </a:rPr>
              <a:t>An ensemble learning method that combines multiple decision trees to improve classification accuracy.</a:t>
            </a:r>
            <a:endParaRPr sz="1550">
              <a:solidFill>
                <a:schemeClr val="dk1"/>
              </a:solidFill>
              <a:latin typeface="Times New Roman"/>
              <a:ea typeface="Times New Roman"/>
              <a:cs typeface="Times New Roman"/>
              <a:sym typeface="Times New Roman"/>
            </a:endParaRPr>
          </a:p>
          <a:p>
            <a:pPr indent="-342900" lvl="0" marL="355600" rtl="0" algn="just">
              <a:lnSpc>
                <a:spcPct val="100000"/>
              </a:lnSpc>
              <a:spcBef>
                <a:spcPts val="990"/>
              </a:spcBef>
              <a:spcAft>
                <a:spcPts val="0"/>
              </a:spcAft>
              <a:buClr>
                <a:srgbClr val="EB3C9F"/>
              </a:buClr>
              <a:buSzPts val="1250"/>
              <a:buFont typeface="Noto Sans Symbols"/>
              <a:buChar char="▪"/>
            </a:pPr>
            <a:r>
              <a:rPr b="1" lang="en-IN" sz="1550">
                <a:solidFill>
                  <a:schemeClr val="dk1"/>
                </a:solidFill>
                <a:latin typeface="Times New Roman"/>
                <a:ea typeface="Times New Roman"/>
                <a:cs typeface="Times New Roman"/>
                <a:sym typeface="Times New Roman"/>
              </a:rPr>
              <a:t>Working:- </a:t>
            </a:r>
            <a:r>
              <a:rPr lang="en-IN" sz="1550">
                <a:solidFill>
                  <a:schemeClr val="dk1"/>
                </a:solidFill>
                <a:latin typeface="Times New Roman"/>
                <a:ea typeface="Times New Roman"/>
                <a:cs typeface="Times New Roman"/>
                <a:sym typeface="Times New Roman"/>
              </a:rPr>
              <a:t>Creates a "forest" of decision trees using bootstrapped samples of the data</a:t>
            </a:r>
            <a:endParaRPr sz="1550">
              <a:solidFill>
                <a:schemeClr val="dk1"/>
              </a:solidFill>
              <a:latin typeface="Times New Roman"/>
              <a:ea typeface="Times New Roman"/>
              <a:cs typeface="Times New Roman"/>
              <a:sym typeface="Times New Roman"/>
            </a:endParaRPr>
          </a:p>
          <a:p>
            <a:pPr indent="0" lvl="0" marL="355600" rtl="0" algn="just">
              <a:lnSpc>
                <a:spcPct val="100000"/>
              </a:lnSpc>
              <a:spcBef>
                <a:spcPts val="95"/>
              </a:spcBef>
              <a:spcAft>
                <a:spcPts val="0"/>
              </a:spcAft>
              <a:buNone/>
            </a:pPr>
            <a:r>
              <a:rPr lang="en-IN" sz="1550">
                <a:solidFill>
                  <a:schemeClr val="dk1"/>
                </a:solidFill>
                <a:latin typeface="Times New Roman"/>
                <a:ea typeface="Times New Roman"/>
                <a:cs typeface="Times New Roman"/>
                <a:sym typeface="Times New Roman"/>
              </a:rPr>
              <a:t>and averages their predictions.</a:t>
            </a:r>
            <a:endParaRPr sz="1550">
              <a:solidFill>
                <a:schemeClr val="dk1"/>
              </a:solidFill>
              <a:latin typeface="Times New Roman"/>
              <a:ea typeface="Times New Roman"/>
              <a:cs typeface="Times New Roman"/>
              <a:sym typeface="Times New Roman"/>
            </a:endParaRPr>
          </a:p>
          <a:p>
            <a:pPr indent="-342900" lvl="0" marL="355600" rtl="0" algn="just">
              <a:lnSpc>
                <a:spcPct val="100000"/>
              </a:lnSpc>
              <a:spcBef>
                <a:spcPts val="1070"/>
              </a:spcBef>
              <a:spcAft>
                <a:spcPts val="0"/>
              </a:spcAft>
              <a:buClr>
                <a:srgbClr val="EB3C9F"/>
              </a:buClr>
              <a:buSzPts val="1250"/>
              <a:buFont typeface="Noto Sans Symbols"/>
              <a:buChar char="▪"/>
            </a:pPr>
            <a:r>
              <a:rPr b="1" lang="en-IN" sz="1550">
                <a:solidFill>
                  <a:schemeClr val="dk1"/>
                </a:solidFill>
                <a:latin typeface="Times New Roman"/>
                <a:ea typeface="Times New Roman"/>
                <a:cs typeface="Times New Roman"/>
                <a:sym typeface="Times New Roman"/>
              </a:rPr>
              <a:t>Key Parameters:-</a:t>
            </a:r>
            <a:endParaRPr sz="1550">
              <a:solidFill>
                <a:schemeClr val="dk1"/>
              </a:solidFill>
              <a:latin typeface="Times New Roman"/>
              <a:ea typeface="Times New Roman"/>
              <a:cs typeface="Times New Roman"/>
              <a:sym typeface="Times New Roman"/>
            </a:endParaRPr>
          </a:p>
          <a:p>
            <a:pPr indent="-285750" lvl="1" marL="755650" rtl="0" algn="just">
              <a:lnSpc>
                <a:spcPct val="100000"/>
              </a:lnSpc>
              <a:spcBef>
                <a:spcPts val="994"/>
              </a:spcBef>
              <a:spcAft>
                <a:spcPts val="0"/>
              </a:spcAft>
              <a:buClr>
                <a:srgbClr val="EB3C9F"/>
              </a:buClr>
              <a:buSzPts val="1100"/>
              <a:buFont typeface="Noto Sans Symbols"/>
              <a:buChar char="▪"/>
            </a:pPr>
            <a:r>
              <a:rPr lang="en-IN" sz="1400">
                <a:solidFill>
                  <a:schemeClr val="dk1"/>
                </a:solidFill>
                <a:latin typeface="Times New Roman"/>
                <a:ea typeface="Times New Roman"/>
                <a:cs typeface="Times New Roman"/>
                <a:sym typeface="Times New Roman"/>
              </a:rPr>
              <a:t>Number of trees in the forest.</a:t>
            </a:r>
            <a:endParaRPr sz="1400">
              <a:solidFill>
                <a:schemeClr val="dk1"/>
              </a:solidFill>
              <a:latin typeface="Times New Roman"/>
              <a:ea typeface="Times New Roman"/>
              <a:cs typeface="Times New Roman"/>
              <a:sym typeface="Times New Roman"/>
            </a:endParaRPr>
          </a:p>
          <a:p>
            <a:pPr indent="-285750" lvl="1" marL="755650" rtl="0" algn="just">
              <a:lnSpc>
                <a:spcPct val="100000"/>
              </a:lnSpc>
              <a:spcBef>
                <a:spcPts val="1019"/>
              </a:spcBef>
              <a:spcAft>
                <a:spcPts val="0"/>
              </a:spcAft>
              <a:buClr>
                <a:srgbClr val="EB3C9F"/>
              </a:buClr>
              <a:buSzPts val="1100"/>
              <a:buFont typeface="Noto Sans Symbols"/>
              <a:buChar char="▪"/>
            </a:pPr>
            <a:r>
              <a:rPr lang="en-IN" sz="1400">
                <a:solidFill>
                  <a:schemeClr val="dk1"/>
                </a:solidFill>
                <a:latin typeface="Times New Roman"/>
                <a:ea typeface="Times New Roman"/>
                <a:cs typeface="Times New Roman"/>
                <a:sym typeface="Times New Roman"/>
              </a:rPr>
              <a:t>Maximum depth of each tree.</a:t>
            </a:r>
            <a:endParaRPr sz="1400">
              <a:solidFill>
                <a:schemeClr val="dk1"/>
              </a:solidFill>
              <a:latin typeface="Times New Roman"/>
              <a:ea typeface="Times New Roman"/>
              <a:cs typeface="Times New Roman"/>
              <a:sym typeface="Times New Roman"/>
            </a:endParaRPr>
          </a:p>
          <a:p>
            <a:pPr indent="-285750" lvl="1" marL="755650" rtl="0" algn="just">
              <a:lnSpc>
                <a:spcPct val="100000"/>
              </a:lnSpc>
              <a:spcBef>
                <a:spcPts val="1025"/>
              </a:spcBef>
              <a:spcAft>
                <a:spcPts val="0"/>
              </a:spcAft>
              <a:buClr>
                <a:srgbClr val="EB3C9F"/>
              </a:buClr>
              <a:buSzPts val="1100"/>
              <a:buFont typeface="Noto Sans Symbols"/>
              <a:buChar char="▪"/>
            </a:pPr>
            <a:r>
              <a:rPr lang="en-IN" sz="1400">
                <a:solidFill>
                  <a:schemeClr val="dk1"/>
                </a:solidFill>
                <a:latin typeface="Times New Roman"/>
                <a:ea typeface="Times New Roman"/>
                <a:cs typeface="Times New Roman"/>
                <a:sym typeface="Times New Roman"/>
              </a:rPr>
              <a:t>Number of features considered for splitting at each node.</a:t>
            </a:r>
            <a:endParaRPr sz="1400">
              <a:solidFill>
                <a:schemeClr val="dk1"/>
              </a:solidFill>
              <a:latin typeface="Times New Roman"/>
              <a:ea typeface="Times New Roman"/>
              <a:cs typeface="Times New Roman"/>
              <a:sym typeface="Times New Roman"/>
            </a:endParaRPr>
          </a:p>
          <a:p>
            <a:pPr indent="-342900" lvl="0" marL="355600" rtl="0" algn="just">
              <a:lnSpc>
                <a:spcPct val="100000"/>
              </a:lnSpc>
              <a:spcBef>
                <a:spcPts val="1025"/>
              </a:spcBef>
              <a:spcAft>
                <a:spcPts val="0"/>
              </a:spcAft>
              <a:buClr>
                <a:srgbClr val="EB3C9F"/>
              </a:buClr>
              <a:buSzPts val="1250"/>
              <a:buFont typeface="Noto Sans Symbols"/>
              <a:buChar char="▪"/>
            </a:pPr>
            <a:r>
              <a:rPr b="1" lang="en-IN" sz="1550">
                <a:solidFill>
                  <a:schemeClr val="dk1"/>
                </a:solidFill>
                <a:latin typeface="Times New Roman"/>
                <a:ea typeface="Times New Roman"/>
                <a:cs typeface="Times New Roman"/>
                <a:sym typeface="Times New Roman"/>
              </a:rPr>
              <a:t>Advantages:-</a:t>
            </a:r>
            <a:endParaRPr sz="1550">
              <a:solidFill>
                <a:schemeClr val="dk1"/>
              </a:solidFill>
              <a:latin typeface="Times New Roman"/>
              <a:ea typeface="Times New Roman"/>
              <a:cs typeface="Times New Roman"/>
              <a:sym typeface="Times New Roman"/>
            </a:endParaRPr>
          </a:p>
          <a:p>
            <a:pPr indent="-285750" lvl="1" marL="755650" rtl="0" algn="just">
              <a:lnSpc>
                <a:spcPct val="100000"/>
              </a:lnSpc>
              <a:spcBef>
                <a:spcPts val="994"/>
              </a:spcBef>
              <a:spcAft>
                <a:spcPts val="0"/>
              </a:spcAft>
              <a:buClr>
                <a:srgbClr val="EB3C9F"/>
              </a:buClr>
              <a:buSzPts val="1100"/>
              <a:buFont typeface="Noto Sans Symbols"/>
              <a:buChar char="▪"/>
            </a:pPr>
            <a:r>
              <a:rPr lang="en-IN" sz="1400">
                <a:solidFill>
                  <a:schemeClr val="dk1"/>
                </a:solidFill>
                <a:latin typeface="Times New Roman"/>
                <a:ea typeface="Times New Roman"/>
                <a:cs typeface="Times New Roman"/>
                <a:sym typeface="Times New Roman"/>
              </a:rPr>
              <a:t>Reduces overfitting compared to individual decision trees.</a:t>
            </a:r>
            <a:endParaRPr sz="1400">
              <a:solidFill>
                <a:schemeClr val="dk1"/>
              </a:solidFill>
              <a:latin typeface="Times New Roman"/>
              <a:ea typeface="Times New Roman"/>
              <a:cs typeface="Times New Roman"/>
              <a:sym typeface="Times New Roman"/>
            </a:endParaRPr>
          </a:p>
          <a:p>
            <a:pPr indent="-285750" lvl="1" marL="755650" rtl="0" algn="just">
              <a:lnSpc>
                <a:spcPct val="100000"/>
              </a:lnSpc>
              <a:spcBef>
                <a:spcPts val="1019"/>
              </a:spcBef>
              <a:spcAft>
                <a:spcPts val="0"/>
              </a:spcAft>
              <a:buClr>
                <a:srgbClr val="EB3C9F"/>
              </a:buClr>
              <a:buSzPts val="1100"/>
              <a:buFont typeface="Noto Sans Symbols"/>
              <a:buChar char="▪"/>
            </a:pPr>
            <a:r>
              <a:rPr lang="en-IN" sz="1400">
                <a:solidFill>
                  <a:schemeClr val="dk1"/>
                </a:solidFill>
                <a:latin typeface="Times New Roman"/>
                <a:ea typeface="Times New Roman"/>
                <a:cs typeface="Times New Roman"/>
                <a:sym typeface="Times New Roman"/>
              </a:rPr>
              <a:t>Handles large datasets and high-dimensional data well.</a:t>
            </a:r>
            <a:endParaRPr sz="1400">
              <a:solidFill>
                <a:schemeClr val="dk1"/>
              </a:solidFill>
              <a:latin typeface="Times New Roman"/>
              <a:ea typeface="Times New Roman"/>
              <a:cs typeface="Times New Roman"/>
              <a:sym typeface="Times New Roman"/>
            </a:endParaRPr>
          </a:p>
          <a:p>
            <a:pPr indent="-285750" lvl="1" marL="755650" rtl="0" algn="just">
              <a:lnSpc>
                <a:spcPct val="100000"/>
              </a:lnSpc>
              <a:spcBef>
                <a:spcPts val="1025"/>
              </a:spcBef>
              <a:spcAft>
                <a:spcPts val="0"/>
              </a:spcAft>
              <a:buClr>
                <a:srgbClr val="EB3C9F"/>
              </a:buClr>
              <a:buSzPts val="1100"/>
              <a:buFont typeface="Noto Sans Symbols"/>
              <a:buChar char="▪"/>
            </a:pPr>
            <a:r>
              <a:rPr lang="en-IN" sz="1400">
                <a:solidFill>
                  <a:schemeClr val="dk1"/>
                </a:solidFill>
                <a:latin typeface="Times New Roman"/>
                <a:ea typeface="Times New Roman"/>
                <a:cs typeface="Times New Roman"/>
                <a:sym typeface="Times New Roman"/>
              </a:rPr>
              <a:t>Robust to noisy data and outliers.</a:t>
            </a:r>
            <a:endParaRPr sz="1400">
              <a:solidFill>
                <a:schemeClr val="dk1"/>
              </a:solidFill>
              <a:latin typeface="Times New Roman"/>
              <a:ea typeface="Times New Roman"/>
              <a:cs typeface="Times New Roman"/>
              <a:sym typeface="Times New Roman"/>
            </a:endParaRPr>
          </a:p>
          <a:p>
            <a:pPr indent="-343535" lvl="0" marL="355600" marR="567690" rtl="0" algn="just">
              <a:lnSpc>
                <a:spcPct val="105000"/>
              </a:lnSpc>
              <a:spcBef>
                <a:spcPts val="930"/>
              </a:spcBef>
              <a:spcAft>
                <a:spcPts val="0"/>
              </a:spcAft>
              <a:buClr>
                <a:srgbClr val="EB3C9F"/>
              </a:buClr>
              <a:buSzPts val="1250"/>
              <a:buFont typeface="Noto Sans Symbols"/>
              <a:buChar char="▪"/>
            </a:pPr>
            <a:r>
              <a:rPr b="1" lang="en-IN" sz="1550">
                <a:solidFill>
                  <a:schemeClr val="dk1"/>
                </a:solidFill>
                <a:latin typeface="Times New Roman"/>
                <a:ea typeface="Times New Roman"/>
                <a:cs typeface="Times New Roman"/>
                <a:sym typeface="Times New Roman"/>
              </a:rPr>
              <a:t>Applications:- </a:t>
            </a:r>
            <a:r>
              <a:rPr lang="en-IN" sz="1550">
                <a:solidFill>
                  <a:schemeClr val="dk1"/>
                </a:solidFill>
                <a:latin typeface="Times New Roman"/>
                <a:ea typeface="Times New Roman"/>
                <a:cs typeface="Times New Roman"/>
                <a:sym typeface="Times New Roman"/>
              </a:rPr>
              <a:t>Effective in classification tasks such as disease prediction, image recognition, and feature selection.</a:t>
            </a:r>
            <a:endParaRPr sz="1550">
              <a:solidFill>
                <a:schemeClr val="dk1"/>
              </a:solidFill>
              <a:latin typeface="Times New Roman"/>
              <a:ea typeface="Times New Roman"/>
              <a:cs typeface="Times New Roman"/>
              <a:sym typeface="Times New Roman"/>
            </a:endParaRPr>
          </a:p>
          <a:p>
            <a:pPr indent="-343535" lvl="0" marL="355600" marR="180340" rtl="0" algn="just">
              <a:lnSpc>
                <a:spcPct val="100899"/>
              </a:lnSpc>
              <a:spcBef>
                <a:spcPts val="1055"/>
              </a:spcBef>
              <a:spcAft>
                <a:spcPts val="0"/>
              </a:spcAft>
              <a:buClr>
                <a:srgbClr val="EB3C9F"/>
              </a:buClr>
              <a:buSzPts val="1250"/>
              <a:buFont typeface="Noto Sans Symbols"/>
              <a:buChar char="▪"/>
            </a:pPr>
            <a:r>
              <a:rPr b="1" lang="en-IN" sz="1550">
                <a:solidFill>
                  <a:schemeClr val="dk1"/>
                </a:solidFill>
                <a:latin typeface="Times New Roman"/>
                <a:ea typeface="Times New Roman"/>
                <a:cs typeface="Times New Roman"/>
                <a:sym typeface="Times New Roman"/>
              </a:rPr>
              <a:t>Performance:- </a:t>
            </a:r>
            <a:r>
              <a:rPr lang="en-IN" sz="1550">
                <a:solidFill>
                  <a:schemeClr val="dk1"/>
                </a:solidFill>
                <a:latin typeface="Times New Roman"/>
                <a:ea typeface="Times New Roman"/>
                <a:cs typeface="Times New Roman"/>
                <a:sym typeface="Times New Roman"/>
              </a:rPr>
              <a:t>Often delivers high accuracy and is less sensitive to hyperparameter tuning.</a:t>
            </a:r>
            <a:endParaRPr sz="155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2" name="Shape 222"/>
        <p:cNvGrpSpPr/>
        <p:nvPr/>
      </p:nvGrpSpPr>
      <p:grpSpPr>
        <a:xfrm>
          <a:off x="0" y="0"/>
          <a:ext cx="0" cy="0"/>
          <a:chOff x="0" y="0"/>
          <a:chExt cx="0" cy="0"/>
        </a:xfrm>
      </p:grpSpPr>
      <p:sp>
        <p:nvSpPr>
          <p:cNvPr id="223" name="Google Shape;223;p16"/>
          <p:cNvSpPr txBox="1"/>
          <p:nvPr>
            <p:ph type="title"/>
          </p:nvPr>
        </p:nvSpPr>
        <p:spPr>
          <a:xfrm>
            <a:off x="314007" y="64135"/>
            <a:ext cx="11563984" cy="613950"/>
          </a:xfrm>
          <a:prstGeom prst="rect">
            <a:avLst/>
          </a:prstGeom>
          <a:noFill/>
          <a:ln>
            <a:noFill/>
          </a:ln>
        </p:spPr>
        <p:txBody>
          <a:bodyPr anchorCtr="0" anchor="t" bIns="0" lIns="0" spcFirstLastPara="1" rIns="0" wrap="square" tIns="303200">
            <a:spAutoFit/>
          </a:bodyPr>
          <a:lstStyle/>
          <a:p>
            <a:pPr indent="0" lvl="0" marL="376555" rtl="0" algn="l">
              <a:lnSpc>
                <a:spcPct val="100000"/>
              </a:lnSpc>
              <a:spcBef>
                <a:spcPts val="0"/>
              </a:spcBef>
              <a:spcAft>
                <a:spcPts val="0"/>
              </a:spcAft>
              <a:buNone/>
            </a:pPr>
            <a:r>
              <a:rPr lang="en-IN" sz="2000" u="none">
                <a:solidFill>
                  <a:schemeClr val="dk1"/>
                </a:solidFill>
                <a:latin typeface="Times New Roman"/>
                <a:ea typeface="Times New Roman"/>
                <a:cs typeface="Times New Roman"/>
                <a:sym typeface="Times New Roman"/>
              </a:rPr>
              <a:t>Prediction Result</a:t>
            </a:r>
            <a:endParaRPr sz="2000" u="none">
              <a:solidFill>
                <a:schemeClr val="dk1"/>
              </a:solidFill>
              <a:latin typeface="Times New Roman"/>
              <a:ea typeface="Times New Roman"/>
              <a:cs typeface="Times New Roman"/>
              <a:sym typeface="Times New Roman"/>
            </a:endParaRPr>
          </a:p>
        </p:txBody>
      </p:sp>
      <p:grpSp>
        <p:nvGrpSpPr>
          <p:cNvPr id="224" name="Google Shape;224;p16"/>
          <p:cNvGrpSpPr/>
          <p:nvPr/>
        </p:nvGrpSpPr>
        <p:grpSpPr>
          <a:xfrm>
            <a:off x="228600" y="1019175"/>
            <a:ext cx="4200525" cy="1819275"/>
            <a:chOff x="228600" y="1019175"/>
            <a:chExt cx="4200525" cy="1819275"/>
          </a:xfrm>
        </p:grpSpPr>
        <p:pic>
          <p:nvPicPr>
            <p:cNvPr id="225" name="Google Shape;225;p16"/>
            <p:cNvPicPr preferRelativeResize="0"/>
            <p:nvPr/>
          </p:nvPicPr>
          <p:blipFill rotWithShape="1">
            <a:blip r:embed="rId3">
              <a:alphaModFix/>
            </a:blip>
            <a:srcRect b="0" l="0" r="0" t="0"/>
            <a:stretch/>
          </p:blipFill>
          <p:spPr>
            <a:xfrm>
              <a:off x="228600" y="1019175"/>
              <a:ext cx="4200525" cy="1819275"/>
            </a:xfrm>
            <a:prstGeom prst="rect">
              <a:avLst/>
            </a:prstGeom>
            <a:noFill/>
            <a:ln>
              <a:noFill/>
            </a:ln>
          </p:spPr>
        </p:pic>
        <p:pic>
          <p:nvPicPr>
            <p:cNvPr id="226" name="Google Shape;226;p16"/>
            <p:cNvPicPr preferRelativeResize="0"/>
            <p:nvPr/>
          </p:nvPicPr>
          <p:blipFill rotWithShape="1">
            <a:blip r:embed="rId4">
              <a:alphaModFix/>
            </a:blip>
            <a:srcRect b="0" l="0" r="0" t="0"/>
            <a:stretch/>
          </p:blipFill>
          <p:spPr>
            <a:xfrm>
              <a:off x="438150" y="1228725"/>
              <a:ext cx="3600450" cy="1219200"/>
            </a:xfrm>
            <a:prstGeom prst="rect">
              <a:avLst/>
            </a:prstGeom>
            <a:noFill/>
            <a:ln>
              <a:noFill/>
            </a:ln>
          </p:spPr>
        </p:pic>
      </p:grpSp>
      <p:grpSp>
        <p:nvGrpSpPr>
          <p:cNvPr id="227" name="Google Shape;227;p16"/>
          <p:cNvGrpSpPr/>
          <p:nvPr/>
        </p:nvGrpSpPr>
        <p:grpSpPr>
          <a:xfrm>
            <a:off x="1504950" y="1228725"/>
            <a:ext cx="8110601" cy="5629275"/>
            <a:chOff x="1504950" y="1228725"/>
            <a:chExt cx="8110601" cy="5629275"/>
          </a:xfrm>
        </p:grpSpPr>
        <p:pic>
          <p:nvPicPr>
            <p:cNvPr id="228" name="Google Shape;228;p16"/>
            <p:cNvPicPr preferRelativeResize="0"/>
            <p:nvPr/>
          </p:nvPicPr>
          <p:blipFill rotWithShape="1">
            <a:blip r:embed="rId5">
              <a:alphaModFix/>
            </a:blip>
            <a:srcRect b="0" l="0" r="0" t="0"/>
            <a:stretch/>
          </p:blipFill>
          <p:spPr>
            <a:xfrm>
              <a:off x="5238750" y="3209925"/>
              <a:ext cx="4376801" cy="2052701"/>
            </a:xfrm>
            <a:prstGeom prst="rect">
              <a:avLst/>
            </a:prstGeom>
            <a:noFill/>
            <a:ln>
              <a:noFill/>
            </a:ln>
          </p:spPr>
        </p:pic>
        <p:pic>
          <p:nvPicPr>
            <p:cNvPr id="229" name="Google Shape;229;p16"/>
            <p:cNvPicPr preferRelativeResize="0"/>
            <p:nvPr/>
          </p:nvPicPr>
          <p:blipFill rotWithShape="1">
            <a:blip r:embed="rId6">
              <a:alphaModFix/>
            </a:blip>
            <a:srcRect b="0" l="0" r="0" t="0"/>
            <a:stretch/>
          </p:blipFill>
          <p:spPr>
            <a:xfrm>
              <a:off x="5267325" y="1228725"/>
              <a:ext cx="4324350" cy="2000250"/>
            </a:xfrm>
            <a:prstGeom prst="rect">
              <a:avLst/>
            </a:prstGeom>
            <a:noFill/>
            <a:ln>
              <a:noFill/>
            </a:ln>
          </p:spPr>
        </p:pic>
        <p:pic>
          <p:nvPicPr>
            <p:cNvPr id="230" name="Google Shape;230;p16"/>
            <p:cNvPicPr preferRelativeResize="0"/>
            <p:nvPr/>
          </p:nvPicPr>
          <p:blipFill rotWithShape="1">
            <a:blip r:embed="rId7">
              <a:alphaModFix/>
            </a:blip>
            <a:srcRect b="0" l="0" r="0" t="0"/>
            <a:stretch/>
          </p:blipFill>
          <p:spPr>
            <a:xfrm>
              <a:off x="1504950" y="6105525"/>
              <a:ext cx="4100576" cy="752475"/>
            </a:xfrm>
            <a:prstGeom prst="rect">
              <a:avLst/>
            </a:prstGeom>
            <a:noFill/>
            <a:ln>
              <a:noFill/>
            </a:ln>
          </p:spPr>
        </p:pic>
        <p:pic>
          <p:nvPicPr>
            <p:cNvPr id="231" name="Google Shape;231;p16"/>
            <p:cNvPicPr preferRelativeResize="0"/>
            <p:nvPr/>
          </p:nvPicPr>
          <p:blipFill rotWithShape="1">
            <a:blip r:embed="rId8">
              <a:alphaModFix/>
            </a:blip>
            <a:srcRect b="0" l="0" r="0" t="0"/>
            <a:stretch/>
          </p:blipFill>
          <p:spPr>
            <a:xfrm>
              <a:off x="1533525" y="3962400"/>
              <a:ext cx="4048125" cy="2162175"/>
            </a:xfrm>
            <a:prstGeom prst="rect">
              <a:avLst/>
            </a:prstGeom>
            <a:noFill/>
            <a:ln>
              <a:noFill/>
            </a:ln>
          </p:spPr>
        </p:pic>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5" name="Shape 235"/>
        <p:cNvGrpSpPr/>
        <p:nvPr/>
      </p:nvGrpSpPr>
      <p:grpSpPr>
        <a:xfrm>
          <a:off x="0" y="0"/>
          <a:ext cx="0" cy="0"/>
          <a:chOff x="0" y="0"/>
          <a:chExt cx="0" cy="0"/>
        </a:xfrm>
      </p:grpSpPr>
      <p:sp>
        <p:nvSpPr>
          <p:cNvPr id="236" name="Google Shape;236;p17"/>
          <p:cNvSpPr txBox="1"/>
          <p:nvPr>
            <p:ph type="title"/>
          </p:nvPr>
        </p:nvSpPr>
        <p:spPr>
          <a:xfrm>
            <a:off x="314007" y="64135"/>
            <a:ext cx="11563984" cy="613950"/>
          </a:xfrm>
          <a:prstGeom prst="rect">
            <a:avLst/>
          </a:prstGeom>
          <a:noFill/>
          <a:ln>
            <a:noFill/>
          </a:ln>
        </p:spPr>
        <p:txBody>
          <a:bodyPr anchorCtr="0" anchor="t" bIns="0" lIns="0" spcFirstLastPara="1" rIns="0" wrap="square" tIns="303200">
            <a:spAutoFit/>
          </a:bodyPr>
          <a:lstStyle/>
          <a:p>
            <a:pPr indent="0" lvl="0" marL="376555" rtl="0" algn="l">
              <a:lnSpc>
                <a:spcPct val="100000"/>
              </a:lnSpc>
              <a:spcBef>
                <a:spcPts val="0"/>
              </a:spcBef>
              <a:spcAft>
                <a:spcPts val="0"/>
              </a:spcAft>
              <a:buNone/>
            </a:pPr>
            <a:r>
              <a:rPr lang="en-IN" sz="2000" u="none">
                <a:solidFill>
                  <a:schemeClr val="dk1"/>
                </a:solidFill>
              </a:rPr>
              <a:t>Model Deployment</a:t>
            </a:r>
            <a:endParaRPr sz="2000">
              <a:solidFill>
                <a:schemeClr val="dk1"/>
              </a:solidFill>
            </a:endParaRPr>
          </a:p>
        </p:txBody>
      </p:sp>
      <p:pic>
        <p:nvPicPr>
          <p:cNvPr id="237" name="Google Shape;237;p17"/>
          <p:cNvPicPr preferRelativeResize="0"/>
          <p:nvPr/>
        </p:nvPicPr>
        <p:blipFill rotWithShape="1">
          <a:blip r:embed="rId3">
            <a:alphaModFix/>
          </a:blip>
          <a:srcRect b="0" l="0" r="0" t="0"/>
          <a:stretch/>
        </p:blipFill>
        <p:spPr>
          <a:xfrm>
            <a:off x="190500" y="800100"/>
            <a:ext cx="3600450" cy="1895475"/>
          </a:xfrm>
          <a:prstGeom prst="rect">
            <a:avLst/>
          </a:prstGeom>
          <a:noFill/>
          <a:ln>
            <a:noFill/>
          </a:ln>
        </p:spPr>
      </p:pic>
      <p:pic>
        <p:nvPicPr>
          <p:cNvPr id="238" name="Google Shape;238;p17"/>
          <p:cNvPicPr preferRelativeResize="0"/>
          <p:nvPr/>
        </p:nvPicPr>
        <p:blipFill rotWithShape="1">
          <a:blip r:embed="rId4">
            <a:alphaModFix/>
          </a:blip>
          <a:srcRect b="0" l="0" r="0" t="0"/>
          <a:stretch/>
        </p:blipFill>
        <p:spPr>
          <a:xfrm>
            <a:off x="5200650" y="609600"/>
            <a:ext cx="3600450" cy="3600450"/>
          </a:xfrm>
          <a:prstGeom prst="rect">
            <a:avLst/>
          </a:prstGeom>
          <a:noFill/>
          <a:ln>
            <a:noFill/>
          </a:ln>
        </p:spPr>
      </p:pic>
      <p:pic>
        <p:nvPicPr>
          <p:cNvPr id="239" name="Google Shape;239;p17"/>
          <p:cNvPicPr preferRelativeResize="0"/>
          <p:nvPr/>
        </p:nvPicPr>
        <p:blipFill rotWithShape="1">
          <a:blip r:embed="rId5">
            <a:alphaModFix/>
          </a:blip>
          <a:srcRect b="0" l="0" r="0" t="0"/>
          <a:stretch/>
        </p:blipFill>
        <p:spPr>
          <a:xfrm>
            <a:off x="5686425" y="4657725"/>
            <a:ext cx="3600450" cy="2019300"/>
          </a:xfrm>
          <a:prstGeom prst="rect">
            <a:avLst/>
          </a:prstGeom>
          <a:noFill/>
          <a:ln>
            <a:noFill/>
          </a:ln>
        </p:spPr>
      </p:pic>
      <p:pic>
        <p:nvPicPr>
          <p:cNvPr id="240" name="Google Shape;240;p17"/>
          <p:cNvPicPr preferRelativeResize="0"/>
          <p:nvPr/>
        </p:nvPicPr>
        <p:blipFill rotWithShape="1">
          <a:blip r:embed="rId6">
            <a:alphaModFix/>
          </a:blip>
          <a:srcRect b="0" l="0" r="0" t="0"/>
          <a:stretch/>
        </p:blipFill>
        <p:spPr>
          <a:xfrm>
            <a:off x="457200" y="3076575"/>
            <a:ext cx="3600450" cy="36004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4" name="Shape 244"/>
        <p:cNvGrpSpPr/>
        <p:nvPr/>
      </p:nvGrpSpPr>
      <p:grpSpPr>
        <a:xfrm>
          <a:off x="0" y="0"/>
          <a:ext cx="0" cy="0"/>
          <a:chOff x="0" y="0"/>
          <a:chExt cx="0" cy="0"/>
        </a:xfrm>
      </p:grpSpPr>
      <p:sp>
        <p:nvSpPr>
          <p:cNvPr id="245" name="Google Shape;245;p18"/>
          <p:cNvSpPr txBox="1"/>
          <p:nvPr>
            <p:ph type="title"/>
          </p:nvPr>
        </p:nvSpPr>
        <p:spPr>
          <a:xfrm>
            <a:off x="314007" y="64135"/>
            <a:ext cx="11563984" cy="613950"/>
          </a:xfrm>
          <a:prstGeom prst="rect">
            <a:avLst/>
          </a:prstGeom>
          <a:noFill/>
          <a:ln>
            <a:noFill/>
          </a:ln>
        </p:spPr>
        <p:txBody>
          <a:bodyPr anchorCtr="0" anchor="t" bIns="0" lIns="0" spcFirstLastPara="1" rIns="0" wrap="square" tIns="303200">
            <a:spAutoFit/>
          </a:bodyPr>
          <a:lstStyle/>
          <a:p>
            <a:pPr indent="0" lvl="0" marL="376555" rtl="0" algn="l">
              <a:lnSpc>
                <a:spcPct val="100000"/>
              </a:lnSpc>
              <a:spcBef>
                <a:spcPts val="0"/>
              </a:spcBef>
              <a:spcAft>
                <a:spcPts val="0"/>
              </a:spcAft>
              <a:buNone/>
            </a:pPr>
            <a:r>
              <a:rPr lang="en-IN" sz="2000" u="none">
                <a:solidFill>
                  <a:schemeClr val="dk1"/>
                </a:solidFill>
              </a:rPr>
              <a:t>User Interface</a:t>
            </a:r>
            <a:endParaRPr sz="2000" u="none">
              <a:solidFill>
                <a:schemeClr val="dk1"/>
              </a:solidFill>
            </a:endParaRPr>
          </a:p>
        </p:txBody>
      </p:sp>
      <p:pic>
        <p:nvPicPr>
          <p:cNvPr id="246" name="Google Shape;246;p18"/>
          <p:cNvPicPr preferRelativeResize="0"/>
          <p:nvPr/>
        </p:nvPicPr>
        <p:blipFill rotWithShape="1">
          <a:blip r:embed="rId3">
            <a:alphaModFix/>
          </a:blip>
          <a:srcRect b="0" l="0" r="0" t="0"/>
          <a:stretch/>
        </p:blipFill>
        <p:spPr>
          <a:xfrm>
            <a:off x="352425" y="1190625"/>
            <a:ext cx="10086975" cy="44767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0" name="Shape 250"/>
        <p:cNvGrpSpPr/>
        <p:nvPr/>
      </p:nvGrpSpPr>
      <p:grpSpPr>
        <a:xfrm>
          <a:off x="0" y="0"/>
          <a:ext cx="0" cy="0"/>
          <a:chOff x="0" y="0"/>
          <a:chExt cx="0" cy="0"/>
        </a:xfrm>
      </p:grpSpPr>
      <p:sp>
        <p:nvSpPr>
          <p:cNvPr id="251" name="Google Shape;251;p19"/>
          <p:cNvSpPr txBox="1"/>
          <p:nvPr>
            <p:ph type="title"/>
          </p:nvPr>
        </p:nvSpPr>
        <p:spPr>
          <a:xfrm>
            <a:off x="314007" y="64135"/>
            <a:ext cx="11563984" cy="481862"/>
          </a:xfrm>
          <a:prstGeom prst="rect">
            <a:avLst/>
          </a:prstGeom>
          <a:noFill/>
          <a:ln>
            <a:noFill/>
          </a:ln>
        </p:spPr>
        <p:txBody>
          <a:bodyPr anchorCtr="0" anchor="t" bIns="0" lIns="0" spcFirstLastPara="1" rIns="0" wrap="square" tIns="172400">
            <a:spAutoFit/>
          </a:bodyPr>
          <a:lstStyle/>
          <a:p>
            <a:pPr indent="0" lvl="0" marL="160020" rtl="0" algn="l">
              <a:lnSpc>
                <a:spcPct val="100000"/>
              </a:lnSpc>
              <a:spcBef>
                <a:spcPts val="0"/>
              </a:spcBef>
              <a:spcAft>
                <a:spcPts val="0"/>
              </a:spcAft>
              <a:buNone/>
            </a:pPr>
            <a:r>
              <a:rPr lang="en-IN" sz="2000" u="none">
                <a:solidFill>
                  <a:schemeClr val="dk1"/>
                </a:solidFill>
              </a:rPr>
              <a:t>UNIT TEST CASES</a:t>
            </a:r>
            <a:endParaRPr sz="2000" u="none">
              <a:solidFill>
                <a:schemeClr val="dk1"/>
              </a:solidFill>
            </a:endParaRPr>
          </a:p>
        </p:txBody>
      </p:sp>
      <p:pic>
        <p:nvPicPr>
          <p:cNvPr id="252" name="Google Shape;252;p19"/>
          <p:cNvPicPr preferRelativeResize="0"/>
          <p:nvPr/>
        </p:nvPicPr>
        <p:blipFill rotWithShape="1">
          <a:blip r:embed="rId3">
            <a:alphaModFix/>
          </a:blip>
          <a:srcRect b="0" l="0" r="0" t="0"/>
          <a:stretch/>
        </p:blipFill>
        <p:spPr>
          <a:xfrm>
            <a:off x="2028825" y="790575"/>
            <a:ext cx="7200900" cy="56673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6" name="Shape 256"/>
        <p:cNvGrpSpPr/>
        <p:nvPr/>
      </p:nvGrpSpPr>
      <p:grpSpPr>
        <a:xfrm>
          <a:off x="0" y="0"/>
          <a:ext cx="0" cy="0"/>
          <a:chOff x="0" y="0"/>
          <a:chExt cx="0" cy="0"/>
        </a:xfrm>
      </p:grpSpPr>
      <p:sp>
        <p:nvSpPr>
          <p:cNvPr id="257" name="Google Shape;257;p20"/>
          <p:cNvSpPr txBox="1"/>
          <p:nvPr>
            <p:ph type="title"/>
          </p:nvPr>
        </p:nvSpPr>
        <p:spPr>
          <a:xfrm>
            <a:off x="314007" y="64135"/>
            <a:ext cx="11563984" cy="450379"/>
          </a:xfrm>
          <a:prstGeom prst="rect">
            <a:avLst/>
          </a:prstGeom>
          <a:noFill/>
          <a:ln>
            <a:noFill/>
          </a:ln>
        </p:spPr>
        <p:txBody>
          <a:bodyPr anchorCtr="0" anchor="t" bIns="0" lIns="0" spcFirstLastPara="1" rIns="0" wrap="square" tIns="80250">
            <a:spAutoFit/>
          </a:bodyPr>
          <a:lstStyle/>
          <a:p>
            <a:pPr indent="0" lvl="0" marL="2513330" rtl="0" algn="l">
              <a:lnSpc>
                <a:spcPct val="100000"/>
              </a:lnSpc>
              <a:spcBef>
                <a:spcPts val="0"/>
              </a:spcBef>
              <a:spcAft>
                <a:spcPts val="0"/>
              </a:spcAft>
              <a:buNone/>
            </a:pPr>
            <a:r>
              <a:rPr lang="en-IN" sz="2400" u="none">
                <a:solidFill>
                  <a:schemeClr val="dk1"/>
                </a:solidFill>
              </a:rPr>
              <a:t>CONCLUSION</a:t>
            </a:r>
            <a:endParaRPr/>
          </a:p>
        </p:txBody>
      </p:sp>
      <p:grpSp>
        <p:nvGrpSpPr>
          <p:cNvPr id="258" name="Google Shape;258;p20"/>
          <p:cNvGrpSpPr/>
          <p:nvPr/>
        </p:nvGrpSpPr>
        <p:grpSpPr>
          <a:xfrm>
            <a:off x="0" y="0"/>
            <a:ext cx="2733673" cy="6858000"/>
            <a:chOff x="0" y="0"/>
            <a:chExt cx="2733673" cy="6858000"/>
          </a:xfrm>
        </p:grpSpPr>
        <p:sp>
          <p:nvSpPr>
            <p:cNvPr id="259" name="Google Shape;259;p20"/>
            <p:cNvSpPr/>
            <p:nvPr/>
          </p:nvSpPr>
          <p:spPr>
            <a:xfrm>
              <a:off x="866775" y="3819525"/>
              <a:ext cx="504825" cy="2924175"/>
            </a:xfrm>
            <a:custGeom>
              <a:rect b="b" l="l" r="r" t="t"/>
              <a:pathLst>
                <a:path extrusionOk="0" h="2924175" w="504825">
                  <a:moveTo>
                    <a:pt x="0" y="0"/>
                  </a:moveTo>
                  <a:lnTo>
                    <a:pt x="0" y="2924175"/>
                  </a:lnTo>
                  <a:lnTo>
                    <a:pt x="504825" y="2924175"/>
                  </a:lnTo>
                  <a:lnTo>
                    <a:pt x="0" y="0"/>
                  </a:lnTo>
                  <a:close/>
                </a:path>
              </a:pathLst>
            </a:custGeom>
            <a:solidFill>
              <a:srgbClr val="F495CA">
                <a:alpha val="84705"/>
              </a:srgbClr>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60" name="Google Shape;260;p20"/>
            <p:cNvPicPr preferRelativeResize="0"/>
            <p:nvPr/>
          </p:nvPicPr>
          <p:blipFill rotWithShape="1">
            <a:blip r:embed="rId3">
              <a:alphaModFix/>
            </a:blip>
            <a:srcRect b="0" l="0" r="0" t="0"/>
            <a:stretch/>
          </p:blipFill>
          <p:spPr>
            <a:xfrm>
              <a:off x="0" y="0"/>
              <a:ext cx="2733673" cy="6857998"/>
            </a:xfrm>
            <a:prstGeom prst="rect">
              <a:avLst/>
            </a:prstGeom>
            <a:noFill/>
            <a:ln>
              <a:noFill/>
            </a:ln>
          </p:spPr>
        </p:pic>
        <p:sp>
          <p:nvSpPr>
            <p:cNvPr id="261" name="Google Shape;261;p20"/>
            <p:cNvSpPr/>
            <p:nvPr/>
          </p:nvSpPr>
          <p:spPr>
            <a:xfrm>
              <a:off x="0" y="4010025"/>
              <a:ext cx="476250" cy="2847975"/>
            </a:xfrm>
            <a:custGeom>
              <a:rect b="b" l="l" r="r" t="t"/>
              <a:pathLst>
                <a:path extrusionOk="0" h="2847975" w="476250">
                  <a:moveTo>
                    <a:pt x="0" y="0"/>
                  </a:moveTo>
                  <a:lnTo>
                    <a:pt x="0" y="2847975"/>
                  </a:lnTo>
                  <a:lnTo>
                    <a:pt x="476250" y="2847975"/>
                  </a:lnTo>
                  <a:lnTo>
                    <a:pt x="0" y="0"/>
                  </a:lnTo>
                  <a:close/>
                </a:path>
              </a:pathLst>
            </a:custGeom>
            <a:solidFill>
              <a:srgbClr val="F495C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62" name="Google Shape;262;p20"/>
          <p:cNvSpPr txBox="1"/>
          <p:nvPr/>
        </p:nvSpPr>
        <p:spPr>
          <a:xfrm>
            <a:off x="2647569" y="1019111"/>
            <a:ext cx="8074659" cy="5464810"/>
          </a:xfrm>
          <a:prstGeom prst="rect">
            <a:avLst/>
          </a:prstGeom>
          <a:noFill/>
          <a:ln>
            <a:noFill/>
          </a:ln>
        </p:spPr>
        <p:txBody>
          <a:bodyPr anchorCtr="0" anchor="t" bIns="0" lIns="0" spcFirstLastPara="1" rIns="0" wrap="square" tIns="57775">
            <a:spAutoFit/>
          </a:bodyPr>
          <a:lstStyle/>
          <a:p>
            <a:pPr indent="-343535" lvl="0" marL="355600" marR="5080" rtl="0" algn="just">
              <a:lnSpc>
                <a:spcPct val="82400"/>
              </a:lnSpc>
              <a:spcBef>
                <a:spcPts val="0"/>
              </a:spcBef>
              <a:spcAft>
                <a:spcPts val="0"/>
              </a:spcAft>
              <a:buClr>
                <a:srgbClr val="EB3C9F"/>
              </a:buClr>
              <a:buSzPts val="1250"/>
              <a:buFont typeface="Noto Sans Symbols"/>
              <a:buChar char="▪"/>
            </a:pPr>
            <a:r>
              <a:rPr b="1" lang="en-IN" sz="1550">
                <a:solidFill>
                  <a:srgbClr val="404040"/>
                </a:solidFill>
                <a:latin typeface="Times New Roman"/>
                <a:ea typeface="Times New Roman"/>
                <a:cs typeface="Times New Roman"/>
                <a:sym typeface="Times New Roman"/>
              </a:rPr>
              <a:t>Overview of Achievements:- </a:t>
            </a:r>
            <a:r>
              <a:rPr lang="en-IN" sz="1550">
                <a:solidFill>
                  <a:srgbClr val="404040"/>
                </a:solidFill>
                <a:latin typeface="Times New Roman"/>
                <a:ea typeface="Times New Roman"/>
                <a:cs typeface="Times New Roman"/>
                <a:sym typeface="Times New Roman"/>
              </a:rPr>
              <a:t>The Thyroid Disease Detection project effectively utilized machine learning techniques to enhance the prediction and early diagnosis of thyroid disorders. By integrating data cleaning, feature engineering, and advanced classification algorithms, the project achieved a robust system capable of accurately assessing the risk of thyroid diseases such as hypothyroidism and hyperthyroidism.</a:t>
            </a:r>
            <a:endParaRPr sz="1550">
              <a:latin typeface="Times New Roman"/>
              <a:ea typeface="Times New Roman"/>
              <a:cs typeface="Times New Roman"/>
              <a:sym typeface="Times New Roman"/>
            </a:endParaRPr>
          </a:p>
          <a:p>
            <a:pPr indent="-343535" lvl="0" marL="355600" marR="683260" rtl="0" algn="just">
              <a:lnSpc>
                <a:spcPct val="83400"/>
              </a:lnSpc>
              <a:spcBef>
                <a:spcPts val="1000"/>
              </a:spcBef>
              <a:spcAft>
                <a:spcPts val="0"/>
              </a:spcAft>
              <a:buClr>
                <a:srgbClr val="EB3C9F"/>
              </a:buClr>
              <a:buSzPts val="1250"/>
              <a:buFont typeface="Noto Sans Symbols"/>
              <a:buChar char="▪"/>
            </a:pPr>
            <a:r>
              <a:rPr b="1" lang="en-IN" sz="1550">
                <a:solidFill>
                  <a:srgbClr val="404040"/>
                </a:solidFill>
                <a:latin typeface="Times New Roman"/>
                <a:ea typeface="Times New Roman"/>
                <a:cs typeface="Times New Roman"/>
                <a:sym typeface="Times New Roman"/>
              </a:rPr>
              <a:t>Impact on Healthcare:- </a:t>
            </a:r>
            <a:r>
              <a:rPr lang="en-IN" sz="1550">
                <a:solidFill>
                  <a:srgbClr val="404040"/>
                </a:solidFill>
                <a:latin typeface="Times New Roman"/>
                <a:ea typeface="Times New Roman"/>
                <a:cs typeface="Times New Roman"/>
                <a:sym typeface="Times New Roman"/>
              </a:rPr>
              <a:t>This project demonstrates the significant potential of machine learning in improving healthcare outcomes. By enabling early detection and personalized treatment strategies, it contributes to better patient care and decision-making processes.</a:t>
            </a:r>
            <a:endParaRPr sz="1550">
              <a:latin typeface="Times New Roman"/>
              <a:ea typeface="Times New Roman"/>
              <a:cs typeface="Times New Roman"/>
              <a:sym typeface="Times New Roman"/>
            </a:endParaRPr>
          </a:p>
          <a:p>
            <a:pPr indent="-343535" lvl="0" marL="355600" marR="79375" rtl="0" algn="just">
              <a:lnSpc>
                <a:spcPct val="82800"/>
              </a:lnSpc>
              <a:spcBef>
                <a:spcPts val="940"/>
              </a:spcBef>
              <a:spcAft>
                <a:spcPts val="0"/>
              </a:spcAft>
              <a:buClr>
                <a:srgbClr val="EB3C9F"/>
              </a:buClr>
              <a:buSzPts val="1250"/>
              <a:buFont typeface="Noto Sans Symbols"/>
              <a:buChar char="▪"/>
            </a:pPr>
            <a:r>
              <a:rPr b="1" lang="en-IN" sz="1550">
                <a:solidFill>
                  <a:srgbClr val="404040"/>
                </a:solidFill>
                <a:latin typeface="Times New Roman"/>
                <a:ea typeface="Times New Roman"/>
                <a:cs typeface="Times New Roman"/>
                <a:sym typeface="Times New Roman"/>
              </a:rPr>
              <a:t>Project Scope &amp; Limitations:- </a:t>
            </a:r>
            <a:r>
              <a:rPr lang="en-IN" sz="1550">
                <a:solidFill>
                  <a:srgbClr val="404040"/>
                </a:solidFill>
                <a:latin typeface="Times New Roman"/>
                <a:ea typeface="Times New Roman"/>
                <a:cs typeface="Times New Roman"/>
                <a:sym typeface="Times New Roman"/>
              </a:rPr>
              <a:t>The project's scope covered comprehensive data preprocessing, model training, and deployment in a web application. While the solution has shown promising results, continuous improvements and validation with diverse datasets are essential for ensuring reliability and generalization.</a:t>
            </a:r>
            <a:endParaRPr sz="1550">
              <a:latin typeface="Times New Roman"/>
              <a:ea typeface="Times New Roman"/>
              <a:cs typeface="Times New Roman"/>
              <a:sym typeface="Times New Roman"/>
            </a:endParaRPr>
          </a:p>
          <a:p>
            <a:pPr indent="-343535" lvl="0" marL="355600" marR="59055" rtl="0" algn="just">
              <a:lnSpc>
                <a:spcPct val="82800"/>
              </a:lnSpc>
              <a:spcBef>
                <a:spcPts val="1015"/>
              </a:spcBef>
              <a:spcAft>
                <a:spcPts val="0"/>
              </a:spcAft>
              <a:buClr>
                <a:srgbClr val="EB3C9F"/>
              </a:buClr>
              <a:buSzPts val="1250"/>
              <a:buFont typeface="Noto Sans Symbols"/>
              <a:buChar char="▪"/>
            </a:pPr>
            <a:r>
              <a:rPr b="1" lang="en-IN" sz="1550">
                <a:solidFill>
                  <a:srgbClr val="404040"/>
                </a:solidFill>
                <a:latin typeface="Times New Roman"/>
                <a:ea typeface="Times New Roman"/>
                <a:cs typeface="Times New Roman"/>
                <a:sym typeface="Times New Roman"/>
              </a:rPr>
              <a:t>Future Work:- </a:t>
            </a:r>
            <a:r>
              <a:rPr lang="en-IN" sz="1550">
                <a:solidFill>
                  <a:srgbClr val="404040"/>
                </a:solidFill>
                <a:latin typeface="Times New Roman"/>
                <a:ea typeface="Times New Roman"/>
                <a:cs typeface="Times New Roman"/>
                <a:sym typeface="Times New Roman"/>
              </a:rPr>
              <a:t>Future efforts could focus on integrating additional data sources, refining model algorithms, and expanding the application to handle a broader range of thyroid-related conditions. Continuous updates and enhancements will be crucial to maintaining the effectiveness and accuracy of the detection system.</a:t>
            </a:r>
            <a:endParaRPr sz="1550">
              <a:latin typeface="Times New Roman"/>
              <a:ea typeface="Times New Roman"/>
              <a:cs typeface="Times New Roman"/>
              <a:sym typeface="Times New Roman"/>
            </a:endParaRPr>
          </a:p>
          <a:p>
            <a:pPr indent="-343535" lvl="0" marL="355600" marR="67945" rtl="0" algn="just">
              <a:lnSpc>
                <a:spcPct val="82800"/>
              </a:lnSpc>
              <a:spcBef>
                <a:spcPts val="1010"/>
              </a:spcBef>
              <a:spcAft>
                <a:spcPts val="0"/>
              </a:spcAft>
              <a:buClr>
                <a:srgbClr val="EB3C9F"/>
              </a:buClr>
              <a:buSzPts val="1250"/>
              <a:buFont typeface="Noto Sans Symbols"/>
              <a:buChar char="▪"/>
            </a:pPr>
            <a:r>
              <a:rPr b="1" lang="en-IN" sz="1550">
                <a:solidFill>
                  <a:srgbClr val="404040"/>
                </a:solidFill>
                <a:latin typeface="Times New Roman"/>
                <a:ea typeface="Times New Roman"/>
                <a:cs typeface="Times New Roman"/>
                <a:sym typeface="Times New Roman"/>
              </a:rPr>
              <a:t>Final Thoughts:- </a:t>
            </a:r>
            <a:r>
              <a:rPr lang="en-IN" sz="1550">
                <a:solidFill>
                  <a:srgbClr val="404040"/>
                </a:solidFill>
                <a:latin typeface="Times New Roman"/>
                <a:ea typeface="Times New Roman"/>
                <a:cs typeface="Times New Roman"/>
                <a:sym typeface="Times New Roman"/>
              </a:rPr>
              <a:t>The integration of machine learning into the Thyroid Disease Detection system represents a significant advancement in the field of medical diagnostics. This project not only demonstrates technical and analytical capabilities but also underscores the importance of data- driven solutions in modern healthcare.</a:t>
            </a:r>
            <a:endParaRPr sz="1550">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6" name="Shape 266"/>
        <p:cNvGrpSpPr/>
        <p:nvPr/>
      </p:nvGrpSpPr>
      <p:grpSpPr>
        <a:xfrm>
          <a:off x="0" y="0"/>
          <a:ext cx="0" cy="0"/>
          <a:chOff x="0" y="0"/>
          <a:chExt cx="0" cy="0"/>
        </a:xfrm>
      </p:grpSpPr>
      <p:sp>
        <p:nvSpPr>
          <p:cNvPr id="267" name="Google Shape;267;p21"/>
          <p:cNvSpPr txBox="1"/>
          <p:nvPr>
            <p:ph type="title"/>
          </p:nvPr>
        </p:nvSpPr>
        <p:spPr>
          <a:xfrm>
            <a:off x="314007" y="151130"/>
            <a:ext cx="5082540" cy="33528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en-IN" sz="2000" u="none">
                <a:solidFill>
                  <a:schemeClr val="dk1"/>
                </a:solidFill>
              </a:rPr>
              <a:t>FREQUENTLY ASKED QUESTIONS (FAQs)</a:t>
            </a:r>
            <a:endParaRPr sz="2000" u="none">
              <a:solidFill>
                <a:schemeClr val="dk1"/>
              </a:solidFill>
            </a:endParaRPr>
          </a:p>
        </p:txBody>
      </p:sp>
      <p:sp>
        <p:nvSpPr>
          <p:cNvPr id="268" name="Google Shape;268;p21"/>
          <p:cNvSpPr txBox="1"/>
          <p:nvPr/>
        </p:nvSpPr>
        <p:spPr>
          <a:xfrm>
            <a:off x="423227" y="634428"/>
            <a:ext cx="8206105" cy="5483225"/>
          </a:xfrm>
          <a:prstGeom prst="rect">
            <a:avLst/>
          </a:prstGeom>
          <a:noFill/>
          <a:ln>
            <a:noFill/>
          </a:ln>
        </p:spPr>
        <p:txBody>
          <a:bodyPr anchorCtr="0" anchor="t" bIns="0" lIns="0" spcFirstLastPara="1" rIns="0" wrap="square" tIns="15875">
            <a:spAutoFit/>
          </a:bodyPr>
          <a:lstStyle/>
          <a:p>
            <a:pPr indent="0" lvl="0" marL="50800" rtl="0" algn="l">
              <a:lnSpc>
                <a:spcPct val="100000"/>
              </a:lnSpc>
              <a:spcBef>
                <a:spcPts val="0"/>
              </a:spcBef>
              <a:spcAft>
                <a:spcPts val="0"/>
              </a:spcAft>
              <a:buNone/>
            </a:pPr>
            <a:r>
              <a:rPr b="1" lang="en-IN" sz="1550">
                <a:solidFill>
                  <a:schemeClr val="dk1"/>
                </a:solidFill>
                <a:latin typeface="Times New Roman"/>
                <a:ea typeface="Times New Roman"/>
                <a:cs typeface="Times New Roman"/>
                <a:sym typeface="Times New Roman"/>
              </a:rPr>
              <a:t>Question No. – 1:</a:t>
            </a:r>
            <a:endParaRPr sz="1550">
              <a:solidFill>
                <a:schemeClr val="dk1"/>
              </a:solidFill>
              <a:latin typeface="Times New Roman"/>
              <a:ea typeface="Times New Roman"/>
              <a:cs typeface="Times New Roman"/>
              <a:sym typeface="Times New Roman"/>
            </a:endParaRPr>
          </a:p>
          <a:p>
            <a:pPr indent="0" lvl="0" marL="50800" rtl="0" algn="l">
              <a:lnSpc>
                <a:spcPct val="100000"/>
              </a:lnSpc>
              <a:spcBef>
                <a:spcPts val="1220"/>
              </a:spcBef>
              <a:spcAft>
                <a:spcPts val="0"/>
              </a:spcAft>
              <a:buNone/>
            </a:pPr>
            <a:r>
              <a:rPr lang="en-IN" sz="1550">
                <a:solidFill>
                  <a:schemeClr val="dk1"/>
                </a:solidFill>
                <a:latin typeface="Times New Roman"/>
                <a:ea typeface="Times New Roman"/>
                <a:cs typeface="Times New Roman"/>
                <a:sym typeface="Times New Roman"/>
              </a:rPr>
              <a:t>What is the source of data?</a:t>
            </a:r>
            <a:endParaRPr sz="1550">
              <a:solidFill>
                <a:schemeClr val="dk1"/>
              </a:solidFill>
              <a:latin typeface="Times New Roman"/>
              <a:ea typeface="Times New Roman"/>
              <a:cs typeface="Times New Roman"/>
              <a:sym typeface="Times New Roman"/>
            </a:endParaRPr>
          </a:p>
          <a:p>
            <a:pPr indent="0" lvl="0" marL="50800" rtl="0" algn="l">
              <a:lnSpc>
                <a:spcPct val="100000"/>
              </a:lnSpc>
              <a:spcBef>
                <a:spcPts val="920"/>
              </a:spcBef>
              <a:spcAft>
                <a:spcPts val="0"/>
              </a:spcAft>
              <a:buNone/>
            </a:pPr>
            <a:r>
              <a:rPr b="1" lang="en-IN" sz="1550">
                <a:solidFill>
                  <a:schemeClr val="dk1"/>
                </a:solidFill>
                <a:latin typeface="Times New Roman"/>
                <a:ea typeface="Times New Roman"/>
                <a:cs typeface="Times New Roman"/>
                <a:sym typeface="Times New Roman"/>
              </a:rPr>
              <a:t>Answer:</a:t>
            </a:r>
            <a:endParaRPr sz="1550">
              <a:solidFill>
                <a:schemeClr val="dk1"/>
              </a:solidFill>
              <a:latin typeface="Times New Roman"/>
              <a:ea typeface="Times New Roman"/>
              <a:cs typeface="Times New Roman"/>
              <a:sym typeface="Times New Roman"/>
            </a:endParaRPr>
          </a:p>
          <a:p>
            <a:pPr indent="0" lvl="0" marL="50800" rtl="0" algn="l">
              <a:lnSpc>
                <a:spcPct val="100000"/>
              </a:lnSpc>
              <a:spcBef>
                <a:spcPts val="1220"/>
              </a:spcBef>
              <a:spcAft>
                <a:spcPts val="0"/>
              </a:spcAft>
              <a:buNone/>
            </a:pPr>
            <a:r>
              <a:rPr lang="en-IN" sz="1550">
                <a:solidFill>
                  <a:schemeClr val="dk1"/>
                </a:solidFill>
                <a:latin typeface="Times New Roman"/>
                <a:ea typeface="Times New Roman"/>
                <a:cs typeface="Times New Roman"/>
                <a:sym typeface="Times New Roman"/>
              </a:rPr>
              <a:t>The data for training is obtained from UCI Machine Learning Repository.</a:t>
            </a:r>
            <a:endParaRPr sz="1550">
              <a:solidFill>
                <a:schemeClr val="dk1"/>
              </a:solidFill>
              <a:latin typeface="Times New Roman"/>
              <a:ea typeface="Times New Roman"/>
              <a:cs typeface="Times New Roman"/>
              <a:sym typeface="Times New Roman"/>
            </a:endParaRPr>
          </a:p>
          <a:p>
            <a:pPr indent="0" lvl="0" marL="508634" rtl="0" algn="l">
              <a:lnSpc>
                <a:spcPct val="100000"/>
              </a:lnSpc>
              <a:spcBef>
                <a:spcPts val="990"/>
              </a:spcBef>
              <a:spcAft>
                <a:spcPts val="0"/>
              </a:spcAft>
              <a:buNone/>
            </a:pPr>
            <a:r>
              <a:rPr lang="en-IN" sz="1550">
                <a:solidFill>
                  <a:schemeClr val="dk1"/>
                </a:solidFill>
                <a:latin typeface="Times New Roman"/>
                <a:ea typeface="Times New Roman"/>
                <a:cs typeface="Times New Roman"/>
                <a:sym typeface="Times New Roman"/>
              </a:rPr>
              <a:t>The link of the Repository: &lt;</a:t>
            </a:r>
            <a:r>
              <a:rPr lang="en-IN" sz="1550" u="sng">
                <a:solidFill>
                  <a:srgbClr val="EE5285"/>
                </a:solidFill>
                <a:latin typeface="Times New Roman"/>
                <a:ea typeface="Times New Roman"/>
                <a:cs typeface="Times New Roman"/>
                <a:sym typeface="Times New Roman"/>
                <a:hlinkClick r:id="rId3">
                  <a:extLst>
                    <a:ext uri="{A12FA001-AC4F-418D-AE19-62706E023703}">
                      <ahyp:hlinkClr val="tx"/>
                    </a:ext>
                  </a:extLst>
                </a:hlinkClick>
              </a:rPr>
              <a:t>Thyroid Disease - UCI Machine Learning </a:t>
            </a:r>
            <a:r>
              <a:rPr lang="en-IN" sz="1550" u="sng">
                <a:solidFill>
                  <a:schemeClr val="dk1"/>
                </a:solidFill>
                <a:latin typeface="Times New Roman"/>
                <a:ea typeface="Times New Roman"/>
                <a:cs typeface="Times New Roman"/>
                <a:sym typeface="Times New Roman"/>
                <a:hlinkClick r:id="rId4">
                  <a:extLst>
                    <a:ext uri="{A12FA001-AC4F-418D-AE19-62706E023703}">
                      <ahyp:hlinkClr val="tx"/>
                    </a:ext>
                  </a:extLst>
                </a:hlinkClick>
              </a:rPr>
              <a:t>Repository</a:t>
            </a:r>
            <a:r>
              <a:rPr lang="en-IN" sz="1550">
                <a:solidFill>
                  <a:schemeClr val="dk1"/>
                </a:solidFill>
                <a:latin typeface="Times New Roman"/>
                <a:ea typeface="Times New Roman"/>
                <a:cs typeface="Times New Roman"/>
                <a:sym typeface="Times New Roman"/>
              </a:rPr>
              <a:t>&gt;</a:t>
            </a:r>
            <a:endParaRPr sz="155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550">
              <a:solidFill>
                <a:schemeClr val="dk1"/>
              </a:solidFill>
              <a:latin typeface="Times New Roman"/>
              <a:ea typeface="Times New Roman"/>
              <a:cs typeface="Times New Roman"/>
              <a:sym typeface="Times New Roman"/>
            </a:endParaRPr>
          </a:p>
          <a:p>
            <a:pPr indent="0" lvl="0" marL="0" rtl="0" algn="l">
              <a:lnSpc>
                <a:spcPct val="100000"/>
              </a:lnSpc>
              <a:spcBef>
                <a:spcPts val="325"/>
              </a:spcBef>
              <a:spcAft>
                <a:spcPts val="0"/>
              </a:spcAft>
              <a:buNone/>
            </a:pPr>
            <a:r>
              <a:t/>
            </a:r>
            <a:endParaRPr sz="1550">
              <a:solidFill>
                <a:schemeClr val="dk1"/>
              </a:solidFill>
              <a:latin typeface="Times New Roman"/>
              <a:ea typeface="Times New Roman"/>
              <a:cs typeface="Times New Roman"/>
              <a:sym typeface="Times New Roman"/>
            </a:endParaRPr>
          </a:p>
          <a:p>
            <a:pPr indent="0" lvl="0" marL="50800" rtl="0" algn="l">
              <a:lnSpc>
                <a:spcPct val="100000"/>
              </a:lnSpc>
              <a:spcBef>
                <a:spcPts val="0"/>
              </a:spcBef>
              <a:spcAft>
                <a:spcPts val="0"/>
              </a:spcAft>
              <a:buNone/>
            </a:pPr>
            <a:r>
              <a:rPr b="1" lang="en-IN" sz="1550">
                <a:solidFill>
                  <a:schemeClr val="dk1"/>
                </a:solidFill>
                <a:latin typeface="Times New Roman"/>
                <a:ea typeface="Times New Roman"/>
                <a:cs typeface="Times New Roman"/>
                <a:sym typeface="Times New Roman"/>
              </a:rPr>
              <a:t>Question No. – 2:</a:t>
            </a:r>
            <a:endParaRPr sz="1550">
              <a:solidFill>
                <a:schemeClr val="dk1"/>
              </a:solidFill>
              <a:latin typeface="Times New Roman"/>
              <a:ea typeface="Times New Roman"/>
              <a:cs typeface="Times New Roman"/>
              <a:sym typeface="Times New Roman"/>
            </a:endParaRPr>
          </a:p>
          <a:p>
            <a:pPr indent="0" lvl="0" marL="50800" rtl="0" algn="l">
              <a:lnSpc>
                <a:spcPct val="100000"/>
              </a:lnSpc>
              <a:spcBef>
                <a:spcPts val="1220"/>
              </a:spcBef>
              <a:spcAft>
                <a:spcPts val="0"/>
              </a:spcAft>
              <a:buNone/>
            </a:pPr>
            <a:r>
              <a:rPr lang="en-IN" sz="1550">
                <a:solidFill>
                  <a:schemeClr val="dk1"/>
                </a:solidFill>
                <a:latin typeface="Times New Roman"/>
                <a:ea typeface="Times New Roman"/>
                <a:cs typeface="Times New Roman"/>
                <a:sym typeface="Times New Roman"/>
              </a:rPr>
              <a:t>What was the type of data?</a:t>
            </a:r>
            <a:endParaRPr sz="1550">
              <a:solidFill>
                <a:schemeClr val="dk1"/>
              </a:solidFill>
              <a:latin typeface="Times New Roman"/>
              <a:ea typeface="Times New Roman"/>
              <a:cs typeface="Times New Roman"/>
              <a:sym typeface="Times New Roman"/>
            </a:endParaRPr>
          </a:p>
          <a:p>
            <a:pPr indent="0" lvl="0" marL="50800" rtl="0" algn="l">
              <a:lnSpc>
                <a:spcPct val="100000"/>
              </a:lnSpc>
              <a:spcBef>
                <a:spcPts val="920"/>
              </a:spcBef>
              <a:spcAft>
                <a:spcPts val="0"/>
              </a:spcAft>
              <a:buNone/>
            </a:pPr>
            <a:r>
              <a:rPr b="1" lang="en-IN" sz="1550">
                <a:solidFill>
                  <a:schemeClr val="dk1"/>
                </a:solidFill>
                <a:latin typeface="Times New Roman"/>
                <a:ea typeface="Times New Roman"/>
                <a:cs typeface="Times New Roman"/>
                <a:sym typeface="Times New Roman"/>
              </a:rPr>
              <a:t>Answer:</a:t>
            </a:r>
            <a:endParaRPr sz="1550">
              <a:solidFill>
                <a:schemeClr val="dk1"/>
              </a:solidFill>
              <a:latin typeface="Times New Roman"/>
              <a:ea typeface="Times New Roman"/>
              <a:cs typeface="Times New Roman"/>
              <a:sym typeface="Times New Roman"/>
            </a:endParaRPr>
          </a:p>
          <a:p>
            <a:pPr indent="0" lvl="0" marL="50800" rtl="0" algn="l">
              <a:lnSpc>
                <a:spcPct val="100000"/>
              </a:lnSpc>
              <a:spcBef>
                <a:spcPts val="1140"/>
              </a:spcBef>
              <a:spcAft>
                <a:spcPts val="0"/>
              </a:spcAft>
              <a:buNone/>
            </a:pPr>
            <a:r>
              <a:rPr lang="en-IN" sz="1550">
                <a:solidFill>
                  <a:schemeClr val="dk1"/>
                </a:solidFill>
                <a:latin typeface="Times New Roman"/>
                <a:ea typeface="Times New Roman"/>
                <a:cs typeface="Times New Roman"/>
                <a:sym typeface="Times New Roman"/>
              </a:rPr>
              <a:t>The data was the combination of numerical and Categorical values.</a:t>
            </a:r>
            <a:endParaRPr sz="155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550">
              <a:solidFill>
                <a:schemeClr val="dk1"/>
              </a:solidFill>
              <a:latin typeface="Times New Roman"/>
              <a:ea typeface="Times New Roman"/>
              <a:cs typeface="Times New Roman"/>
              <a:sym typeface="Times New Roman"/>
            </a:endParaRPr>
          </a:p>
          <a:p>
            <a:pPr indent="0" lvl="0" marL="0" rtl="0" algn="l">
              <a:lnSpc>
                <a:spcPct val="100000"/>
              </a:lnSpc>
              <a:spcBef>
                <a:spcPts val="325"/>
              </a:spcBef>
              <a:spcAft>
                <a:spcPts val="0"/>
              </a:spcAft>
              <a:buNone/>
            </a:pPr>
            <a:r>
              <a:t/>
            </a:r>
            <a:endParaRPr sz="1550">
              <a:solidFill>
                <a:schemeClr val="dk1"/>
              </a:solidFill>
              <a:latin typeface="Times New Roman"/>
              <a:ea typeface="Times New Roman"/>
              <a:cs typeface="Times New Roman"/>
              <a:sym typeface="Times New Roman"/>
            </a:endParaRPr>
          </a:p>
          <a:p>
            <a:pPr indent="0" lvl="0" marL="50800" rtl="0" algn="l">
              <a:lnSpc>
                <a:spcPct val="100000"/>
              </a:lnSpc>
              <a:spcBef>
                <a:spcPts val="0"/>
              </a:spcBef>
              <a:spcAft>
                <a:spcPts val="0"/>
              </a:spcAft>
              <a:buNone/>
            </a:pPr>
            <a:r>
              <a:rPr b="1" lang="en-IN" sz="1550">
                <a:solidFill>
                  <a:schemeClr val="dk1"/>
                </a:solidFill>
                <a:latin typeface="Times New Roman"/>
                <a:ea typeface="Times New Roman"/>
                <a:cs typeface="Times New Roman"/>
                <a:sym typeface="Times New Roman"/>
              </a:rPr>
              <a:t>Question No. – 3:</a:t>
            </a:r>
            <a:endParaRPr sz="1550">
              <a:solidFill>
                <a:schemeClr val="dk1"/>
              </a:solidFill>
              <a:latin typeface="Times New Roman"/>
              <a:ea typeface="Times New Roman"/>
              <a:cs typeface="Times New Roman"/>
              <a:sym typeface="Times New Roman"/>
            </a:endParaRPr>
          </a:p>
          <a:p>
            <a:pPr indent="0" lvl="0" marL="50800" rtl="0" algn="l">
              <a:lnSpc>
                <a:spcPct val="100000"/>
              </a:lnSpc>
              <a:spcBef>
                <a:spcPts val="1220"/>
              </a:spcBef>
              <a:spcAft>
                <a:spcPts val="0"/>
              </a:spcAft>
              <a:buNone/>
            </a:pPr>
            <a:r>
              <a:rPr lang="en-IN" sz="1550">
                <a:solidFill>
                  <a:schemeClr val="dk1"/>
                </a:solidFill>
                <a:latin typeface="Times New Roman"/>
                <a:ea typeface="Times New Roman"/>
                <a:cs typeface="Times New Roman"/>
                <a:sym typeface="Times New Roman"/>
              </a:rPr>
              <a:t>What is the complete workflow of this Project?</a:t>
            </a:r>
            <a:endParaRPr sz="1550">
              <a:solidFill>
                <a:schemeClr val="dk1"/>
              </a:solidFill>
              <a:latin typeface="Times New Roman"/>
              <a:ea typeface="Times New Roman"/>
              <a:cs typeface="Times New Roman"/>
              <a:sym typeface="Times New Roman"/>
            </a:endParaRPr>
          </a:p>
          <a:p>
            <a:pPr indent="0" lvl="0" marL="50800" rtl="0" algn="l">
              <a:lnSpc>
                <a:spcPct val="100000"/>
              </a:lnSpc>
              <a:spcBef>
                <a:spcPts val="919"/>
              </a:spcBef>
              <a:spcAft>
                <a:spcPts val="0"/>
              </a:spcAft>
              <a:buNone/>
            </a:pPr>
            <a:r>
              <a:rPr b="1" lang="en-IN" sz="1550">
                <a:solidFill>
                  <a:schemeClr val="dk1"/>
                </a:solidFill>
                <a:latin typeface="Times New Roman"/>
                <a:ea typeface="Times New Roman"/>
                <a:cs typeface="Times New Roman"/>
                <a:sym typeface="Times New Roman"/>
              </a:rPr>
              <a:t>Answer:</a:t>
            </a:r>
            <a:endParaRPr sz="1550">
              <a:solidFill>
                <a:schemeClr val="dk1"/>
              </a:solidFill>
              <a:latin typeface="Times New Roman"/>
              <a:ea typeface="Times New Roman"/>
              <a:cs typeface="Times New Roman"/>
              <a:sym typeface="Times New Roman"/>
            </a:endParaRPr>
          </a:p>
          <a:p>
            <a:pPr indent="0" lvl="0" marL="50800" rtl="0" algn="l">
              <a:lnSpc>
                <a:spcPct val="100000"/>
              </a:lnSpc>
              <a:spcBef>
                <a:spcPts val="1220"/>
              </a:spcBef>
              <a:spcAft>
                <a:spcPts val="0"/>
              </a:spcAft>
              <a:buNone/>
            </a:pPr>
            <a:r>
              <a:rPr lang="en-IN" sz="1550">
                <a:solidFill>
                  <a:schemeClr val="dk1"/>
                </a:solidFill>
                <a:latin typeface="Times New Roman"/>
                <a:ea typeface="Times New Roman"/>
                <a:cs typeface="Times New Roman"/>
                <a:sym typeface="Times New Roman"/>
              </a:rPr>
              <a:t>Please refer to 9</a:t>
            </a:r>
            <a:r>
              <a:rPr baseline="30000" lang="en-IN" sz="1575">
                <a:solidFill>
                  <a:schemeClr val="dk1"/>
                </a:solidFill>
                <a:latin typeface="Times New Roman"/>
                <a:ea typeface="Times New Roman"/>
                <a:cs typeface="Times New Roman"/>
                <a:sym typeface="Times New Roman"/>
              </a:rPr>
              <a:t>th</a:t>
            </a:r>
            <a:r>
              <a:rPr lang="en-IN" sz="1550">
                <a:solidFill>
                  <a:schemeClr val="dk1"/>
                </a:solidFill>
                <a:latin typeface="Times New Roman"/>
                <a:ea typeface="Times New Roman"/>
                <a:cs typeface="Times New Roman"/>
                <a:sym typeface="Times New Roman"/>
              </a:rPr>
              <a:t>, 10</a:t>
            </a:r>
            <a:r>
              <a:rPr baseline="30000" lang="en-IN" sz="1575">
                <a:solidFill>
                  <a:schemeClr val="dk1"/>
                </a:solidFill>
                <a:latin typeface="Times New Roman"/>
                <a:ea typeface="Times New Roman"/>
                <a:cs typeface="Times New Roman"/>
                <a:sym typeface="Times New Roman"/>
              </a:rPr>
              <a:t>th</a:t>
            </a:r>
            <a:r>
              <a:rPr lang="en-IN" sz="1550">
                <a:solidFill>
                  <a:schemeClr val="dk1"/>
                </a:solidFill>
                <a:latin typeface="Times New Roman"/>
                <a:ea typeface="Times New Roman"/>
                <a:cs typeface="Times New Roman"/>
                <a:sym typeface="Times New Roman"/>
              </a:rPr>
              <a:t>, 11</a:t>
            </a:r>
            <a:r>
              <a:rPr baseline="30000" lang="en-IN" sz="1575">
                <a:solidFill>
                  <a:schemeClr val="dk1"/>
                </a:solidFill>
                <a:latin typeface="Times New Roman"/>
                <a:ea typeface="Times New Roman"/>
                <a:cs typeface="Times New Roman"/>
                <a:sym typeface="Times New Roman"/>
              </a:rPr>
              <a:t>th</a:t>
            </a:r>
            <a:r>
              <a:rPr lang="en-IN" sz="1550">
                <a:solidFill>
                  <a:schemeClr val="dk1"/>
                </a:solidFill>
                <a:latin typeface="Times New Roman"/>
                <a:ea typeface="Times New Roman"/>
                <a:cs typeface="Times New Roman"/>
                <a:sym typeface="Times New Roman"/>
              </a:rPr>
              <a:t>, 12</a:t>
            </a:r>
            <a:r>
              <a:rPr baseline="30000" lang="en-IN" sz="1575">
                <a:solidFill>
                  <a:schemeClr val="dk1"/>
                </a:solidFill>
                <a:latin typeface="Times New Roman"/>
                <a:ea typeface="Times New Roman"/>
                <a:cs typeface="Times New Roman"/>
                <a:sym typeface="Times New Roman"/>
              </a:rPr>
              <a:t>th </a:t>
            </a:r>
            <a:r>
              <a:rPr lang="en-IN" sz="1550">
                <a:solidFill>
                  <a:schemeClr val="dk1"/>
                </a:solidFill>
                <a:latin typeface="Times New Roman"/>
                <a:ea typeface="Times New Roman"/>
                <a:cs typeface="Times New Roman"/>
                <a:sym typeface="Times New Roman"/>
              </a:rPr>
              <a:t>and 13</a:t>
            </a:r>
            <a:r>
              <a:rPr baseline="30000" lang="en-IN" sz="1575">
                <a:solidFill>
                  <a:schemeClr val="dk1"/>
                </a:solidFill>
                <a:latin typeface="Times New Roman"/>
                <a:ea typeface="Times New Roman"/>
                <a:cs typeface="Times New Roman"/>
                <a:sym typeface="Times New Roman"/>
              </a:rPr>
              <a:t>th </a:t>
            </a:r>
            <a:r>
              <a:rPr lang="en-IN" sz="1550">
                <a:solidFill>
                  <a:schemeClr val="dk1"/>
                </a:solidFill>
                <a:latin typeface="Times New Roman"/>
                <a:ea typeface="Times New Roman"/>
                <a:cs typeface="Times New Roman"/>
                <a:sym typeface="Times New Roman"/>
              </a:rPr>
              <a:t>slides.</a:t>
            </a:r>
            <a:endParaRPr sz="155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2" name="Shape 272"/>
        <p:cNvGrpSpPr/>
        <p:nvPr/>
      </p:nvGrpSpPr>
      <p:grpSpPr>
        <a:xfrm>
          <a:off x="0" y="0"/>
          <a:ext cx="0" cy="0"/>
          <a:chOff x="0" y="0"/>
          <a:chExt cx="0" cy="0"/>
        </a:xfrm>
      </p:grpSpPr>
      <p:sp>
        <p:nvSpPr>
          <p:cNvPr id="273" name="Google Shape;273;p22"/>
          <p:cNvSpPr txBox="1"/>
          <p:nvPr/>
        </p:nvSpPr>
        <p:spPr>
          <a:xfrm>
            <a:off x="373062" y="82867"/>
            <a:ext cx="7578725" cy="6928179"/>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b="1" lang="en-IN" sz="1550">
                <a:solidFill>
                  <a:schemeClr val="dk1"/>
                </a:solidFill>
                <a:latin typeface="Times New Roman"/>
                <a:ea typeface="Times New Roman"/>
                <a:cs typeface="Times New Roman"/>
                <a:sym typeface="Times New Roman"/>
              </a:rPr>
              <a:t>Question No. – 4:</a:t>
            </a:r>
            <a:endParaRPr sz="1550">
              <a:solidFill>
                <a:schemeClr val="dk1"/>
              </a:solidFill>
              <a:latin typeface="Times New Roman"/>
              <a:ea typeface="Times New Roman"/>
              <a:cs typeface="Times New Roman"/>
              <a:sym typeface="Times New Roman"/>
            </a:endParaRPr>
          </a:p>
          <a:p>
            <a:pPr indent="0" lvl="0" marL="12700" rtl="0" algn="l">
              <a:lnSpc>
                <a:spcPct val="100000"/>
              </a:lnSpc>
              <a:spcBef>
                <a:spcPts val="1220"/>
              </a:spcBef>
              <a:spcAft>
                <a:spcPts val="0"/>
              </a:spcAft>
              <a:buNone/>
            </a:pPr>
            <a:r>
              <a:rPr lang="en-IN" sz="1550">
                <a:solidFill>
                  <a:schemeClr val="dk1"/>
                </a:solidFill>
                <a:latin typeface="Times New Roman"/>
                <a:ea typeface="Times New Roman"/>
                <a:cs typeface="Times New Roman"/>
                <a:sym typeface="Times New Roman"/>
              </a:rPr>
              <a:t>What techniques were used for data pre-processing?</a:t>
            </a:r>
            <a:endParaRPr sz="1550">
              <a:solidFill>
                <a:schemeClr val="dk1"/>
              </a:solidFill>
              <a:latin typeface="Times New Roman"/>
              <a:ea typeface="Times New Roman"/>
              <a:cs typeface="Times New Roman"/>
              <a:sym typeface="Times New Roman"/>
            </a:endParaRPr>
          </a:p>
          <a:p>
            <a:pPr indent="0" lvl="0" marL="12700" rtl="0" algn="l">
              <a:lnSpc>
                <a:spcPct val="100000"/>
              </a:lnSpc>
              <a:spcBef>
                <a:spcPts val="920"/>
              </a:spcBef>
              <a:spcAft>
                <a:spcPts val="0"/>
              </a:spcAft>
              <a:buNone/>
            </a:pPr>
            <a:r>
              <a:rPr b="1" lang="en-IN" sz="1550">
                <a:solidFill>
                  <a:schemeClr val="dk1"/>
                </a:solidFill>
                <a:latin typeface="Times New Roman"/>
                <a:ea typeface="Times New Roman"/>
                <a:cs typeface="Times New Roman"/>
                <a:sym typeface="Times New Roman"/>
              </a:rPr>
              <a:t>Answer:</a:t>
            </a:r>
            <a:endParaRPr sz="1550">
              <a:solidFill>
                <a:schemeClr val="dk1"/>
              </a:solidFill>
              <a:latin typeface="Times New Roman"/>
              <a:ea typeface="Times New Roman"/>
              <a:cs typeface="Times New Roman"/>
              <a:sym typeface="Times New Roman"/>
            </a:endParaRPr>
          </a:p>
          <a:p>
            <a:pPr indent="-342265" lvl="0" marL="354965" rtl="0" algn="l">
              <a:lnSpc>
                <a:spcPct val="100000"/>
              </a:lnSpc>
              <a:spcBef>
                <a:spcPts val="1220"/>
              </a:spcBef>
              <a:spcAft>
                <a:spcPts val="0"/>
              </a:spcAft>
              <a:buClr>
                <a:srgbClr val="EB3C9F"/>
              </a:buClr>
              <a:buSzPts val="1250"/>
              <a:buFont typeface="Noto Sans Symbols"/>
              <a:buChar char="⮚"/>
            </a:pPr>
            <a:r>
              <a:rPr lang="en-IN" sz="1550">
                <a:solidFill>
                  <a:schemeClr val="dk1"/>
                </a:solidFill>
                <a:latin typeface="Times New Roman"/>
                <a:ea typeface="Times New Roman"/>
                <a:cs typeface="Times New Roman"/>
                <a:sym typeface="Times New Roman"/>
              </a:rPr>
              <a:t>Dropping unwanted attributes.</a:t>
            </a:r>
            <a:endParaRPr sz="1550">
              <a:solidFill>
                <a:schemeClr val="dk1"/>
              </a:solidFill>
              <a:latin typeface="Times New Roman"/>
              <a:ea typeface="Times New Roman"/>
              <a:cs typeface="Times New Roman"/>
              <a:sym typeface="Times New Roman"/>
            </a:endParaRPr>
          </a:p>
          <a:p>
            <a:pPr indent="-342265" lvl="0" marL="354965" rtl="0" algn="l">
              <a:lnSpc>
                <a:spcPct val="100000"/>
              </a:lnSpc>
              <a:spcBef>
                <a:spcPts val="1070"/>
              </a:spcBef>
              <a:spcAft>
                <a:spcPts val="0"/>
              </a:spcAft>
              <a:buClr>
                <a:srgbClr val="EB3C9F"/>
              </a:buClr>
              <a:buSzPts val="1250"/>
              <a:buFont typeface="Noto Sans Symbols"/>
              <a:buChar char="⮚"/>
            </a:pPr>
            <a:r>
              <a:rPr lang="en-IN" sz="1550">
                <a:solidFill>
                  <a:schemeClr val="dk1"/>
                </a:solidFill>
                <a:latin typeface="Times New Roman"/>
                <a:ea typeface="Times New Roman"/>
                <a:cs typeface="Times New Roman"/>
                <a:sym typeface="Times New Roman"/>
              </a:rPr>
              <a:t>Removing duplicate values.</a:t>
            </a:r>
            <a:endParaRPr sz="1550">
              <a:solidFill>
                <a:schemeClr val="dk1"/>
              </a:solidFill>
              <a:latin typeface="Times New Roman"/>
              <a:ea typeface="Times New Roman"/>
              <a:cs typeface="Times New Roman"/>
              <a:sym typeface="Times New Roman"/>
            </a:endParaRPr>
          </a:p>
          <a:p>
            <a:pPr indent="-342265" lvl="0" marL="354965" rtl="0" algn="l">
              <a:lnSpc>
                <a:spcPct val="100000"/>
              </a:lnSpc>
              <a:spcBef>
                <a:spcPts val="1065"/>
              </a:spcBef>
              <a:spcAft>
                <a:spcPts val="0"/>
              </a:spcAft>
              <a:buClr>
                <a:srgbClr val="EB3C9F"/>
              </a:buClr>
              <a:buSzPts val="1250"/>
              <a:buFont typeface="Noto Sans Symbols"/>
              <a:buChar char="⮚"/>
            </a:pPr>
            <a:r>
              <a:rPr lang="en-IN" sz="1550">
                <a:solidFill>
                  <a:schemeClr val="dk1"/>
                </a:solidFill>
                <a:latin typeface="Times New Roman"/>
                <a:ea typeface="Times New Roman"/>
                <a:cs typeface="Times New Roman"/>
                <a:sym typeface="Times New Roman"/>
              </a:rPr>
              <a:t>Treat outliers.</a:t>
            </a:r>
            <a:endParaRPr sz="1550">
              <a:solidFill>
                <a:schemeClr val="dk1"/>
              </a:solidFill>
              <a:latin typeface="Times New Roman"/>
              <a:ea typeface="Times New Roman"/>
              <a:cs typeface="Times New Roman"/>
              <a:sym typeface="Times New Roman"/>
            </a:endParaRPr>
          </a:p>
          <a:p>
            <a:pPr indent="-342265" lvl="0" marL="354965" rtl="0" algn="l">
              <a:lnSpc>
                <a:spcPct val="100000"/>
              </a:lnSpc>
              <a:spcBef>
                <a:spcPts val="1070"/>
              </a:spcBef>
              <a:spcAft>
                <a:spcPts val="0"/>
              </a:spcAft>
              <a:buClr>
                <a:srgbClr val="EB3C9F"/>
              </a:buClr>
              <a:buSzPts val="1250"/>
              <a:buFont typeface="Noto Sans Symbols"/>
              <a:buChar char="⮚"/>
            </a:pPr>
            <a:r>
              <a:rPr lang="en-IN" sz="1550">
                <a:solidFill>
                  <a:schemeClr val="dk1"/>
                </a:solidFill>
                <a:latin typeface="Times New Roman"/>
                <a:ea typeface="Times New Roman"/>
                <a:cs typeface="Times New Roman"/>
                <a:sym typeface="Times New Roman"/>
              </a:rPr>
              <a:t>Imputation of missing values.</a:t>
            </a:r>
            <a:endParaRPr sz="1550">
              <a:solidFill>
                <a:schemeClr val="dk1"/>
              </a:solidFill>
              <a:latin typeface="Times New Roman"/>
              <a:ea typeface="Times New Roman"/>
              <a:cs typeface="Times New Roman"/>
              <a:sym typeface="Times New Roman"/>
            </a:endParaRPr>
          </a:p>
          <a:p>
            <a:pPr indent="-342265" lvl="0" marL="354965" rtl="0" algn="l">
              <a:lnSpc>
                <a:spcPct val="100000"/>
              </a:lnSpc>
              <a:spcBef>
                <a:spcPts val="1070"/>
              </a:spcBef>
              <a:spcAft>
                <a:spcPts val="0"/>
              </a:spcAft>
              <a:buClr>
                <a:srgbClr val="EB3C9F"/>
              </a:buClr>
              <a:buSzPts val="1250"/>
              <a:buFont typeface="Noto Sans Symbols"/>
              <a:buChar char="⮚"/>
            </a:pPr>
            <a:r>
              <a:rPr lang="en-IN" sz="1550">
                <a:solidFill>
                  <a:schemeClr val="dk1"/>
                </a:solidFill>
                <a:latin typeface="Times New Roman"/>
                <a:ea typeface="Times New Roman"/>
                <a:cs typeface="Times New Roman"/>
                <a:sym typeface="Times New Roman"/>
              </a:rPr>
              <a:t>Data encoding.</a:t>
            </a:r>
            <a:endParaRPr sz="155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rgbClr val="EB3C9F"/>
              </a:buClr>
              <a:buSzPts val="1550"/>
              <a:buFont typeface="Noto Sans Symbols"/>
              <a:buNone/>
            </a:pPr>
            <a:r>
              <a:t/>
            </a:r>
            <a:endParaRPr sz="1550">
              <a:solidFill>
                <a:schemeClr val="dk1"/>
              </a:solidFill>
              <a:latin typeface="Times New Roman"/>
              <a:ea typeface="Times New Roman"/>
              <a:cs typeface="Times New Roman"/>
              <a:sym typeface="Times New Roman"/>
            </a:endParaRPr>
          </a:p>
          <a:p>
            <a:pPr indent="0" lvl="0" marL="0" rtl="0" algn="l">
              <a:lnSpc>
                <a:spcPct val="100000"/>
              </a:lnSpc>
              <a:spcBef>
                <a:spcPts val="325"/>
              </a:spcBef>
              <a:spcAft>
                <a:spcPts val="0"/>
              </a:spcAft>
              <a:buClr>
                <a:srgbClr val="EB3C9F"/>
              </a:buClr>
              <a:buSzPts val="1550"/>
              <a:buFont typeface="Noto Sans Symbols"/>
              <a:buNone/>
            </a:pPr>
            <a:r>
              <a:t/>
            </a:r>
            <a:endParaRPr sz="1550">
              <a:solidFill>
                <a:schemeClr val="dk1"/>
              </a:solidFill>
              <a:latin typeface="Times New Roman"/>
              <a:ea typeface="Times New Roman"/>
              <a:cs typeface="Times New Roman"/>
              <a:sym typeface="Times New Roman"/>
            </a:endParaRPr>
          </a:p>
          <a:p>
            <a:pPr indent="0" lvl="0" marL="12700" rtl="0" algn="l">
              <a:lnSpc>
                <a:spcPct val="100000"/>
              </a:lnSpc>
              <a:spcBef>
                <a:spcPts val="0"/>
              </a:spcBef>
              <a:spcAft>
                <a:spcPts val="0"/>
              </a:spcAft>
              <a:buNone/>
            </a:pPr>
            <a:r>
              <a:rPr b="1" lang="en-IN" sz="1550">
                <a:solidFill>
                  <a:schemeClr val="dk1"/>
                </a:solidFill>
                <a:latin typeface="Times New Roman"/>
                <a:ea typeface="Times New Roman"/>
                <a:cs typeface="Times New Roman"/>
                <a:sym typeface="Times New Roman"/>
              </a:rPr>
              <a:t>Question No. – 5:</a:t>
            </a:r>
            <a:endParaRPr sz="1550">
              <a:solidFill>
                <a:schemeClr val="dk1"/>
              </a:solidFill>
              <a:latin typeface="Times New Roman"/>
              <a:ea typeface="Times New Roman"/>
              <a:cs typeface="Times New Roman"/>
              <a:sym typeface="Times New Roman"/>
            </a:endParaRPr>
          </a:p>
          <a:p>
            <a:pPr indent="0" lvl="0" marL="12700" rtl="0" algn="l">
              <a:lnSpc>
                <a:spcPct val="100000"/>
              </a:lnSpc>
              <a:spcBef>
                <a:spcPts val="1145"/>
              </a:spcBef>
              <a:spcAft>
                <a:spcPts val="0"/>
              </a:spcAft>
              <a:buNone/>
            </a:pPr>
            <a:r>
              <a:rPr lang="en-IN" sz="1550">
                <a:solidFill>
                  <a:schemeClr val="dk1"/>
                </a:solidFill>
                <a:latin typeface="Times New Roman"/>
                <a:ea typeface="Times New Roman"/>
                <a:cs typeface="Times New Roman"/>
                <a:sym typeface="Times New Roman"/>
              </a:rPr>
              <a:t>How training was done and what models have been used?</a:t>
            </a:r>
            <a:endParaRPr sz="1550">
              <a:solidFill>
                <a:schemeClr val="dk1"/>
              </a:solidFill>
              <a:latin typeface="Times New Roman"/>
              <a:ea typeface="Times New Roman"/>
              <a:cs typeface="Times New Roman"/>
              <a:sym typeface="Times New Roman"/>
            </a:endParaRPr>
          </a:p>
          <a:p>
            <a:pPr indent="0" lvl="0" marL="12700" rtl="0" algn="l">
              <a:lnSpc>
                <a:spcPct val="100000"/>
              </a:lnSpc>
              <a:spcBef>
                <a:spcPts val="919"/>
              </a:spcBef>
              <a:spcAft>
                <a:spcPts val="0"/>
              </a:spcAft>
              <a:buNone/>
            </a:pPr>
            <a:r>
              <a:rPr b="1" lang="en-IN" sz="1550">
                <a:solidFill>
                  <a:schemeClr val="dk1"/>
                </a:solidFill>
                <a:latin typeface="Times New Roman"/>
                <a:ea typeface="Times New Roman"/>
                <a:cs typeface="Times New Roman"/>
                <a:sym typeface="Times New Roman"/>
              </a:rPr>
              <a:t>Answer:</a:t>
            </a:r>
            <a:endParaRPr sz="1550">
              <a:solidFill>
                <a:schemeClr val="dk1"/>
              </a:solidFill>
              <a:latin typeface="Times New Roman"/>
              <a:ea typeface="Times New Roman"/>
              <a:cs typeface="Times New Roman"/>
              <a:sym typeface="Times New Roman"/>
            </a:endParaRPr>
          </a:p>
          <a:p>
            <a:pPr indent="-342265" lvl="0" marL="354965" rtl="0" algn="l">
              <a:lnSpc>
                <a:spcPct val="100000"/>
              </a:lnSpc>
              <a:spcBef>
                <a:spcPts val="1220"/>
              </a:spcBef>
              <a:spcAft>
                <a:spcPts val="0"/>
              </a:spcAft>
              <a:buClr>
                <a:srgbClr val="EB3C9F"/>
              </a:buClr>
              <a:buSzPts val="1250"/>
              <a:buFont typeface="Noto Sans Symbols"/>
              <a:buChar char="⮚"/>
            </a:pPr>
            <a:r>
              <a:rPr lang="en-IN" sz="1550">
                <a:solidFill>
                  <a:schemeClr val="dk1"/>
                </a:solidFill>
                <a:latin typeface="Times New Roman"/>
                <a:ea typeface="Times New Roman"/>
                <a:cs typeface="Times New Roman"/>
                <a:sym typeface="Times New Roman"/>
              </a:rPr>
              <a:t>Firstly, data was collected from the UCI Machine Learning Repository.</a:t>
            </a:r>
            <a:endParaRPr sz="1550">
              <a:solidFill>
                <a:schemeClr val="dk1"/>
              </a:solidFill>
              <a:latin typeface="Times New Roman"/>
              <a:ea typeface="Times New Roman"/>
              <a:cs typeface="Times New Roman"/>
              <a:sym typeface="Times New Roman"/>
            </a:endParaRPr>
          </a:p>
          <a:p>
            <a:pPr indent="-342265" lvl="0" marL="354965" rtl="0" algn="l">
              <a:lnSpc>
                <a:spcPct val="100000"/>
              </a:lnSpc>
              <a:spcBef>
                <a:spcPts val="1065"/>
              </a:spcBef>
              <a:spcAft>
                <a:spcPts val="0"/>
              </a:spcAft>
              <a:buClr>
                <a:srgbClr val="EB3C9F"/>
              </a:buClr>
              <a:buSzPts val="1250"/>
              <a:buFont typeface="Noto Sans Symbols"/>
              <a:buChar char="⮚"/>
            </a:pPr>
            <a:r>
              <a:rPr lang="en-IN" sz="1550">
                <a:solidFill>
                  <a:schemeClr val="dk1"/>
                </a:solidFill>
                <a:latin typeface="Times New Roman"/>
                <a:ea typeface="Times New Roman"/>
                <a:cs typeface="Times New Roman"/>
                <a:sym typeface="Times New Roman"/>
              </a:rPr>
              <a:t>Then, it was uploaded to MongoDB and converted into a CSV File.</a:t>
            </a:r>
            <a:endParaRPr sz="1550">
              <a:solidFill>
                <a:schemeClr val="dk1"/>
              </a:solidFill>
              <a:latin typeface="Times New Roman"/>
              <a:ea typeface="Times New Roman"/>
              <a:cs typeface="Times New Roman"/>
              <a:sym typeface="Times New Roman"/>
            </a:endParaRPr>
          </a:p>
          <a:p>
            <a:pPr indent="-342265" lvl="0" marL="354965" rtl="0" algn="l">
              <a:lnSpc>
                <a:spcPct val="100000"/>
              </a:lnSpc>
              <a:spcBef>
                <a:spcPts val="1070"/>
              </a:spcBef>
              <a:spcAft>
                <a:spcPts val="0"/>
              </a:spcAft>
              <a:buClr>
                <a:srgbClr val="EB3C9F"/>
              </a:buClr>
              <a:buSzPts val="1250"/>
              <a:buFont typeface="Noto Sans Symbols"/>
              <a:buChar char="⮚"/>
            </a:pPr>
            <a:r>
              <a:rPr lang="en-IN" sz="1550">
                <a:solidFill>
                  <a:schemeClr val="dk1"/>
                </a:solidFill>
                <a:latin typeface="Times New Roman"/>
                <a:ea typeface="Times New Roman"/>
                <a:cs typeface="Times New Roman"/>
                <a:sym typeface="Times New Roman"/>
              </a:rPr>
              <a:t>The CSV File was loaded into Jupyter Notebook (used in VS Code).</a:t>
            </a:r>
            <a:endParaRPr sz="1550">
              <a:solidFill>
                <a:schemeClr val="dk1"/>
              </a:solidFill>
              <a:latin typeface="Times New Roman"/>
              <a:ea typeface="Times New Roman"/>
              <a:cs typeface="Times New Roman"/>
              <a:sym typeface="Times New Roman"/>
            </a:endParaRPr>
          </a:p>
          <a:p>
            <a:pPr indent="-342265" lvl="0" marL="354965" rtl="0" algn="l">
              <a:lnSpc>
                <a:spcPct val="100000"/>
              </a:lnSpc>
              <a:spcBef>
                <a:spcPts val="1070"/>
              </a:spcBef>
              <a:spcAft>
                <a:spcPts val="0"/>
              </a:spcAft>
              <a:buClr>
                <a:srgbClr val="EB3C9F"/>
              </a:buClr>
              <a:buSzPts val="1250"/>
              <a:buFont typeface="Noto Sans Symbols"/>
              <a:buChar char="⮚"/>
            </a:pPr>
            <a:r>
              <a:rPr lang="en-IN" sz="1550">
                <a:solidFill>
                  <a:schemeClr val="dk1"/>
                </a:solidFill>
                <a:latin typeface="Times New Roman"/>
                <a:ea typeface="Times New Roman"/>
                <a:cs typeface="Times New Roman"/>
                <a:sym typeface="Times New Roman"/>
              </a:rPr>
              <a:t>All necessary EDA Steps were performed.</a:t>
            </a:r>
            <a:endParaRPr sz="1550">
              <a:solidFill>
                <a:schemeClr val="dk1"/>
              </a:solidFill>
              <a:latin typeface="Times New Roman"/>
              <a:ea typeface="Times New Roman"/>
              <a:cs typeface="Times New Roman"/>
              <a:sym typeface="Times New Roman"/>
            </a:endParaRPr>
          </a:p>
          <a:p>
            <a:pPr indent="-342265" lvl="0" marL="354965" rtl="0" algn="l">
              <a:lnSpc>
                <a:spcPct val="100000"/>
              </a:lnSpc>
              <a:spcBef>
                <a:spcPts val="1070"/>
              </a:spcBef>
              <a:spcAft>
                <a:spcPts val="0"/>
              </a:spcAft>
              <a:buClr>
                <a:srgbClr val="EB3C9F"/>
              </a:buClr>
              <a:buSzPts val="1250"/>
              <a:buFont typeface="Noto Sans Symbols"/>
              <a:buChar char="⮚"/>
            </a:pPr>
            <a:r>
              <a:rPr lang="en-IN" sz="1550">
                <a:solidFill>
                  <a:schemeClr val="dk1"/>
                </a:solidFill>
                <a:latin typeface="Times New Roman"/>
                <a:ea typeface="Times New Roman"/>
                <a:cs typeface="Times New Roman"/>
                <a:sym typeface="Times New Roman"/>
              </a:rPr>
              <a:t>Data clustering has been done.</a:t>
            </a:r>
            <a:endParaRPr sz="1550">
              <a:solidFill>
                <a:schemeClr val="dk1"/>
              </a:solidFill>
              <a:latin typeface="Times New Roman"/>
              <a:ea typeface="Times New Roman"/>
              <a:cs typeface="Times New Roman"/>
              <a:sym typeface="Times New Roman"/>
            </a:endParaRPr>
          </a:p>
          <a:p>
            <a:pPr indent="-342265" lvl="0" marL="354965" rtl="0" algn="l">
              <a:lnSpc>
                <a:spcPct val="100000"/>
              </a:lnSpc>
              <a:spcBef>
                <a:spcPts val="1070"/>
              </a:spcBef>
              <a:spcAft>
                <a:spcPts val="0"/>
              </a:spcAft>
              <a:buClr>
                <a:srgbClr val="EB3C9F"/>
              </a:buClr>
              <a:buSzPts val="1250"/>
              <a:buFont typeface="Noto Sans Symbols"/>
              <a:buChar char="⮚"/>
            </a:pPr>
            <a:r>
              <a:rPr lang="en-IN" sz="1550">
                <a:solidFill>
                  <a:schemeClr val="dk1"/>
                </a:solidFill>
                <a:latin typeface="Times New Roman"/>
                <a:ea typeface="Times New Roman"/>
                <a:cs typeface="Times New Roman"/>
                <a:sym typeface="Times New Roman"/>
              </a:rPr>
              <a:t>Various Machine Learning Models have been trained.</a:t>
            </a:r>
            <a:endParaRPr sz="155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7" name="Shape 277"/>
        <p:cNvGrpSpPr/>
        <p:nvPr/>
      </p:nvGrpSpPr>
      <p:grpSpPr>
        <a:xfrm>
          <a:off x="0" y="0"/>
          <a:ext cx="0" cy="0"/>
          <a:chOff x="0" y="0"/>
          <a:chExt cx="0" cy="0"/>
        </a:xfrm>
      </p:grpSpPr>
      <p:sp>
        <p:nvSpPr>
          <p:cNvPr id="278" name="Google Shape;278;p24"/>
          <p:cNvSpPr txBox="1"/>
          <p:nvPr>
            <p:ph type="title"/>
          </p:nvPr>
        </p:nvSpPr>
        <p:spPr>
          <a:xfrm>
            <a:off x="756602" y="624586"/>
            <a:ext cx="5161915" cy="382797"/>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IN" sz="2400" u="none">
                <a:solidFill>
                  <a:schemeClr val="dk1"/>
                </a:solidFill>
              </a:rPr>
              <a:t>ACKNOWLEDGEMENT</a:t>
            </a:r>
            <a:endParaRPr/>
          </a:p>
        </p:txBody>
      </p:sp>
      <p:sp>
        <p:nvSpPr>
          <p:cNvPr id="279" name="Google Shape;279;p24"/>
          <p:cNvSpPr txBox="1"/>
          <p:nvPr>
            <p:ph idx="1" type="body"/>
          </p:nvPr>
        </p:nvSpPr>
        <p:spPr>
          <a:xfrm>
            <a:off x="756602" y="2167953"/>
            <a:ext cx="4995545" cy="3279744"/>
          </a:xfrm>
          <a:prstGeom prst="rect">
            <a:avLst/>
          </a:prstGeom>
          <a:noFill/>
          <a:ln>
            <a:noFill/>
          </a:ln>
        </p:spPr>
        <p:txBody>
          <a:bodyPr anchorCtr="0" anchor="t" bIns="0" lIns="0" spcFirstLastPara="1" rIns="0" wrap="square" tIns="34925">
            <a:spAutoFit/>
          </a:bodyPr>
          <a:lstStyle/>
          <a:p>
            <a:pPr indent="457200" lvl="0" marL="12700" marR="5080" rtl="0" algn="just">
              <a:lnSpc>
                <a:spcPct val="90400"/>
              </a:lnSpc>
              <a:spcBef>
                <a:spcPts val="0"/>
              </a:spcBef>
              <a:spcAft>
                <a:spcPts val="0"/>
              </a:spcAft>
              <a:buNone/>
            </a:pPr>
            <a:r>
              <a:rPr lang="en-IN">
                <a:latin typeface="Times New Roman"/>
                <a:ea typeface="Times New Roman"/>
                <a:cs typeface="Times New Roman"/>
                <a:sym typeface="Times New Roman"/>
              </a:rPr>
              <a:t>I would like to express my sincere gratitude to PW Skills for providing me with the opportunity to work on the Thyroid Disease Detection project as part of the coursework for the "Decode Data Science with Machine Learning" program. This project, sourced from the PW Skills Experience Portal, has been instrumental in enhancing my understanding of end-to-end machine learning solutions, from data preprocessing to model deployment.</a:t>
            </a:r>
            <a:endParaRPr/>
          </a:p>
          <a:p>
            <a:pPr indent="457200" lvl="0" marL="12700" marR="109220" rtl="0" algn="just">
              <a:lnSpc>
                <a:spcPct val="90100"/>
              </a:lnSpc>
              <a:spcBef>
                <a:spcPts val="1005"/>
              </a:spcBef>
              <a:spcAft>
                <a:spcPts val="0"/>
              </a:spcAft>
              <a:buNone/>
            </a:pPr>
            <a:r>
              <a:rPr lang="en-IN">
                <a:latin typeface="Times New Roman"/>
                <a:ea typeface="Times New Roman"/>
                <a:cs typeface="Times New Roman"/>
                <a:sym typeface="Times New Roman"/>
              </a:rPr>
              <a:t>I extend my heartfelt thanks to my mentors and instructors at PW Skills for their guidance and support throughout this course, which eventually guided me to complete this project. Their insights and feedback were invaluable in helping me navigate the challenges of this complex task.</a:t>
            </a:r>
            <a:endParaRPr/>
          </a:p>
        </p:txBody>
      </p:sp>
      <p:pic>
        <p:nvPicPr>
          <p:cNvPr id="280" name="Google Shape;280;p24"/>
          <p:cNvPicPr preferRelativeResize="0"/>
          <p:nvPr/>
        </p:nvPicPr>
        <p:blipFill rotWithShape="1">
          <a:blip r:embed="rId3">
            <a:alphaModFix/>
          </a:blip>
          <a:srcRect b="0" l="0" r="0" t="0"/>
          <a:stretch/>
        </p:blipFill>
        <p:spPr>
          <a:xfrm>
            <a:off x="6124575" y="2162175"/>
            <a:ext cx="3152775" cy="36480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4" name="Shape 284"/>
        <p:cNvGrpSpPr/>
        <p:nvPr/>
      </p:nvGrpSpPr>
      <p:grpSpPr>
        <a:xfrm>
          <a:off x="0" y="0"/>
          <a:ext cx="0" cy="0"/>
          <a:chOff x="0" y="0"/>
          <a:chExt cx="0" cy="0"/>
        </a:xfrm>
      </p:grpSpPr>
      <p:sp>
        <p:nvSpPr>
          <p:cNvPr id="285" name="Google Shape;285;p23"/>
          <p:cNvSpPr txBox="1"/>
          <p:nvPr/>
        </p:nvSpPr>
        <p:spPr>
          <a:xfrm>
            <a:off x="373062" y="82867"/>
            <a:ext cx="9545955" cy="6674263"/>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b="1" lang="en-IN" sz="1550">
                <a:solidFill>
                  <a:srgbClr val="F17D18"/>
                </a:solidFill>
                <a:latin typeface="Times New Roman"/>
                <a:ea typeface="Times New Roman"/>
                <a:cs typeface="Times New Roman"/>
                <a:sym typeface="Times New Roman"/>
              </a:rPr>
              <a:t>Question No. – 6:</a:t>
            </a:r>
            <a:endParaRPr sz="1550">
              <a:latin typeface="Times New Roman"/>
              <a:ea typeface="Times New Roman"/>
              <a:cs typeface="Times New Roman"/>
              <a:sym typeface="Times New Roman"/>
            </a:endParaRPr>
          </a:p>
          <a:p>
            <a:pPr indent="0" lvl="0" marL="12700" rtl="0" algn="l">
              <a:lnSpc>
                <a:spcPct val="100000"/>
              </a:lnSpc>
              <a:spcBef>
                <a:spcPts val="1220"/>
              </a:spcBef>
              <a:spcAft>
                <a:spcPts val="0"/>
              </a:spcAft>
              <a:buNone/>
            </a:pPr>
            <a:r>
              <a:rPr lang="en-IN" sz="1550">
                <a:latin typeface="Times New Roman"/>
                <a:ea typeface="Times New Roman"/>
                <a:cs typeface="Times New Roman"/>
                <a:sym typeface="Times New Roman"/>
              </a:rPr>
              <a:t>How prediction was done?</a:t>
            </a:r>
            <a:endParaRPr sz="1550">
              <a:latin typeface="Times New Roman"/>
              <a:ea typeface="Times New Roman"/>
              <a:cs typeface="Times New Roman"/>
              <a:sym typeface="Times New Roman"/>
            </a:endParaRPr>
          </a:p>
          <a:p>
            <a:pPr indent="0" lvl="0" marL="12700" rtl="0" algn="l">
              <a:lnSpc>
                <a:spcPct val="100000"/>
              </a:lnSpc>
              <a:spcBef>
                <a:spcPts val="920"/>
              </a:spcBef>
              <a:spcAft>
                <a:spcPts val="0"/>
              </a:spcAft>
              <a:buNone/>
            </a:pPr>
            <a:r>
              <a:rPr b="1" lang="en-IN" sz="1550">
                <a:solidFill>
                  <a:srgbClr val="F17D18"/>
                </a:solidFill>
                <a:latin typeface="Times New Roman"/>
                <a:ea typeface="Times New Roman"/>
                <a:cs typeface="Times New Roman"/>
                <a:sym typeface="Times New Roman"/>
              </a:rPr>
              <a:t>Answer:</a:t>
            </a:r>
            <a:endParaRPr sz="1550">
              <a:latin typeface="Times New Roman"/>
              <a:ea typeface="Times New Roman"/>
              <a:cs typeface="Times New Roman"/>
              <a:sym typeface="Times New Roman"/>
            </a:endParaRPr>
          </a:p>
          <a:p>
            <a:pPr indent="0" lvl="0" marL="12700" marR="682625" rtl="0" algn="l">
              <a:lnSpc>
                <a:spcPct val="101000"/>
              </a:lnSpc>
              <a:spcBef>
                <a:spcPts val="1200"/>
              </a:spcBef>
              <a:spcAft>
                <a:spcPts val="0"/>
              </a:spcAft>
              <a:buNone/>
            </a:pPr>
            <a:r>
              <a:rPr lang="en-IN" sz="1550">
                <a:latin typeface="Times New Roman"/>
                <a:ea typeface="Times New Roman"/>
                <a:cs typeface="Times New Roman"/>
                <a:sym typeface="Times New Roman"/>
              </a:rPr>
              <a:t>The testing files have been shared by client. On the basis of cluster number, model is loaded and the prediction is performed. At the end, the result is obtained.</a:t>
            </a:r>
            <a:endParaRPr sz="155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550">
              <a:latin typeface="Times New Roman"/>
              <a:ea typeface="Times New Roman"/>
              <a:cs typeface="Times New Roman"/>
              <a:sym typeface="Times New Roman"/>
            </a:endParaRPr>
          </a:p>
          <a:p>
            <a:pPr indent="0" lvl="0" marL="0" rtl="0" algn="l">
              <a:lnSpc>
                <a:spcPct val="100000"/>
              </a:lnSpc>
              <a:spcBef>
                <a:spcPts val="325"/>
              </a:spcBef>
              <a:spcAft>
                <a:spcPts val="0"/>
              </a:spcAft>
              <a:buNone/>
            </a:pPr>
            <a:r>
              <a:t/>
            </a:r>
            <a:endParaRPr sz="1550">
              <a:latin typeface="Times New Roman"/>
              <a:ea typeface="Times New Roman"/>
              <a:cs typeface="Times New Roman"/>
              <a:sym typeface="Times New Roman"/>
            </a:endParaRPr>
          </a:p>
          <a:p>
            <a:pPr indent="0" lvl="0" marL="12700" rtl="0" algn="l">
              <a:lnSpc>
                <a:spcPct val="100000"/>
              </a:lnSpc>
              <a:spcBef>
                <a:spcPts val="0"/>
              </a:spcBef>
              <a:spcAft>
                <a:spcPts val="0"/>
              </a:spcAft>
              <a:buNone/>
            </a:pPr>
            <a:r>
              <a:rPr b="1" lang="en-IN" sz="1550">
                <a:solidFill>
                  <a:srgbClr val="F17D18"/>
                </a:solidFill>
                <a:latin typeface="Times New Roman"/>
                <a:ea typeface="Times New Roman"/>
                <a:cs typeface="Times New Roman"/>
                <a:sym typeface="Times New Roman"/>
              </a:rPr>
              <a:t>Question No. – 7:</a:t>
            </a:r>
            <a:endParaRPr sz="1550">
              <a:latin typeface="Times New Roman"/>
              <a:ea typeface="Times New Roman"/>
              <a:cs typeface="Times New Roman"/>
              <a:sym typeface="Times New Roman"/>
            </a:endParaRPr>
          </a:p>
          <a:p>
            <a:pPr indent="0" lvl="0" marL="12700" rtl="0" algn="l">
              <a:lnSpc>
                <a:spcPct val="100000"/>
              </a:lnSpc>
              <a:spcBef>
                <a:spcPts val="1220"/>
              </a:spcBef>
              <a:spcAft>
                <a:spcPts val="0"/>
              </a:spcAft>
              <a:buNone/>
            </a:pPr>
            <a:r>
              <a:rPr lang="en-IN" sz="1550">
                <a:solidFill>
                  <a:srgbClr val="404040"/>
                </a:solidFill>
                <a:latin typeface="Times New Roman"/>
                <a:ea typeface="Times New Roman"/>
                <a:cs typeface="Times New Roman"/>
                <a:sym typeface="Times New Roman"/>
              </a:rPr>
              <a:t>What are the different stages of deployment?</a:t>
            </a:r>
            <a:endParaRPr sz="1550">
              <a:latin typeface="Times New Roman"/>
              <a:ea typeface="Times New Roman"/>
              <a:cs typeface="Times New Roman"/>
              <a:sym typeface="Times New Roman"/>
            </a:endParaRPr>
          </a:p>
          <a:p>
            <a:pPr indent="0" lvl="0" marL="12700" rtl="0" algn="l">
              <a:lnSpc>
                <a:spcPct val="100000"/>
              </a:lnSpc>
              <a:spcBef>
                <a:spcPts val="915"/>
              </a:spcBef>
              <a:spcAft>
                <a:spcPts val="0"/>
              </a:spcAft>
              <a:buNone/>
            </a:pPr>
            <a:r>
              <a:rPr b="1" lang="en-IN" sz="1550">
                <a:solidFill>
                  <a:srgbClr val="F17D18"/>
                </a:solidFill>
                <a:latin typeface="Times New Roman"/>
                <a:ea typeface="Times New Roman"/>
                <a:cs typeface="Times New Roman"/>
                <a:sym typeface="Times New Roman"/>
              </a:rPr>
              <a:t>Answer:</a:t>
            </a:r>
            <a:endParaRPr sz="1550">
              <a:latin typeface="Times New Roman"/>
              <a:ea typeface="Times New Roman"/>
              <a:cs typeface="Times New Roman"/>
              <a:sym typeface="Times New Roman"/>
            </a:endParaRPr>
          </a:p>
          <a:p>
            <a:pPr indent="-342900" lvl="0" marL="355600" marR="5080" rtl="0" algn="l">
              <a:lnSpc>
                <a:spcPct val="104900"/>
              </a:lnSpc>
              <a:spcBef>
                <a:spcPts val="1130"/>
              </a:spcBef>
              <a:spcAft>
                <a:spcPts val="0"/>
              </a:spcAft>
              <a:buClr>
                <a:srgbClr val="EB3C9F"/>
              </a:buClr>
              <a:buSzPts val="1250"/>
              <a:buFont typeface="Noto Sans Symbols"/>
              <a:buChar char="⮚"/>
            </a:pPr>
            <a:r>
              <a:rPr lang="en-IN" sz="1550">
                <a:solidFill>
                  <a:srgbClr val="404040"/>
                </a:solidFill>
                <a:latin typeface="Times New Roman"/>
                <a:ea typeface="Times New Roman"/>
                <a:cs typeface="Times New Roman"/>
                <a:sym typeface="Times New Roman"/>
              </a:rPr>
              <a:t>After model building, training, evaluation and selection, the required Flask app has been developed.</a:t>
            </a:r>
            <a:endParaRPr sz="1550">
              <a:latin typeface="Times New Roman"/>
              <a:ea typeface="Times New Roman"/>
              <a:cs typeface="Times New Roman"/>
              <a:sym typeface="Times New Roman"/>
            </a:endParaRPr>
          </a:p>
          <a:p>
            <a:pPr indent="-342900" lvl="0" marL="355600" marR="1093470" rtl="0" algn="l">
              <a:lnSpc>
                <a:spcPct val="101000"/>
              </a:lnSpc>
              <a:spcBef>
                <a:spcPts val="1050"/>
              </a:spcBef>
              <a:spcAft>
                <a:spcPts val="0"/>
              </a:spcAft>
              <a:buClr>
                <a:srgbClr val="EB3C9F"/>
              </a:buClr>
              <a:buSzPts val="1250"/>
              <a:buFont typeface="Noto Sans Symbols"/>
              <a:buChar char="⮚"/>
            </a:pPr>
            <a:r>
              <a:rPr lang="en-IN" sz="1550">
                <a:solidFill>
                  <a:srgbClr val="404040"/>
                </a:solidFill>
                <a:latin typeface="Times New Roman"/>
                <a:ea typeface="Times New Roman"/>
                <a:cs typeface="Times New Roman"/>
                <a:sym typeface="Times New Roman"/>
              </a:rPr>
              <a:t>Necessary scripts required for the visualization of the web-page has also been developed.</a:t>
            </a:r>
            <a:endParaRPr sz="1550">
              <a:latin typeface="Times New Roman"/>
              <a:ea typeface="Times New Roman"/>
              <a:cs typeface="Times New Roman"/>
              <a:sym typeface="Times New Roman"/>
            </a:endParaRPr>
          </a:p>
          <a:p>
            <a:pPr indent="-342265" lvl="0" marL="354965" rtl="0" algn="l">
              <a:lnSpc>
                <a:spcPct val="100000"/>
              </a:lnSpc>
              <a:spcBef>
                <a:spcPts val="1070"/>
              </a:spcBef>
              <a:spcAft>
                <a:spcPts val="0"/>
              </a:spcAft>
              <a:buClr>
                <a:srgbClr val="EB3C9F"/>
              </a:buClr>
              <a:buSzPts val="1250"/>
              <a:buFont typeface="Noto Sans Symbols"/>
              <a:buChar char="⮚"/>
            </a:pPr>
            <a:r>
              <a:rPr lang="en-IN" sz="1550">
                <a:solidFill>
                  <a:srgbClr val="404040"/>
                </a:solidFill>
                <a:latin typeface="Times New Roman"/>
                <a:ea typeface="Times New Roman"/>
                <a:cs typeface="Times New Roman"/>
                <a:sym typeface="Times New Roman"/>
              </a:rPr>
              <a:t>Finally, the model has been developed on cloud platform like AWS.</a:t>
            </a:r>
            <a:endParaRPr sz="155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550">
              <a:latin typeface="Times New Roman"/>
              <a:ea typeface="Times New Roman"/>
              <a:cs typeface="Times New Roman"/>
              <a:sym typeface="Times New Roman"/>
            </a:endParaRPr>
          </a:p>
          <a:p>
            <a:pPr indent="0" lvl="0" marL="0" rtl="0" algn="l">
              <a:lnSpc>
                <a:spcPct val="100000"/>
              </a:lnSpc>
              <a:spcBef>
                <a:spcPts val="325"/>
              </a:spcBef>
              <a:spcAft>
                <a:spcPts val="0"/>
              </a:spcAft>
              <a:buNone/>
            </a:pPr>
            <a:r>
              <a:t/>
            </a:r>
            <a:endParaRPr sz="1550">
              <a:latin typeface="Times New Roman"/>
              <a:ea typeface="Times New Roman"/>
              <a:cs typeface="Times New Roman"/>
              <a:sym typeface="Times New Roman"/>
            </a:endParaRPr>
          </a:p>
          <a:p>
            <a:pPr indent="0" lvl="0" marL="12700" rtl="0" algn="l">
              <a:lnSpc>
                <a:spcPct val="100000"/>
              </a:lnSpc>
              <a:spcBef>
                <a:spcPts val="5"/>
              </a:spcBef>
              <a:spcAft>
                <a:spcPts val="0"/>
              </a:spcAft>
              <a:buNone/>
            </a:pPr>
            <a:r>
              <a:rPr b="1" lang="en-IN" sz="1550">
                <a:solidFill>
                  <a:srgbClr val="F17D18"/>
                </a:solidFill>
                <a:latin typeface="Times New Roman"/>
                <a:ea typeface="Times New Roman"/>
                <a:cs typeface="Times New Roman"/>
                <a:sym typeface="Times New Roman"/>
              </a:rPr>
              <a:t>Question No. – 8:</a:t>
            </a:r>
            <a:endParaRPr sz="1550">
              <a:latin typeface="Times New Roman"/>
              <a:ea typeface="Times New Roman"/>
              <a:cs typeface="Times New Roman"/>
              <a:sym typeface="Times New Roman"/>
            </a:endParaRPr>
          </a:p>
          <a:p>
            <a:pPr indent="0" lvl="0" marL="12700" rtl="0" algn="l">
              <a:lnSpc>
                <a:spcPct val="100000"/>
              </a:lnSpc>
              <a:spcBef>
                <a:spcPts val="1215"/>
              </a:spcBef>
              <a:spcAft>
                <a:spcPts val="0"/>
              </a:spcAft>
              <a:buNone/>
            </a:pPr>
            <a:r>
              <a:rPr lang="en-IN" sz="1550">
                <a:solidFill>
                  <a:srgbClr val="404040"/>
                </a:solidFill>
                <a:latin typeface="Times New Roman"/>
                <a:ea typeface="Times New Roman"/>
                <a:cs typeface="Times New Roman"/>
                <a:sym typeface="Times New Roman"/>
              </a:rPr>
              <a:t>How is the User Interface present for this project?</a:t>
            </a:r>
            <a:endParaRPr sz="1550">
              <a:latin typeface="Times New Roman"/>
              <a:ea typeface="Times New Roman"/>
              <a:cs typeface="Times New Roman"/>
              <a:sym typeface="Times New Roman"/>
            </a:endParaRPr>
          </a:p>
          <a:p>
            <a:pPr indent="0" lvl="0" marL="12700" rtl="0" algn="l">
              <a:lnSpc>
                <a:spcPct val="100000"/>
              </a:lnSpc>
              <a:spcBef>
                <a:spcPts val="919"/>
              </a:spcBef>
              <a:spcAft>
                <a:spcPts val="0"/>
              </a:spcAft>
              <a:buNone/>
            </a:pPr>
            <a:r>
              <a:rPr b="1" lang="en-IN" sz="1550">
                <a:solidFill>
                  <a:srgbClr val="F17D18"/>
                </a:solidFill>
                <a:latin typeface="Times New Roman"/>
                <a:ea typeface="Times New Roman"/>
                <a:cs typeface="Times New Roman"/>
                <a:sym typeface="Times New Roman"/>
              </a:rPr>
              <a:t>Answer:</a:t>
            </a:r>
            <a:endParaRPr sz="1550">
              <a:latin typeface="Times New Roman"/>
              <a:ea typeface="Times New Roman"/>
              <a:cs typeface="Times New Roman"/>
              <a:sym typeface="Times New Roman"/>
            </a:endParaRPr>
          </a:p>
          <a:p>
            <a:pPr indent="0" lvl="0" marL="12700" rtl="0" algn="l">
              <a:lnSpc>
                <a:spcPct val="100000"/>
              </a:lnSpc>
              <a:spcBef>
                <a:spcPts val="1220"/>
              </a:spcBef>
              <a:spcAft>
                <a:spcPts val="0"/>
              </a:spcAft>
              <a:buNone/>
            </a:pPr>
            <a:r>
              <a:rPr lang="en-IN" sz="1550">
                <a:solidFill>
                  <a:srgbClr val="404040"/>
                </a:solidFill>
                <a:latin typeface="Times New Roman"/>
                <a:ea typeface="Times New Roman"/>
                <a:cs typeface="Times New Roman"/>
                <a:sym typeface="Times New Roman"/>
              </a:rPr>
              <a:t>The user interface is very user friendly.</a:t>
            </a:r>
            <a:endParaRPr sz="155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EE5285"/>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2024-08-31T07:22:59Z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2024-08-20T00:00:00Z</vt:filetime>
  </property>
  <property fmtid="{D5CDD505-2E9C-101B-9397-08002B2CF9AE}" pid="3" name="LastSaved">
    <vt:filetime>2024-08-31T00:00:00Z</vt:filetime>
  </property>
</Properties>
</file>